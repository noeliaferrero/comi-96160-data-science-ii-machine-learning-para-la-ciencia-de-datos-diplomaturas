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2"/>
  </p:notesMasterIdLst>
  <p:sldIdLst>
    <p:sldId id="256" r:id="rId2"/>
    <p:sldId id="258" r:id="rId3"/>
    <p:sldId id="373" r:id="rId4"/>
    <p:sldId id="260" r:id="rId5"/>
    <p:sldId id="261" r:id="rId6"/>
    <p:sldId id="263" r:id="rId7"/>
    <p:sldId id="264" r:id="rId8"/>
    <p:sldId id="265" r:id="rId9"/>
    <p:sldId id="267" r:id="rId10"/>
    <p:sldId id="273" r:id="rId11"/>
    <p:sldId id="275" r:id="rId12"/>
    <p:sldId id="268" r:id="rId13"/>
    <p:sldId id="269" r:id="rId14"/>
    <p:sldId id="270" r:id="rId15"/>
    <p:sldId id="271" r:id="rId16"/>
    <p:sldId id="274" r:id="rId17"/>
    <p:sldId id="277" r:id="rId18"/>
    <p:sldId id="278" r:id="rId19"/>
    <p:sldId id="281" r:id="rId20"/>
    <p:sldId id="283" r:id="rId21"/>
    <p:sldId id="288" r:id="rId22"/>
    <p:sldId id="289" r:id="rId23"/>
    <p:sldId id="291" r:id="rId24"/>
    <p:sldId id="369" r:id="rId25"/>
    <p:sldId id="370" r:id="rId26"/>
    <p:sldId id="371" r:id="rId27"/>
    <p:sldId id="314" r:id="rId28"/>
    <p:sldId id="315" r:id="rId29"/>
    <p:sldId id="317" r:id="rId30"/>
    <p:sldId id="318" r:id="rId31"/>
    <p:sldId id="319" r:id="rId32"/>
    <p:sldId id="320" r:id="rId33"/>
    <p:sldId id="322" r:id="rId34"/>
    <p:sldId id="323" r:id="rId35"/>
    <p:sldId id="325" r:id="rId36"/>
    <p:sldId id="327" r:id="rId37"/>
    <p:sldId id="328" r:id="rId38"/>
    <p:sldId id="329" r:id="rId39"/>
    <p:sldId id="330" r:id="rId40"/>
    <p:sldId id="337" r:id="rId41"/>
    <p:sldId id="338" r:id="rId42"/>
    <p:sldId id="340" r:id="rId43"/>
    <p:sldId id="342" r:id="rId44"/>
    <p:sldId id="344" r:id="rId45"/>
    <p:sldId id="346" r:id="rId46"/>
    <p:sldId id="347" r:id="rId47"/>
    <p:sldId id="351" r:id="rId48"/>
    <p:sldId id="376" r:id="rId49"/>
    <p:sldId id="377" r:id="rId50"/>
    <p:sldId id="386" r:id="rId51"/>
    <p:sldId id="385" r:id="rId52"/>
    <p:sldId id="384" r:id="rId53"/>
    <p:sldId id="383" r:id="rId54"/>
    <p:sldId id="389" r:id="rId55"/>
    <p:sldId id="382" r:id="rId56"/>
    <p:sldId id="388" r:id="rId57"/>
    <p:sldId id="387" r:id="rId58"/>
    <p:sldId id="381" r:id="rId59"/>
    <p:sldId id="380" r:id="rId60"/>
    <p:sldId id="379" r:id="rId61"/>
  </p:sldIdLst>
  <p:sldSz cx="9144000" cy="5143500" type="screen16x9"/>
  <p:notesSz cx="6858000" cy="9144000"/>
  <p:embeddedFontLst>
    <p:embeddedFont>
      <p:font typeface="Anton" pitchFamily="2" charset="0"/>
      <p:regular r:id="rId63"/>
    </p:embeddedFont>
    <p:embeddedFont>
      <p:font typeface="Helvetica Neue" panose="020B0604020202020204" charset="0"/>
      <p:regular r:id="rId64"/>
      <p:bold r:id="rId65"/>
      <p:italic r:id="rId66"/>
      <p:boldItalic r:id="rId67"/>
    </p:embeddedFont>
    <p:embeddedFont>
      <p:font typeface="Helvetica Neue Light" panose="020B0604020202020204" charset="0"/>
      <p:regular r:id="rId68"/>
      <p:bold r:id="rId69"/>
      <p:italic r:id="rId70"/>
      <p:boldItalic r:id="rId71"/>
    </p:embeddedFont>
    <p:embeddedFont>
      <p:font typeface="Roboto" panose="02000000000000000000" pitchFamily="2"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3">
          <p15:clr>
            <a:srgbClr val="A4A3A4"/>
          </p15:clr>
        </p15:guide>
        <p15:guide id="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31" roundtripDataSignature="AMtx7miq55PYIs+2CTDkkFf/CH1h8pxI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C326B2-8FC0-42C8-8BB4-0635C716948D}">
  <a:tblStyle styleId="{CAC326B2-8FC0-42C8-8BB4-0635C716948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2569AD5-D2FC-411C-94B8-F4AEC103A0C2}"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333"/>
        <p:guide/>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133"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74" Type="http://schemas.openxmlformats.org/officeDocument/2006/relationships/font" Target="fonts/font12.fntdata"/><Relationship Id="rId131" Type="http://customschemas.google.com/relationships/presentationmetadata" Target="metadata"/><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13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font" Target="fonts/font13.fntdata"/><Relationship Id="rId13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13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font" Target="fonts/font9.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01171969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1" name="Google Shape;13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69262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9532932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9" name="Google Shape;489;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884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71599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0" name="Google Shape;18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58802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4" name="Google Shape;19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9287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79866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969957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3981401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74683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3" name="Google Shape;31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235166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625925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0512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0" name="Google Shape;250;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89046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71495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806148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1" name="Google Shape;33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45462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9" name="Google Shape;339;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371273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0" name="Google Shape;360;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05660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4" name="Google Shape;37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514663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8" name="Google Shape;418;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068263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4" name="Google Shape;424;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82915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2954213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7226143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38779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5" name="Google Shape;445;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864200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24e4d0b8270_0_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6" name="Google Shape;696;g24e4d0b8270_0_7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989917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g24e4d0b8270_0_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3" name="Google Shape;703;g24e4d0b8270_0_7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335334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24e4d0b8270_0_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5" name="Google Shape;715;g24e4d0b8270_0_7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489806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g24e4d0b8270_0_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3" name="Google Shape;723;g24e4d0b8270_0_7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330844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24e4d0b8270_0_7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g24e4d0b8270_0_7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171450" lvl="0" indent="-101600" algn="l" rtl="0">
              <a:lnSpc>
                <a:spcPct val="100000"/>
              </a:lnSpc>
              <a:spcBef>
                <a:spcPts val="0"/>
              </a:spcBef>
              <a:spcAft>
                <a:spcPts val="0"/>
              </a:spcAft>
              <a:buSzPts val="1100"/>
              <a:buFont typeface="Arial"/>
              <a:buNone/>
            </a:pPr>
            <a:endParaRPr/>
          </a:p>
        </p:txBody>
      </p:sp>
    </p:spTree>
    <p:extLst>
      <p:ext uri="{BB962C8B-B14F-4D97-AF65-F5344CB8AC3E}">
        <p14:creationId xmlns:p14="http://schemas.microsoft.com/office/powerpoint/2010/main" val="13697511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24e4d0b8270_0_7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0" name="Google Shape;740;g24e4d0b8270_0_7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46445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24e4d0b8270_0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7" name="Google Shape;757;g24e4d0b8270_0_7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204632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4e4d0b8270_0_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6" name="Google Shape;766;g24e4d0b8270_0_7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268899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24e4d0b8270_0_7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83" name="Google Shape;783;g24e4d0b8270_0_7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2667030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24e4d0b8270_0_7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0" name="Google Shape;800;g24e4d0b8270_0_79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72852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24e4d0b8270_0_8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9" name="Google Shape;809;g24e4d0b8270_0_8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18381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g24e4d0b8270_0_8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7" name="Google Shape;817;g24e4d0b8270_0_8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0009296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4e4d0b8270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5" name="Google Shape;825;g24e4d0b8270_0_8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5949532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24e4d0b8270_0_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6" name="Google Shape;886;g24e4d0b8270_0_8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05169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24e4d0b8270_0_8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5" name="Google Shape;895;g24e4d0b8270_0_8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812401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24e4d0b8270_0_9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7" name="Google Shape;917;g24e4d0b8270_0_9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941766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24e4d0b8270_0_9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9" name="Google Shape;939;g24e4d0b8270_0_9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118161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24e4d0b8270_0_9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1" name="Google Shape;961;g24e4d0b8270_0_9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5708567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g24e4d0b8270_0_9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3" name="Google Shape;983;g24e4d0b8270_0_9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680157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24e4d0b8270_0_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2" name="Google Shape;992;g24e4d0b8270_0_9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812302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24e4d0b8270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8399396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2AFC5A94-53EE-1572-F24F-101F1753545A}"/>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7ED5D374-39F3-DFA9-4F4A-BB710C408F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ACC790C8-2B2C-D051-C447-425D37DD123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0116382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F047CEC3-8E0C-0ABB-1A96-483D8E0B4655}"/>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37732B48-C958-E2E5-5083-00638DEB58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02141487-E6C6-36F9-1B2E-269B892B26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3261874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8B5B1036-0991-EA3A-C29B-3DE139878A02}"/>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DCC47B4A-0954-8143-C39A-21740460C4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9977B462-3418-5B7F-E062-7A605EF9A0E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25352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AB1DD106-8CE9-20FE-BD50-139ACAE5282A}"/>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9B924167-E3C5-F9FA-C65D-4AF011F407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1091F3AD-E82F-3D39-02C0-E1AC95C688F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063738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75F74810-4428-ED14-CB93-31D284C23CB4}"/>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F5B22CC5-F039-CD4F-EB70-CF0FD80DA7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BA110388-C931-DCBB-5A62-FE733A2F3F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46745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39AE5B41-22F7-E3F0-F6E3-883AD5DE88BA}"/>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954CDAC5-602E-D7E5-5B78-3EE9323701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F64F68DC-ADDD-C800-A799-9FA1EF4A50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2158854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B1289B80-A4E3-5665-3FBA-EB05E219D5F8}"/>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40826FAC-41B5-58C9-4F59-CCD9A899EA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2B0E4A50-AF1D-8099-7964-61718ACA0B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608793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DD36595B-9C8C-0B8A-9A06-30DA93CE8AA3}"/>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5A244230-C1F6-CF09-D29A-F0A5558F26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764D41DE-3104-7515-2B61-6D0F47A7BB7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320114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7C4EDECC-89F6-0017-F5B5-A4B1B4AD5F55}"/>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D113A97B-7783-8924-10C0-497298C10B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7633B184-42A2-4A82-EE47-7E66B193DC5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0339360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00A31D7C-F642-8BA8-804C-F708F04F1C2E}"/>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6E002D0D-00B8-8AD8-4691-8813EA88B9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D7AB9745-88D1-CCDA-CD02-A0636EC6B34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3672729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E4DD3FC6-4D7C-6266-4AE4-B9CC40252B2C}"/>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82CAA782-37D3-6CD0-585D-E054CB55A6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03A12FA3-944D-CD55-F624-1D8B3A5C5BE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7710876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CBAD8A90-D19E-7D2B-D1C3-332E23753F35}"/>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55E63526-B4DD-5C96-BC65-5F75281FFF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3707D02A-489B-FC6E-012C-0A2D211B83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3182686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a:extLst>
            <a:ext uri="{FF2B5EF4-FFF2-40B4-BE49-F238E27FC236}">
              <a16:creationId xmlns:a16="http://schemas.microsoft.com/office/drawing/2014/main" id="{70EABAC1-868D-141F-BE0D-D2E3F92E05D3}"/>
            </a:ext>
          </a:extLst>
        </p:cNvPr>
        <p:cNvGrpSpPr/>
        <p:nvPr/>
      </p:nvGrpSpPr>
      <p:grpSpPr>
        <a:xfrm>
          <a:off x="0" y="0"/>
          <a:ext cx="0" cy="0"/>
          <a:chOff x="0" y="0"/>
          <a:chExt cx="0" cy="0"/>
        </a:xfrm>
      </p:grpSpPr>
      <p:sp>
        <p:nvSpPr>
          <p:cNvPr id="1027" name="Google Shape;1027;g24e4d0b8270_0_1003:notes">
            <a:extLst>
              <a:ext uri="{FF2B5EF4-FFF2-40B4-BE49-F238E27FC236}">
                <a16:creationId xmlns:a16="http://schemas.microsoft.com/office/drawing/2014/main" id="{F166452A-A50B-39AD-D4C2-4B0BBB49EB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8" name="Google Shape;1028;g24e4d0b8270_0_1003:notes">
            <a:extLst>
              <a:ext uri="{FF2B5EF4-FFF2-40B4-BE49-F238E27FC236}">
                <a16:creationId xmlns:a16="http://schemas.microsoft.com/office/drawing/2014/main" id="{3752FB82-9E56-D3C1-7BA4-5859AD4A0E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518798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57"/>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7"/>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14" name="Google Shape;14;p5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5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90000"/>
              </a:lnSpc>
              <a:spcBef>
                <a:spcPts val="0"/>
              </a:spcBef>
              <a:spcAft>
                <a:spcPts val="0"/>
              </a:spcAft>
              <a:buClr>
                <a:schemeClr val="dk1"/>
              </a:buClr>
              <a:buSzPts val="2800"/>
              <a:buFont typeface="Calibri"/>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9" name="Google Shape;19;p5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90000"/>
              </a:lnSpc>
              <a:spcBef>
                <a:spcPts val="0"/>
              </a:spcBef>
              <a:spcAft>
                <a:spcPts val="0"/>
              </a:spcAft>
              <a:buClr>
                <a:schemeClr val="dk1"/>
              </a:buClr>
              <a:buSzPts val="1800"/>
              <a:buChar char="●"/>
              <a:defRPr/>
            </a:lvl1pPr>
            <a:lvl2pPr marL="914400" lvl="1" indent="-317500" algn="l">
              <a:lnSpc>
                <a:spcPct val="90000"/>
              </a:lnSpc>
              <a:spcBef>
                <a:spcPts val="1600"/>
              </a:spcBef>
              <a:spcAft>
                <a:spcPts val="0"/>
              </a:spcAft>
              <a:buClr>
                <a:schemeClr val="dk1"/>
              </a:buClr>
              <a:buSzPts val="1400"/>
              <a:buChar char="○"/>
              <a:defRPr/>
            </a:lvl2pPr>
            <a:lvl3pPr marL="1371600" lvl="2" indent="-317500" algn="l">
              <a:lnSpc>
                <a:spcPct val="90000"/>
              </a:lnSpc>
              <a:spcBef>
                <a:spcPts val="1600"/>
              </a:spcBef>
              <a:spcAft>
                <a:spcPts val="0"/>
              </a:spcAft>
              <a:buClr>
                <a:schemeClr val="dk1"/>
              </a:buClr>
              <a:buSzPts val="1400"/>
              <a:buChar char="■"/>
              <a:defRPr/>
            </a:lvl3pPr>
            <a:lvl4pPr marL="1828800" lvl="3" indent="-317500" algn="l">
              <a:lnSpc>
                <a:spcPct val="90000"/>
              </a:lnSpc>
              <a:spcBef>
                <a:spcPts val="1600"/>
              </a:spcBef>
              <a:spcAft>
                <a:spcPts val="0"/>
              </a:spcAft>
              <a:buClr>
                <a:schemeClr val="dk1"/>
              </a:buClr>
              <a:buSzPts val="1400"/>
              <a:buChar char="●"/>
              <a:defRPr/>
            </a:lvl4pPr>
            <a:lvl5pPr marL="2286000" lvl="4" indent="-317500" algn="l">
              <a:lnSpc>
                <a:spcPct val="90000"/>
              </a:lnSpc>
              <a:spcBef>
                <a:spcPts val="1600"/>
              </a:spcBef>
              <a:spcAft>
                <a:spcPts val="0"/>
              </a:spcAft>
              <a:buClr>
                <a:schemeClr val="dk1"/>
              </a:buClr>
              <a:buSzPts val="1400"/>
              <a:buChar char="○"/>
              <a:defRPr/>
            </a:lvl5pPr>
            <a:lvl6pPr marL="2743200" lvl="5" indent="-317500" algn="l">
              <a:lnSpc>
                <a:spcPct val="90000"/>
              </a:lnSpc>
              <a:spcBef>
                <a:spcPts val="1600"/>
              </a:spcBef>
              <a:spcAft>
                <a:spcPts val="0"/>
              </a:spcAft>
              <a:buClr>
                <a:schemeClr val="dk1"/>
              </a:buClr>
              <a:buSzPts val="1400"/>
              <a:buChar char="■"/>
              <a:defRPr/>
            </a:lvl6pPr>
            <a:lvl7pPr marL="3200400" lvl="6" indent="-317500" algn="l">
              <a:lnSpc>
                <a:spcPct val="90000"/>
              </a:lnSpc>
              <a:spcBef>
                <a:spcPts val="1600"/>
              </a:spcBef>
              <a:spcAft>
                <a:spcPts val="0"/>
              </a:spcAft>
              <a:buClr>
                <a:schemeClr val="dk1"/>
              </a:buClr>
              <a:buSzPts val="1400"/>
              <a:buChar char="●"/>
              <a:defRPr/>
            </a:lvl7pPr>
            <a:lvl8pPr marL="3657600" lvl="7" indent="-317500" algn="l">
              <a:lnSpc>
                <a:spcPct val="90000"/>
              </a:lnSpc>
              <a:spcBef>
                <a:spcPts val="1600"/>
              </a:spcBef>
              <a:spcAft>
                <a:spcPts val="0"/>
              </a:spcAft>
              <a:buClr>
                <a:schemeClr val="dk1"/>
              </a:buClr>
              <a:buSzPts val="1400"/>
              <a:buChar char="○"/>
              <a:defRPr/>
            </a:lvl8pPr>
            <a:lvl9pPr marL="4114800" lvl="8" indent="-317500" algn="l">
              <a:lnSpc>
                <a:spcPct val="90000"/>
              </a:lnSpc>
              <a:spcBef>
                <a:spcPts val="1600"/>
              </a:spcBef>
              <a:spcAft>
                <a:spcPts val="1600"/>
              </a:spcAft>
              <a:buClr>
                <a:schemeClr val="dk1"/>
              </a:buClr>
              <a:buSzPts val="1400"/>
              <a:buChar char="■"/>
              <a:defRPr/>
            </a:lvl9pPr>
          </a:lstStyle>
          <a:p>
            <a:endParaRPr/>
          </a:p>
        </p:txBody>
      </p:sp>
      <p:sp>
        <p:nvSpPr>
          <p:cNvPr id="20" name="Google Shape;2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1"/>
        <p:cNvGrpSpPr/>
        <p:nvPr/>
      </p:nvGrpSpPr>
      <p:grpSpPr>
        <a:xfrm>
          <a:off x="0" y="0"/>
          <a:ext cx="0" cy="0"/>
          <a:chOff x="0" y="0"/>
          <a:chExt cx="0" cy="0"/>
        </a:xfrm>
      </p:grpSpPr>
      <p:sp>
        <p:nvSpPr>
          <p:cNvPr id="22" name="Google Shape;22;p59"/>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9"/>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4" name="Google Shape;24;p59"/>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5" name="Google Shape;25;p5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5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8"/>
        <p:cNvGrpSpPr/>
        <p:nvPr/>
      </p:nvGrpSpPr>
      <p:grpSpPr>
        <a:xfrm>
          <a:off x="0" y="0"/>
          <a:ext cx="0" cy="0"/>
          <a:chOff x="0" y="0"/>
          <a:chExt cx="0" cy="0"/>
        </a:xfrm>
      </p:grpSpPr>
      <p:sp>
        <p:nvSpPr>
          <p:cNvPr id="29" name="Google Shape;29;p6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60"/>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1" name="Google Shape;31;p6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6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6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4"/>
        <p:cNvGrpSpPr/>
        <p:nvPr/>
      </p:nvGrpSpPr>
      <p:grpSpPr>
        <a:xfrm>
          <a:off x="0" y="0"/>
          <a:ext cx="0" cy="0"/>
          <a:chOff x="0" y="0"/>
          <a:chExt cx="0" cy="0"/>
        </a:xfrm>
      </p:grpSpPr>
      <p:sp>
        <p:nvSpPr>
          <p:cNvPr id="35" name="Google Shape;35;p61"/>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61"/>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7" name="Google Shape;37;p6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6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62"/>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2"/>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3" name="Google Shape;43;p62"/>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4" name="Google Shape;44;p62"/>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5" name="Google Shape;45;p62"/>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6" name="Google Shape;46;p6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6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6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6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6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6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65"/>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65"/>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65"/>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6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6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6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66"/>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66"/>
          <p:cNvSpPr>
            <a:spLocks noGrp="1"/>
          </p:cNvSpPr>
          <p:nvPr>
            <p:ph type="pic" idx="2"/>
          </p:nvPr>
        </p:nvSpPr>
        <p:spPr>
          <a:xfrm>
            <a:off x="3887391" y="740569"/>
            <a:ext cx="4629150" cy="3655219"/>
          </a:xfrm>
          <a:prstGeom prst="rect">
            <a:avLst/>
          </a:prstGeom>
          <a:noFill/>
          <a:ln>
            <a:noFill/>
          </a:ln>
        </p:spPr>
      </p:sp>
      <p:sp>
        <p:nvSpPr>
          <p:cNvPr id="68" name="Google Shape;68;p66"/>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6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6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67"/>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67"/>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6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6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6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68"/>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68"/>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6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6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5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56"/>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5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9" name="Google Shape;9;p5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0" name="Google Shape;10;p5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AR"/>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2.png"/><Relationship Id="rId9"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4.jp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png"/><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png"/></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0.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2"/>
        <p:cNvGrpSpPr/>
        <p:nvPr/>
      </p:nvGrpSpPr>
      <p:grpSpPr>
        <a:xfrm>
          <a:off x="0" y="0"/>
          <a:ext cx="0" cy="0"/>
          <a:chOff x="0" y="0"/>
          <a:chExt cx="0" cy="0"/>
        </a:xfrm>
      </p:grpSpPr>
      <p:sp>
        <p:nvSpPr>
          <p:cNvPr id="133" name="Google Shape;133;p1"/>
          <p:cNvSpPr txBox="1"/>
          <p:nvPr/>
        </p:nvSpPr>
        <p:spPr>
          <a:xfrm>
            <a:off x="420832" y="2224810"/>
            <a:ext cx="7883236" cy="633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s-MX" sz="6000" i="1" dirty="0">
                <a:solidFill>
                  <a:schemeClr val="lt1"/>
                </a:solidFill>
                <a:latin typeface="Anton"/>
                <a:ea typeface="Anton"/>
                <a:cs typeface="Anton"/>
                <a:sym typeface="Anton"/>
              </a:rPr>
              <a:t>SQL y ADQUISICION DE DATOS</a:t>
            </a:r>
            <a:endParaRPr sz="6000" b="0" i="1" u="none" strike="noStrike" cap="none" dirty="0">
              <a:solidFill>
                <a:schemeClr val="lt1"/>
              </a:solidFill>
              <a:latin typeface="Anton"/>
              <a:ea typeface="Anton"/>
              <a:cs typeface="Anton"/>
              <a:sym typeface="Anton"/>
            </a:endParaRPr>
          </a:p>
        </p:txBody>
      </p:sp>
      <p:sp>
        <p:nvSpPr>
          <p:cNvPr id="134" name="Google Shape;134;p1"/>
          <p:cNvSpPr txBox="1"/>
          <p:nvPr/>
        </p:nvSpPr>
        <p:spPr>
          <a:xfrm>
            <a:off x="1856010" y="1468480"/>
            <a:ext cx="4679400" cy="475800"/>
          </a:xfrm>
          <a:prstGeom prst="rect">
            <a:avLst/>
          </a:prstGeom>
          <a:noFill/>
          <a:ln>
            <a:noFill/>
          </a:ln>
        </p:spPr>
        <p:txBody>
          <a:bodyPr spcFirstLastPara="1" wrap="square" lIns="91425" tIns="91425" rIns="91425" bIns="91425" anchor="ctr" anchorCtr="0">
            <a:noAutofit/>
          </a:bodyPr>
          <a:lstStyle/>
          <a:p>
            <a:pPr marL="0" marR="0" lvl="0" indent="0" algn="ctr" rtl="0">
              <a:lnSpc>
                <a:spcPct val="150000"/>
              </a:lnSpc>
              <a:spcBef>
                <a:spcPts val="0"/>
              </a:spcBef>
              <a:spcAft>
                <a:spcPts val="0"/>
              </a:spcAft>
              <a:buClr>
                <a:srgbClr val="000000"/>
              </a:buClr>
              <a:buSzPts val="2000"/>
              <a:buFont typeface="Arial"/>
              <a:buNone/>
            </a:pPr>
            <a:r>
              <a:rPr lang="es-AR" sz="2000" b="0" i="0" u="none" strike="noStrike" cap="none" dirty="0">
                <a:solidFill>
                  <a:schemeClr val="lt1"/>
                </a:solidFill>
                <a:latin typeface="Helvetica Neue Light"/>
                <a:ea typeface="Helvetica Neue Light"/>
                <a:cs typeface="Helvetica Neue Light"/>
                <a:sym typeface="Helvetica Neue Light"/>
              </a:rPr>
              <a:t> </a:t>
            </a:r>
            <a:r>
              <a:rPr lang="es-AR" sz="2000" b="1" i="0" u="none" strike="noStrike" cap="none" dirty="0">
                <a:solidFill>
                  <a:schemeClr val="lt1"/>
                </a:solidFill>
                <a:latin typeface="Helvetica Neue"/>
                <a:ea typeface="Helvetica Neue"/>
                <a:cs typeface="Helvetica Neue"/>
                <a:sym typeface="Helvetica Neue"/>
              </a:rPr>
              <a:t>    Clase 3 </a:t>
            </a:r>
            <a:endParaRPr sz="1400" b="0" i="0" u="none" strike="noStrike" cap="none" dirty="0">
              <a:solidFill>
                <a:schemeClr val="lt1"/>
              </a:solidFill>
              <a:latin typeface="Helvetica Neue Light"/>
              <a:ea typeface="Helvetica Neue Light"/>
              <a:cs typeface="Helvetica Neue Light"/>
              <a:sym typeface="Helvetica Neue Light"/>
            </a:endParaRPr>
          </a:p>
        </p:txBody>
      </p:sp>
      <p:cxnSp>
        <p:nvCxnSpPr>
          <p:cNvPr id="135" name="Google Shape;135;p1"/>
          <p:cNvCxnSpPr/>
          <p:nvPr/>
        </p:nvCxnSpPr>
        <p:spPr>
          <a:xfrm>
            <a:off x="-134082" y="1112122"/>
            <a:ext cx="9401907" cy="0"/>
          </a:xfrm>
          <a:prstGeom prst="straightConnector1">
            <a:avLst/>
          </a:prstGeom>
          <a:noFill/>
          <a:ln w="9525" cap="flat" cmpd="sng">
            <a:solidFill>
              <a:schemeClr val="lt1"/>
            </a:solidFill>
            <a:prstDash val="solid"/>
            <a:round/>
            <a:headEnd type="none" w="sm" len="sm"/>
            <a:tailEnd type="none" w="sm" len="sm"/>
          </a:ln>
        </p:spPr>
      </p:cxnSp>
      <p:cxnSp>
        <p:nvCxnSpPr>
          <p:cNvPr id="136" name="Google Shape;136;p1"/>
          <p:cNvCxnSpPr/>
          <p:nvPr/>
        </p:nvCxnSpPr>
        <p:spPr>
          <a:xfrm>
            <a:off x="-165463" y="4194409"/>
            <a:ext cx="9433288" cy="0"/>
          </a:xfrm>
          <a:prstGeom prst="straightConnector1">
            <a:avLst/>
          </a:prstGeom>
          <a:noFill/>
          <a:ln w="9525" cap="flat" cmpd="sng">
            <a:solidFill>
              <a:schemeClr val="lt1"/>
            </a:solidFill>
            <a:prstDash val="solid"/>
            <a:round/>
            <a:headEnd type="none" w="sm" len="sm"/>
            <a:tailEnd type="none" w="sm" len="sm"/>
          </a:ln>
        </p:spPr>
      </p:cxnSp>
      <p:pic>
        <p:nvPicPr>
          <p:cNvPr id="137" name="Google Shape;137;p1" descr="Blog | Coderhouse"/>
          <p:cNvPicPr preferRelativeResize="0"/>
          <p:nvPr/>
        </p:nvPicPr>
        <p:blipFill rotWithShape="1">
          <a:blip r:embed="rId4">
            <a:alphaModFix/>
          </a:blip>
          <a:srcRect/>
          <a:stretch/>
        </p:blipFill>
        <p:spPr>
          <a:xfrm>
            <a:off x="129567" y="223438"/>
            <a:ext cx="2838901" cy="605237"/>
          </a:xfrm>
          <a:prstGeom prst="rect">
            <a:avLst/>
          </a:prstGeom>
          <a:noFill/>
          <a:ln>
            <a:noFill/>
          </a:ln>
        </p:spPr>
      </p:pic>
      <p:sp>
        <p:nvSpPr>
          <p:cNvPr id="139" name="Google Shape;139;p1"/>
          <p:cNvSpPr txBox="1"/>
          <p:nvPr/>
        </p:nvSpPr>
        <p:spPr>
          <a:xfrm>
            <a:off x="7479598" y="217987"/>
            <a:ext cx="1454848" cy="5847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s-AR" sz="1600" b="1" i="0" u="none" strike="noStrike" cap="none">
                <a:solidFill>
                  <a:srgbClr val="FFFFFF"/>
                </a:solidFill>
                <a:latin typeface="Roboto"/>
                <a:ea typeface="Roboto"/>
                <a:cs typeface="Roboto"/>
                <a:sym typeface="Roboto"/>
              </a:rPr>
              <a:t>Esta clase será grabada</a:t>
            </a:r>
            <a:endParaRPr sz="1600" b="0" i="0" u="none" strike="noStrike" cap="none">
              <a:solidFill>
                <a:srgbClr val="000000"/>
              </a:solidFill>
              <a:latin typeface="Roboto"/>
              <a:ea typeface="Roboto"/>
              <a:cs typeface="Roboto"/>
              <a:sym typeface="Roboto"/>
            </a:endParaRPr>
          </a:p>
        </p:txBody>
      </p:sp>
      <p:pic>
        <p:nvPicPr>
          <p:cNvPr id="140" name="Google Shape;140;p1"/>
          <p:cNvPicPr preferRelativeResize="0"/>
          <p:nvPr/>
        </p:nvPicPr>
        <p:blipFill rotWithShape="1">
          <a:blip r:embed="rId5">
            <a:alphaModFix/>
          </a:blip>
          <a:srcRect/>
          <a:stretch/>
        </p:blipFill>
        <p:spPr>
          <a:xfrm>
            <a:off x="6535410" y="37552"/>
            <a:ext cx="944188" cy="944188"/>
          </a:xfrm>
          <a:prstGeom prst="rect">
            <a:avLst/>
          </a:prstGeom>
          <a:noFill/>
          <a:ln>
            <a:noFill/>
          </a:ln>
        </p:spPr>
      </p:pic>
      <p:cxnSp>
        <p:nvCxnSpPr>
          <p:cNvPr id="142" name="Google Shape;142;p1"/>
          <p:cNvCxnSpPr/>
          <p:nvPr/>
        </p:nvCxnSpPr>
        <p:spPr>
          <a:xfrm rot="10800000">
            <a:off x="6258099" y="57222"/>
            <a:ext cx="0" cy="926158"/>
          </a:xfrm>
          <a:prstGeom prst="straightConnector1">
            <a:avLst/>
          </a:prstGeom>
          <a:noFill/>
          <a:ln w="38100" cap="flat" cmpd="sng">
            <a:solidFill>
              <a:schemeClr val="lt1"/>
            </a:solidFill>
            <a:prstDash val="solid"/>
            <a:round/>
            <a:headEnd type="none" w="sm" len="sm"/>
            <a:tailEnd type="none" w="sm" len="sm"/>
          </a:ln>
        </p:spPr>
      </p:cxnSp>
      <p:pic>
        <p:nvPicPr>
          <p:cNvPr id="144" name="Google Shape;144;p1"/>
          <p:cNvPicPr preferRelativeResize="0"/>
          <p:nvPr/>
        </p:nvPicPr>
        <p:blipFill rotWithShape="1">
          <a:blip r:embed="rId6">
            <a:alphaModFix/>
          </a:blip>
          <a:srcRect/>
          <a:stretch/>
        </p:blipFill>
        <p:spPr>
          <a:xfrm>
            <a:off x="5203216" y="82148"/>
            <a:ext cx="777573" cy="77757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8"/>
        <p:cNvGrpSpPr/>
        <p:nvPr/>
      </p:nvGrpSpPr>
      <p:grpSpPr>
        <a:xfrm>
          <a:off x="0" y="0"/>
          <a:ext cx="0" cy="0"/>
          <a:chOff x="0" y="0"/>
          <a:chExt cx="0" cy="0"/>
        </a:xfrm>
      </p:grpSpPr>
      <p:sp>
        <p:nvSpPr>
          <p:cNvPr id="159" name="Google Shape;159;p3"/>
          <p:cNvSpPr txBox="1"/>
          <p:nvPr/>
        </p:nvSpPr>
        <p:spPr>
          <a:xfrm>
            <a:off x="4523509" y="1260535"/>
            <a:ext cx="4031673" cy="2874000"/>
          </a:xfrm>
          <a:prstGeom prst="rect">
            <a:avLst/>
          </a:prstGeom>
          <a:noFill/>
          <a:ln>
            <a:noFill/>
          </a:ln>
        </p:spPr>
        <p:txBody>
          <a:bodyPr spcFirstLastPara="1" wrap="square" lIns="91425" tIns="91425" rIns="91425" bIns="91425" anchor="ctr" anchorCtr="0">
            <a:noAutofit/>
          </a:bodyPr>
          <a:lstStyle/>
          <a:p>
            <a:pPr marL="114300" lvl="1">
              <a:lnSpc>
                <a:spcPct val="115000"/>
              </a:lnSpc>
              <a:spcBef>
                <a:spcPts val="1200"/>
              </a:spcBef>
              <a:buClr>
                <a:schemeClr val="lt1"/>
              </a:buClr>
              <a:buSzPts val="1800"/>
            </a:pPr>
            <a:endParaRPr lang="es-AR" sz="1800" b="1" dirty="0">
              <a:solidFill>
                <a:schemeClr val="lt1"/>
              </a:solidFill>
              <a:latin typeface="Roboto"/>
              <a:ea typeface="Roboto"/>
              <a:cs typeface="Roboto"/>
              <a:sym typeface="Roboto"/>
            </a:endParaRPr>
          </a:p>
          <a:p>
            <a:pPr marL="457200" marR="0" lvl="1" indent="-342900" algn="l" rtl="0">
              <a:lnSpc>
                <a:spcPct val="115000"/>
              </a:lnSpc>
              <a:spcBef>
                <a:spcPts val="1200"/>
              </a:spcBef>
              <a:spcAft>
                <a:spcPts val="0"/>
              </a:spcAft>
              <a:buClr>
                <a:schemeClr val="lt1"/>
              </a:buClr>
              <a:buSzPts val="1800"/>
              <a:buFont typeface="Arial"/>
              <a:buChar char="•"/>
            </a:pPr>
            <a:r>
              <a:rPr lang="es-AR" sz="1800" b="1" dirty="0">
                <a:solidFill>
                  <a:schemeClr val="lt1"/>
                </a:solidFill>
                <a:latin typeface="Roboto"/>
                <a:ea typeface="Roboto"/>
                <a:cs typeface="Roboto"/>
                <a:sym typeface="Roboto"/>
              </a:rPr>
              <a:t>Crear </a:t>
            </a:r>
            <a:r>
              <a:rPr lang="es-AR" sz="1800" b="1" i="0" u="none" strike="noStrike" cap="none" dirty="0">
                <a:solidFill>
                  <a:schemeClr val="lt1"/>
                </a:solidFill>
                <a:latin typeface="Roboto"/>
                <a:ea typeface="Roboto"/>
                <a:cs typeface="Roboto"/>
                <a:sym typeface="Roboto"/>
              </a:rPr>
              <a:t>Tablas y otros objetos de una BD</a:t>
            </a:r>
            <a:endParaRPr sz="1400" b="0" i="0" u="none" strike="noStrike" cap="none" dirty="0">
              <a:solidFill>
                <a:srgbClr val="000000"/>
              </a:solidFill>
              <a:latin typeface="Arial"/>
              <a:ea typeface="Arial"/>
              <a:cs typeface="Arial"/>
              <a:sym typeface="Arial"/>
            </a:endParaRPr>
          </a:p>
          <a:p>
            <a:pPr marL="457200" marR="0" lvl="1" indent="-342900" algn="l" rtl="0">
              <a:lnSpc>
                <a:spcPct val="115000"/>
              </a:lnSpc>
              <a:spcBef>
                <a:spcPts val="1200"/>
              </a:spcBef>
              <a:spcAft>
                <a:spcPts val="0"/>
              </a:spcAft>
              <a:buClr>
                <a:schemeClr val="lt1"/>
              </a:buClr>
              <a:buSzPts val="1800"/>
              <a:buFont typeface="Arial"/>
              <a:buChar char="•"/>
            </a:pPr>
            <a:r>
              <a:rPr lang="es-AR" sz="1800" b="1" i="0" u="none" strike="noStrike" cap="none" dirty="0">
                <a:solidFill>
                  <a:schemeClr val="lt1"/>
                </a:solidFill>
                <a:latin typeface="Roboto"/>
                <a:ea typeface="Roboto"/>
                <a:cs typeface="Roboto"/>
                <a:sym typeface="Roboto"/>
              </a:rPr>
              <a:t>Tipos de datos</a:t>
            </a:r>
            <a:endParaRPr sz="1400" b="0" i="0" u="none" strike="noStrike" cap="none" dirty="0">
              <a:solidFill>
                <a:srgbClr val="000000"/>
              </a:solidFill>
              <a:latin typeface="Arial"/>
              <a:ea typeface="Arial"/>
              <a:cs typeface="Arial"/>
              <a:sym typeface="Arial"/>
            </a:endParaRPr>
          </a:p>
          <a:p>
            <a:pPr marL="457200" marR="0" lvl="1" indent="-342900" algn="l" rtl="0">
              <a:lnSpc>
                <a:spcPct val="115000"/>
              </a:lnSpc>
              <a:spcBef>
                <a:spcPts val="1200"/>
              </a:spcBef>
              <a:spcAft>
                <a:spcPts val="0"/>
              </a:spcAft>
              <a:buClr>
                <a:schemeClr val="lt1"/>
              </a:buClr>
              <a:buSzPts val="1800"/>
              <a:buFont typeface="Arial"/>
              <a:buChar char="•"/>
            </a:pPr>
            <a:r>
              <a:rPr lang="es-AR" sz="1800" b="1" i="0" u="none" strike="noStrike" cap="none" dirty="0">
                <a:solidFill>
                  <a:schemeClr val="lt1"/>
                </a:solidFill>
                <a:latin typeface="Roboto"/>
                <a:ea typeface="Roboto"/>
                <a:cs typeface="Roboto"/>
                <a:sym typeface="Roboto"/>
              </a:rPr>
              <a:t>Restricciones</a:t>
            </a:r>
            <a:endParaRPr sz="1400" b="0" i="0" u="none" strike="noStrike" cap="none" dirty="0">
              <a:solidFill>
                <a:srgbClr val="000000"/>
              </a:solidFill>
              <a:latin typeface="Arial"/>
              <a:ea typeface="Arial"/>
              <a:cs typeface="Arial"/>
              <a:sym typeface="Arial"/>
            </a:endParaRPr>
          </a:p>
        </p:txBody>
      </p:sp>
      <p:sp>
        <p:nvSpPr>
          <p:cNvPr id="160" name="Google Shape;160;p3"/>
          <p:cNvSpPr txBox="1"/>
          <p:nvPr/>
        </p:nvSpPr>
        <p:spPr>
          <a:xfrm>
            <a:off x="505469" y="3015734"/>
            <a:ext cx="3632700" cy="9891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3000"/>
              <a:buFont typeface="Arial"/>
              <a:buNone/>
            </a:pPr>
            <a:r>
              <a:rPr lang="es-AR" sz="3000" b="0" i="1" u="none" strike="noStrike" cap="none">
                <a:solidFill>
                  <a:schemeClr val="lt1"/>
                </a:solidFill>
                <a:latin typeface="Anton"/>
                <a:ea typeface="Anton"/>
                <a:cs typeface="Anton"/>
                <a:sym typeface="Anton"/>
              </a:rPr>
              <a:t>OBJETIVOS DE LA CLASE</a:t>
            </a:r>
            <a:endParaRPr sz="3000" b="0" i="1" u="none" strike="noStrike" cap="none">
              <a:solidFill>
                <a:schemeClr val="lt1"/>
              </a:solidFill>
              <a:latin typeface="Anton"/>
              <a:ea typeface="Anton"/>
              <a:cs typeface="Anton"/>
              <a:sym typeface="Anton"/>
            </a:endParaRPr>
          </a:p>
        </p:txBody>
      </p:sp>
      <p:cxnSp>
        <p:nvCxnSpPr>
          <p:cNvPr id="161" name="Google Shape;161;p3"/>
          <p:cNvCxnSpPr/>
          <p:nvPr/>
        </p:nvCxnSpPr>
        <p:spPr>
          <a:xfrm>
            <a:off x="4412673" y="971138"/>
            <a:ext cx="0" cy="3223672"/>
          </a:xfrm>
          <a:prstGeom prst="straightConnector1">
            <a:avLst/>
          </a:prstGeom>
          <a:noFill/>
          <a:ln w="38100" cap="flat" cmpd="sng">
            <a:solidFill>
              <a:schemeClr val="lt1"/>
            </a:solidFill>
            <a:prstDash val="solid"/>
            <a:round/>
            <a:headEnd type="none" w="sm" len="sm"/>
            <a:tailEnd type="none" w="sm" len="sm"/>
          </a:ln>
        </p:spPr>
      </p:cxnSp>
      <p:pic>
        <p:nvPicPr>
          <p:cNvPr id="162" name="Google Shape;162;p3"/>
          <p:cNvPicPr preferRelativeResize="0"/>
          <p:nvPr/>
        </p:nvPicPr>
        <p:blipFill rotWithShape="1">
          <a:blip r:embed="rId4">
            <a:alphaModFix/>
          </a:blip>
          <a:srcRect/>
          <a:stretch/>
        </p:blipFill>
        <p:spPr>
          <a:xfrm>
            <a:off x="1508536" y="1271390"/>
            <a:ext cx="1626565" cy="1626565"/>
          </a:xfrm>
          <a:prstGeom prst="rect">
            <a:avLst/>
          </a:prstGeom>
          <a:noFill/>
          <a:ln>
            <a:noFill/>
          </a:ln>
        </p:spPr>
      </p:pic>
      <p:pic>
        <p:nvPicPr>
          <p:cNvPr id="163" name="Google Shape;163;p3" descr="Blog | Coderhouse"/>
          <p:cNvPicPr preferRelativeResize="0"/>
          <p:nvPr/>
        </p:nvPicPr>
        <p:blipFill rotWithShape="1">
          <a:blip r:embed="rId5">
            <a:alphaModFix/>
          </a:blip>
          <a:srcRect/>
          <a:stretch/>
        </p:blipFill>
        <p:spPr>
          <a:xfrm>
            <a:off x="7598964" y="4569570"/>
            <a:ext cx="1221186" cy="260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0"/>
        <p:cNvGrpSpPr/>
        <p:nvPr/>
      </p:nvGrpSpPr>
      <p:grpSpPr>
        <a:xfrm>
          <a:off x="0" y="0"/>
          <a:ext cx="0" cy="0"/>
          <a:chOff x="0" y="0"/>
          <a:chExt cx="0" cy="0"/>
        </a:xfrm>
      </p:grpSpPr>
      <p:pic>
        <p:nvPicPr>
          <p:cNvPr id="491" name="Google Shape;491;p39"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
        <p:nvSpPr>
          <p:cNvPr id="492" name="Google Shape;492;p39"/>
          <p:cNvSpPr txBox="1"/>
          <p:nvPr/>
        </p:nvSpPr>
        <p:spPr>
          <a:xfrm>
            <a:off x="698799" y="2343807"/>
            <a:ext cx="7510758" cy="1639177"/>
          </a:xfrm>
          <a:prstGeom prst="rect">
            <a:avLst/>
          </a:prstGeom>
          <a:noFill/>
          <a:ln>
            <a:noFill/>
          </a:ln>
        </p:spPr>
        <p:txBody>
          <a:bodyPr spcFirstLastPara="1" wrap="square" lIns="91425" tIns="91425" rIns="91425" bIns="91425" anchor="ctr" anchorCtr="0">
            <a:noAutofit/>
          </a:bodyPr>
          <a:lstStyle/>
          <a:p>
            <a:pPr algn="ctr">
              <a:buSzPts val="3600"/>
            </a:pPr>
            <a:r>
              <a:rPr lang="es-MX" sz="8800" i="1" dirty="0">
                <a:solidFill>
                  <a:srgbClr val="FFFFFF"/>
                </a:solidFill>
                <a:latin typeface="Anton"/>
                <a:sym typeface="Anton"/>
              </a:rPr>
              <a:t>BASES DE DATOS</a:t>
            </a:r>
            <a:endParaRPr dirty="0"/>
          </a:p>
          <a:p>
            <a:pPr algn="ctr">
              <a:buSzPts val="3600"/>
            </a:pPr>
            <a:endParaRPr sz="6600" i="1" dirty="0">
              <a:solidFill>
                <a:srgbClr val="FFFFFF"/>
              </a:solidFill>
              <a:latin typeface="Anton"/>
              <a:ea typeface="Anton"/>
              <a:cs typeface="Anton"/>
              <a:sym typeface="Anton"/>
            </a:endParaRPr>
          </a:p>
        </p:txBody>
      </p:sp>
    </p:spTree>
    <p:extLst>
      <p:ext uri="{BB962C8B-B14F-4D97-AF65-F5344CB8AC3E}">
        <p14:creationId xmlns:p14="http://schemas.microsoft.com/office/powerpoint/2010/main" val="593529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3"/>
        <p:cNvGrpSpPr/>
        <p:nvPr/>
      </p:nvGrpSpPr>
      <p:grpSpPr>
        <a:xfrm>
          <a:off x="0" y="0"/>
          <a:ext cx="0" cy="0"/>
          <a:chOff x="0" y="0"/>
          <a:chExt cx="0" cy="0"/>
        </a:xfrm>
      </p:grpSpPr>
      <p:sp>
        <p:nvSpPr>
          <p:cNvPr id="174" name="Google Shape;174;p5"/>
          <p:cNvSpPr txBox="1"/>
          <p:nvPr/>
        </p:nvSpPr>
        <p:spPr>
          <a:xfrm>
            <a:off x="638205" y="1503186"/>
            <a:ext cx="3600642" cy="22722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100" b="0" i="0" u="none" strike="noStrike" cap="none" dirty="0">
                <a:solidFill>
                  <a:schemeClr val="lt1"/>
                </a:solidFill>
                <a:latin typeface="Roboto"/>
                <a:ea typeface="Roboto"/>
                <a:cs typeface="Roboto"/>
                <a:sym typeface="Roboto"/>
              </a:rPr>
              <a:t>Las bases de datos relacionales se basan en el </a:t>
            </a:r>
            <a:r>
              <a:rPr lang="es-AR" sz="2100" b="1" i="0" u="none" strike="noStrike" cap="none" dirty="0">
                <a:solidFill>
                  <a:schemeClr val="lt1"/>
                </a:solidFill>
                <a:latin typeface="Roboto"/>
                <a:ea typeface="Roboto"/>
                <a:cs typeface="Roboto"/>
                <a:sym typeface="Roboto"/>
              </a:rPr>
              <a:t>modelo relacional,</a:t>
            </a:r>
            <a:r>
              <a:rPr lang="es-AR" sz="2100" b="0" i="0" u="none" strike="noStrike" cap="none" dirty="0">
                <a:solidFill>
                  <a:schemeClr val="lt1"/>
                </a:solidFill>
                <a:latin typeface="Roboto"/>
                <a:ea typeface="Roboto"/>
                <a:cs typeface="Roboto"/>
                <a:sym typeface="Roboto"/>
              </a:rPr>
              <a:t> y usan un </a:t>
            </a:r>
            <a:r>
              <a:rPr lang="es-AR" sz="2100" b="1" i="0" u="none" strike="noStrike" cap="none" dirty="0">
                <a:solidFill>
                  <a:schemeClr val="lt1"/>
                </a:solidFill>
                <a:latin typeface="Roboto"/>
                <a:ea typeface="Roboto"/>
                <a:cs typeface="Roboto"/>
                <a:sym typeface="Roboto"/>
              </a:rPr>
              <a:t>conjunto de tablas </a:t>
            </a:r>
            <a:br>
              <a:rPr lang="es-AR" sz="2100" b="1" i="0" u="none" strike="noStrike" cap="none" dirty="0">
                <a:solidFill>
                  <a:schemeClr val="lt1"/>
                </a:solidFill>
                <a:latin typeface="Roboto"/>
                <a:ea typeface="Roboto"/>
                <a:cs typeface="Roboto"/>
                <a:sym typeface="Roboto"/>
              </a:rPr>
            </a:br>
            <a:r>
              <a:rPr lang="es-AR" sz="2100" b="0" i="0" u="none" strike="noStrike" cap="none" dirty="0">
                <a:solidFill>
                  <a:schemeClr val="lt1"/>
                </a:solidFill>
                <a:latin typeface="Roboto"/>
                <a:ea typeface="Roboto"/>
                <a:cs typeface="Roboto"/>
                <a:sym typeface="Roboto"/>
              </a:rPr>
              <a:t>para representar tanto los datos como las </a:t>
            </a:r>
            <a:br>
              <a:rPr lang="es-AR" sz="2100" b="0" i="0" u="none" strike="noStrike" cap="none" dirty="0">
                <a:solidFill>
                  <a:schemeClr val="lt1"/>
                </a:solidFill>
                <a:latin typeface="Roboto"/>
                <a:ea typeface="Roboto"/>
                <a:cs typeface="Roboto"/>
                <a:sym typeface="Roboto"/>
              </a:rPr>
            </a:br>
            <a:r>
              <a:rPr lang="es-AR" sz="2100" b="0" i="0" u="none" strike="noStrike" cap="none" dirty="0">
                <a:solidFill>
                  <a:schemeClr val="lt1"/>
                </a:solidFill>
                <a:latin typeface="Roboto"/>
                <a:ea typeface="Roboto"/>
                <a:cs typeface="Roboto"/>
                <a:sym typeface="Roboto"/>
              </a:rPr>
              <a:t>relaciones entre ellos.</a:t>
            </a:r>
            <a:endParaRPr sz="2100" b="0" i="0" u="none" strike="noStrike" cap="none" dirty="0">
              <a:solidFill>
                <a:schemeClr val="lt1"/>
              </a:solidFill>
              <a:latin typeface="Roboto"/>
              <a:ea typeface="Roboto"/>
              <a:cs typeface="Roboto"/>
              <a:sym typeface="Roboto"/>
            </a:endParaRPr>
          </a:p>
        </p:txBody>
      </p:sp>
      <p:sp>
        <p:nvSpPr>
          <p:cNvPr id="175" name="Google Shape;175;p5"/>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INTRO</a:t>
            </a:r>
            <a:endParaRPr sz="4000" b="0" i="0" u="none" strike="noStrike" cap="none" dirty="0">
              <a:solidFill>
                <a:schemeClr val="lt1"/>
              </a:solidFill>
              <a:latin typeface="Arial"/>
              <a:ea typeface="Arial"/>
              <a:cs typeface="Arial"/>
              <a:sym typeface="Arial"/>
            </a:endParaRPr>
          </a:p>
        </p:txBody>
      </p:sp>
      <p:pic>
        <p:nvPicPr>
          <p:cNvPr id="176" name="Google Shape;176;p5"/>
          <p:cNvPicPr preferRelativeResize="0"/>
          <p:nvPr/>
        </p:nvPicPr>
        <p:blipFill rotWithShape="1">
          <a:blip r:embed="rId4">
            <a:alphaModFix/>
          </a:blip>
          <a:srcRect/>
          <a:stretch/>
        </p:blipFill>
        <p:spPr>
          <a:xfrm>
            <a:off x="4402422" y="1293341"/>
            <a:ext cx="4352029" cy="2556817"/>
          </a:xfrm>
          <a:prstGeom prst="rect">
            <a:avLst/>
          </a:prstGeom>
          <a:noFill/>
          <a:ln w="9525" cap="flat" cmpd="sng">
            <a:solidFill>
              <a:schemeClr val="lt1"/>
            </a:solidFill>
            <a:prstDash val="solid"/>
            <a:round/>
            <a:headEnd type="none" w="sm" len="sm"/>
            <a:tailEnd type="none" w="sm" len="sm"/>
          </a:ln>
        </p:spPr>
      </p:pic>
      <p:pic>
        <p:nvPicPr>
          <p:cNvPr id="177" name="Google Shape;177;p5" descr="Blog | Coderhouse"/>
          <p:cNvPicPr preferRelativeResize="0"/>
          <p:nvPr/>
        </p:nvPicPr>
        <p:blipFill rotWithShape="1">
          <a:blip r:embed="rId5">
            <a:alphaModFix/>
          </a:blip>
          <a:srcRect/>
          <a:stretch/>
        </p:blipFill>
        <p:spPr>
          <a:xfrm>
            <a:off x="7598964" y="4569570"/>
            <a:ext cx="1221186" cy="260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1"/>
        <p:cNvGrpSpPr/>
        <p:nvPr/>
      </p:nvGrpSpPr>
      <p:grpSpPr>
        <a:xfrm>
          <a:off x="0" y="0"/>
          <a:ext cx="0" cy="0"/>
          <a:chOff x="0" y="0"/>
          <a:chExt cx="0" cy="0"/>
        </a:xfrm>
      </p:grpSpPr>
      <p:sp>
        <p:nvSpPr>
          <p:cNvPr id="182" name="Google Shape;182;p6"/>
          <p:cNvSpPr txBox="1"/>
          <p:nvPr/>
        </p:nvSpPr>
        <p:spPr>
          <a:xfrm>
            <a:off x="579445" y="803762"/>
            <a:ext cx="3945450" cy="40212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0" i="0" u="none" strike="noStrike" cap="none" dirty="0">
                <a:solidFill>
                  <a:schemeClr val="lt1"/>
                </a:solidFill>
                <a:latin typeface="Roboto"/>
                <a:ea typeface="Roboto"/>
                <a:cs typeface="Roboto"/>
                <a:sym typeface="Roboto"/>
              </a:rPr>
              <a:t>Es una </a:t>
            </a:r>
            <a:r>
              <a:rPr lang="es-AR" sz="1800" b="1" i="0" u="none" strike="noStrike" cap="none" dirty="0">
                <a:solidFill>
                  <a:schemeClr val="lt1"/>
                </a:solidFill>
                <a:latin typeface="Roboto"/>
                <a:ea typeface="Roboto"/>
                <a:cs typeface="Roboto"/>
                <a:sym typeface="Roboto"/>
              </a:rPr>
              <a:t>estructura de tablas</a:t>
            </a:r>
            <a:r>
              <a:rPr lang="es-AR" sz="1800" b="0" i="0" u="none" strike="noStrike" cap="none" dirty="0">
                <a:solidFill>
                  <a:schemeClr val="lt1"/>
                </a:solidFill>
                <a:latin typeface="Roboto"/>
                <a:ea typeface="Roboto"/>
                <a:cs typeface="Roboto"/>
                <a:sym typeface="Roboto"/>
              </a:rPr>
              <a:t>, las cuales a su vez </a:t>
            </a:r>
            <a:r>
              <a:rPr lang="es-AR" sz="1800" b="1" i="0" u="none" strike="noStrike" cap="none" dirty="0">
                <a:solidFill>
                  <a:schemeClr val="lt1"/>
                </a:solidFill>
                <a:latin typeface="Roboto"/>
                <a:ea typeface="Roboto"/>
                <a:cs typeface="Roboto"/>
                <a:sym typeface="Roboto"/>
              </a:rPr>
              <a:t>se relacionan con otras </a:t>
            </a:r>
            <a:r>
              <a:rPr lang="es-AR" sz="1800" b="0" i="0" u="none" strike="noStrike" cap="none" dirty="0">
                <a:solidFill>
                  <a:schemeClr val="lt1"/>
                </a:solidFill>
                <a:latin typeface="Roboto"/>
                <a:ea typeface="Roboto"/>
                <a:cs typeface="Roboto"/>
                <a:sym typeface="Roboto"/>
              </a:rPr>
              <a:t>tablas. Su principal característica es </a:t>
            </a:r>
            <a:r>
              <a:rPr lang="es-AR" sz="1800" b="1" i="0" u="none" strike="noStrike" cap="none" dirty="0">
                <a:solidFill>
                  <a:schemeClr val="lt1"/>
                </a:solidFill>
                <a:latin typeface="Roboto"/>
                <a:ea typeface="Roboto"/>
                <a:cs typeface="Roboto"/>
                <a:sym typeface="Roboto"/>
              </a:rPr>
              <a:t>no poseer información repetida </a:t>
            </a:r>
            <a:r>
              <a:rPr lang="es-AR" sz="1800" b="0" i="0" u="none" strike="noStrike" cap="none" dirty="0">
                <a:solidFill>
                  <a:schemeClr val="lt1"/>
                </a:solidFill>
                <a:latin typeface="Roboto"/>
                <a:ea typeface="Roboto"/>
                <a:cs typeface="Roboto"/>
                <a:sym typeface="Roboto"/>
              </a:rPr>
              <a:t>de forma innecesaria, lo que permite adicionar más información sin llegar a afectar la otra almacenada.</a:t>
            </a:r>
            <a:endParaRPr sz="1800" b="0" i="0" u="none" strike="noStrike" cap="none" dirty="0">
              <a:solidFill>
                <a:schemeClr val="lt1"/>
              </a:solidFill>
              <a:latin typeface="Roboto"/>
              <a:ea typeface="Roboto"/>
              <a:cs typeface="Roboto"/>
              <a:sym typeface="Roboto"/>
            </a:endParaRPr>
          </a:p>
        </p:txBody>
      </p:sp>
      <p:sp>
        <p:nvSpPr>
          <p:cNvPr id="183" name="Google Shape;183;p6"/>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PRINCIPAL CARACTERÍSTICA</a:t>
            </a:r>
            <a:endParaRPr sz="4000" b="0" i="0" u="none" strike="noStrike" cap="none" dirty="0">
              <a:solidFill>
                <a:schemeClr val="lt1"/>
              </a:solidFill>
              <a:latin typeface="Arial"/>
              <a:ea typeface="Arial"/>
              <a:cs typeface="Arial"/>
              <a:sym typeface="Arial"/>
            </a:endParaRPr>
          </a:p>
        </p:txBody>
      </p:sp>
      <p:pic>
        <p:nvPicPr>
          <p:cNvPr id="184" name="Google Shape;184;p6"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pic>
        <p:nvPicPr>
          <p:cNvPr id="185" name="Google Shape;185;p6"/>
          <p:cNvPicPr preferRelativeResize="0"/>
          <p:nvPr/>
        </p:nvPicPr>
        <p:blipFill rotWithShape="1">
          <a:blip r:embed="rId5">
            <a:alphaModFix/>
          </a:blip>
          <a:srcRect/>
          <a:stretch/>
        </p:blipFill>
        <p:spPr>
          <a:xfrm>
            <a:off x="4677295" y="1172151"/>
            <a:ext cx="3486150" cy="3124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5"/>
        <p:cNvGrpSpPr/>
        <p:nvPr/>
      </p:nvGrpSpPr>
      <p:grpSpPr>
        <a:xfrm>
          <a:off x="0" y="0"/>
          <a:ext cx="0" cy="0"/>
          <a:chOff x="0" y="0"/>
          <a:chExt cx="0" cy="0"/>
        </a:xfrm>
      </p:grpSpPr>
      <p:sp>
        <p:nvSpPr>
          <p:cNvPr id="196" name="Google Shape;196;p8"/>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VENTAJAS</a:t>
            </a:r>
            <a:endParaRPr sz="4000" b="0" i="0" u="none" strike="noStrike" cap="none" dirty="0">
              <a:solidFill>
                <a:schemeClr val="lt1"/>
              </a:solidFill>
              <a:latin typeface="Arial"/>
              <a:ea typeface="Arial"/>
              <a:cs typeface="Arial"/>
              <a:sym typeface="Arial"/>
            </a:endParaRPr>
          </a:p>
        </p:txBody>
      </p:sp>
      <p:sp>
        <p:nvSpPr>
          <p:cNvPr id="197" name="Google Shape;197;p8"/>
          <p:cNvSpPr txBox="1">
            <a:spLocks noGrp="1"/>
          </p:cNvSpPr>
          <p:nvPr>
            <p:ph type="body" idx="1"/>
          </p:nvPr>
        </p:nvSpPr>
        <p:spPr>
          <a:xfrm>
            <a:off x="628650" y="1201579"/>
            <a:ext cx="3886200" cy="2330911"/>
          </a:xfrm>
          <a:prstGeom prst="rect">
            <a:avLst/>
          </a:prstGeom>
          <a:noFill/>
          <a:ln>
            <a:noFill/>
          </a:ln>
        </p:spPr>
        <p:txBody>
          <a:bodyPr spcFirstLastPara="1" wrap="square" lIns="91425" tIns="45700" rIns="91425" bIns="45700" anchor="t" anchorCtr="0">
            <a:noAutofit/>
          </a:bodyPr>
          <a:lstStyle/>
          <a:p>
            <a:pPr marL="431800" marR="38100" lvl="0" indent="-342900" algn="l" rtl="0">
              <a:lnSpc>
                <a:spcPct val="128571"/>
              </a:lnSpc>
              <a:spcBef>
                <a:spcPts val="0"/>
              </a:spcBef>
              <a:spcAft>
                <a:spcPts val="0"/>
              </a:spcAft>
              <a:buClr>
                <a:schemeClr val="lt1"/>
              </a:buClr>
              <a:buSzPts val="2200"/>
              <a:buChar char="•"/>
            </a:pPr>
            <a:r>
              <a:rPr lang="es-AR" sz="2000" dirty="0">
                <a:solidFill>
                  <a:schemeClr val="lt1"/>
                </a:solidFill>
                <a:latin typeface="Roboto"/>
                <a:ea typeface="Roboto"/>
                <a:cs typeface="Roboto"/>
                <a:sym typeface="Roboto"/>
              </a:rPr>
              <a:t>El proceso de </a:t>
            </a:r>
            <a:r>
              <a:rPr lang="es-AR" sz="2000" b="1" dirty="0">
                <a:solidFill>
                  <a:schemeClr val="lt1"/>
                </a:solidFill>
                <a:latin typeface="Roboto"/>
                <a:ea typeface="Roboto"/>
                <a:cs typeface="Roboto"/>
                <a:sym typeface="Roboto"/>
              </a:rPr>
              <a:t>normalización</a:t>
            </a:r>
            <a:r>
              <a:rPr lang="es-AR" sz="2000" dirty="0">
                <a:solidFill>
                  <a:schemeClr val="lt1"/>
                </a:solidFill>
                <a:latin typeface="Roboto"/>
                <a:ea typeface="Roboto"/>
                <a:cs typeface="Roboto"/>
                <a:sym typeface="Roboto"/>
              </a:rPr>
              <a:t>, ayuda a eliminar la redundancia de los datos y evitar registros </a:t>
            </a:r>
            <a:r>
              <a:rPr lang="es-AR" sz="2000" b="1" dirty="0">
                <a:solidFill>
                  <a:schemeClr val="lt1"/>
                </a:solidFill>
                <a:latin typeface="Roboto"/>
                <a:ea typeface="Roboto"/>
                <a:cs typeface="Roboto"/>
                <a:sym typeface="Roboto"/>
              </a:rPr>
              <a:t>duplicados</a:t>
            </a:r>
            <a:r>
              <a:rPr lang="es-AR" sz="2000" dirty="0">
                <a:solidFill>
                  <a:schemeClr val="lt1"/>
                </a:solidFill>
                <a:latin typeface="Roboto"/>
                <a:ea typeface="Roboto"/>
                <a:cs typeface="Roboto"/>
                <a:sym typeface="Roboto"/>
              </a:rPr>
              <a:t>.</a:t>
            </a:r>
            <a:endParaRPr dirty="0"/>
          </a:p>
          <a:p>
            <a:pPr marL="431800" marR="38100" lvl="0" indent="-203200" algn="l" rtl="0">
              <a:lnSpc>
                <a:spcPct val="128571"/>
              </a:lnSpc>
              <a:spcBef>
                <a:spcPts val="1200"/>
              </a:spcBef>
              <a:spcAft>
                <a:spcPts val="0"/>
              </a:spcAft>
              <a:buClr>
                <a:schemeClr val="lt1"/>
              </a:buClr>
              <a:buSzPts val="2200"/>
              <a:buNone/>
            </a:pPr>
            <a:endParaRPr sz="2000" dirty="0">
              <a:solidFill>
                <a:schemeClr val="lt1"/>
              </a:solidFill>
              <a:latin typeface="Roboto"/>
              <a:ea typeface="Roboto"/>
              <a:cs typeface="Roboto"/>
              <a:sym typeface="Roboto"/>
            </a:endParaRPr>
          </a:p>
          <a:p>
            <a:pPr marL="457200" lvl="0" indent="-228600" algn="l" rtl="0">
              <a:lnSpc>
                <a:spcPct val="90000"/>
              </a:lnSpc>
              <a:spcBef>
                <a:spcPts val="1950"/>
              </a:spcBef>
              <a:spcAft>
                <a:spcPts val="1200"/>
              </a:spcAft>
              <a:buClr>
                <a:schemeClr val="lt1"/>
              </a:buClr>
              <a:buSzPts val="1800"/>
              <a:buNone/>
            </a:pPr>
            <a:endParaRPr dirty="0">
              <a:solidFill>
                <a:schemeClr val="lt1"/>
              </a:solidFill>
              <a:latin typeface="Roboto"/>
              <a:ea typeface="Roboto"/>
              <a:cs typeface="Roboto"/>
              <a:sym typeface="Roboto"/>
            </a:endParaRPr>
          </a:p>
        </p:txBody>
      </p:sp>
      <p:sp>
        <p:nvSpPr>
          <p:cNvPr id="198" name="Google Shape;198;p8"/>
          <p:cNvSpPr txBox="1">
            <a:spLocks noGrp="1"/>
          </p:cNvSpPr>
          <p:nvPr>
            <p:ph type="body" idx="2"/>
          </p:nvPr>
        </p:nvSpPr>
        <p:spPr>
          <a:xfrm>
            <a:off x="4629150" y="1201579"/>
            <a:ext cx="3886200" cy="1983581"/>
          </a:xfrm>
          <a:prstGeom prst="rect">
            <a:avLst/>
          </a:prstGeom>
          <a:noFill/>
          <a:ln>
            <a:noFill/>
          </a:ln>
        </p:spPr>
        <p:txBody>
          <a:bodyPr spcFirstLastPara="1" wrap="square" lIns="91425" tIns="45700" rIns="91425" bIns="45700" anchor="t" anchorCtr="0">
            <a:noAutofit/>
          </a:bodyPr>
          <a:lstStyle/>
          <a:p>
            <a:pPr marL="431800" marR="38100" lvl="0" indent="-342900" algn="l" rtl="0">
              <a:lnSpc>
                <a:spcPct val="128571"/>
              </a:lnSpc>
              <a:spcBef>
                <a:spcPts val="1200"/>
              </a:spcBef>
              <a:spcAft>
                <a:spcPts val="0"/>
              </a:spcAft>
              <a:buClr>
                <a:schemeClr val="lt1"/>
              </a:buClr>
              <a:buSzPts val="2200"/>
              <a:buChar char="•"/>
            </a:pPr>
            <a:r>
              <a:rPr lang="es-AR" sz="2000" dirty="0">
                <a:solidFill>
                  <a:schemeClr val="lt1"/>
                </a:solidFill>
                <a:latin typeface="Roboto"/>
                <a:ea typeface="Roboto"/>
                <a:cs typeface="Roboto"/>
                <a:sym typeface="Roboto"/>
              </a:rPr>
              <a:t>Permite realizar </a:t>
            </a:r>
            <a:r>
              <a:rPr lang="es-AR" sz="2000" b="1" dirty="0">
                <a:solidFill>
                  <a:schemeClr val="lt1"/>
                </a:solidFill>
                <a:latin typeface="Roboto"/>
                <a:ea typeface="Roboto"/>
                <a:cs typeface="Roboto"/>
                <a:sym typeface="Roboto"/>
              </a:rPr>
              <a:t>consultas</a:t>
            </a:r>
            <a:r>
              <a:rPr lang="es-AR" sz="2000" dirty="0">
                <a:solidFill>
                  <a:schemeClr val="lt1"/>
                </a:solidFill>
                <a:latin typeface="Roboto"/>
                <a:ea typeface="Roboto"/>
                <a:cs typeface="Roboto"/>
                <a:sym typeface="Roboto"/>
              </a:rPr>
              <a:t> y obtener resultados de forma ágil y rápida por medio de SQL u otro lenguaje de base de datos estructurado.</a:t>
            </a:r>
            <a:endParaRPr sz="2000" b="0" i="0" u="none" strike="noStrike" cap="none" dirty="0">
              <a:solidFill>
                <a:schemeClr val="lt1"/>
              </a:solidFill>
              <a:latin typeface="Roboto"/>
              <a:ea typeface="Roboto"/>
              <a:cs typeface="Roboto"/>
              <a:sym typeface="Roboto"/>
            </a:endParaRPr>
          </a:p>
          <a:p>
            <a:pPr marL="457200" lvl="0" indent="-228600" algn="l" rtl="0">
              <a:lnSpc>
                <a:spcPct val="90000"/>
              </a:lnSpc>
              <a:spcBef>
                <a:spcPts val="1950"/>
              </a:spcBef>
              <a:spcAft>
                <a:spcPts val="1200"/>
              </a:spcAft>
              <a:buClr>
                <a:schemeClr val="lt1"/>
              </a:buClr>
              <a:buSzPts val="1800"/>
              <a:buNone/>
            </a:pPr>
            <a:endParaRPr dirty="0">
              <a:solidFill>
                <a:schemeClr val="lt1"/>
              </a:solidFill>
              <a:latin typeface="Roboto"/>
              <a:ea typeface="Roboto"/>
              <a:cs typeface="Roboto"/>
              <a:sym typeface="Roboto"/>
            </a:endParaRPr>
          </a:p>
        </p:txBody>
      </p:sp>
      <p:pic>
        <p:nvPicPr>
          <p:cNvPr id="199" name="Google Shape;199;p8"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3"/>
        <p:cNvGrpSpPr/>
        <p:nvPr/>
      </p:nvGrpSpPr>
      <p:grpSpPr>
        <a:xfrm>
          <a:off x="0" y="0"/>
          <a:ext cx="0" cy="0"/>
          <a:chOff x="0" y="0"/>
          <a:chExt cx="0" cy="0"/>
        </a:xfrm>
      </p:grpSpPr>
      <p:sp>
        <p:nvSpPr>
          <p:cNvPr id="204" name="Google Shape;204;p9"/>
          <p:cNvSpPr txBox="1"/>
          <p:nvPr/>
        </p:nvSpPr>
        <p:spPr>
          <a:xfrm>
            <a:off x="725200" y="1150635"/>
            <a:ext cx="7896600" cy="2046044"/>
          </a:xfrm>
          <a:prstGeom prst="rect">
            <a:avLst/>
          </a:prstGeom>
          <a:noFill/>
          <a:ln>
            <a:noFill/>
          </a:ln>
        </p:spPr>
        <p:txBody>
          <a:bodyPr spcFirstLastPara="1" wrap="square" lIns="91425" tIns="91425" rIns="91425" bIns="91425" anchor="t" anchorCtr="0">
            <a:noAutofit/>
          </a:bodyPr>
          <a:lstStyle/>
          <a:p>
            <a:pPr marL="0" marR="38100" lvl="0" indent="0" algn="ctr" rtl="0">
              <a:lnSpc>
                <a:spcPct val="128571"/>
              </a:lnSpc>
              <a:spcBef>
                <a:spcPts val="0"/>
              </a:spcBef>
              <a:spcAft>
                <a:spcPts val="0"/>
              </a:spcAft>
              <a:buClr>
                <a:srgbClr val="000000"/>
              </a:buClr>
              <a:buSzPts val="2300"/>
              <a:buFont typeface="Arial"/>
              <a:buNone/>
            </a:pPr>
            <a:r>
              <a:rPr lang="es-AR" sz="2300" b="0" i="0" u="none" strike="noStrike" cap="none">
                <a:solidFill>
                  <a:schemeClr val="lt1"/>
                </a:solidFill>
                <a:latin typeface="Roboto"/>
                <a:ea typeface="Roboto"/>
                <a:cs typeface="Roboto"/>
                <a:sym typeface="Roboto"/>
              </a:rPr>
              <a:t>Garantiza la </a:t>
            </a:r>
            <a:r>
              <a:rPr lang="es-AR" sz="2300" b="1" i="0" u="none" strike="noStrike" cap="none">
                <a:solidFill>
                  <a:schemeClr val="lt1"/>
                </a:solidFill>
                <a:latin typeface="Roboto"/>
                <a:ea typeface="Roboto"/>
                <a:cs typeface="Roboto"/>
                <a:sym typeface="Roboto"/>
              </a:rPr>
              <a:t>integridad referencial</a:t>
            </a:r>
            <a:r>
              <a:rPr lang="es-AR" sz="2300" b="0" i="0" u="none" strike="noStrike" cap="none">
                <a:solidFill>
                  <a:schemeClr val="lt1"/>
                </a:solidFill>
                <a:latin typeface="Roboto"/>
                <a:ea typeface="Roboto"/>
                <a:cs typeface="Roboto"/>
                <a:sym typeface="Roboto"/>
              </a:rPr>
              <a:t>: si un registro tiene relación con otra tabla, no permite que el mismo sea eliminado. Asimismo, si se quiere borrar, también se eliminarán todos los datos relacionados, siempre y cuando se hayan establecido unas opciones denominadas </a:t>
            </a:r>
            <a:r>
              <a:rPr lang="es-AR" sz="2300" b="1" i="0" u="none" strike="noStrike" cap="none">
                <a:solidFill>
                  <a:schemeClr val="lt1"/>
                </a:solidFill>
                <a:latin typeface="Roboto"/>
                <a:ea typeface="Roboto"/>
                <a:cs typeface="Roboto"/>
                <a:sym typeface="Roboto"/>
              </a:rPr>
              <a:t>ON DELETE CASCADE </a:t>
            </a:r>
            <a:r>
              <a:rPr lang="es-AR" sz="2300" b="0" i="0" u="none" strike="noStrike" cap="none">
                <a:solidFill>
                  <a:schemeClr val="lt1"/>
                </a:solidFill>
                <a:latin typeface="Roboto"/>
                <a:ea typeface="Roboto"/>
                <a:cs typeface="Roboto"/>
                <a:sym typeface="Roboto"/>
              </a:rPr>
              <a:t>y </a:t>
            </a:r>
            <a:r>
              <a:rPr lang="es-AR" sz="2300" b="1" i="0" u="none" strike="noStrike" cap="none">
                <a:solidFill>
                  <a:schemeClr val="lt1"/>
                </a:solidFill>
                <a:latin typeface="Roboto"/>
                <a:ea typeface="Roboto"/>
                <a:cs typeface="Roboto"/>
                <a:sym typeface="Roboto"/>
              </a:rPr>
              <a:t>ON UPDATE CASCADE</a:t>
            </a:r>
            <a:r>
              <a:rPr lang="es-AR" sz="2300" b="0" i="0" u="none" strike="noStrike" cap="none">
                <a:solidFill>
                  <a:schemeClr val="lt1"/>
                </a:solidFill>
                <a:latin typeface="Roboto"/>
                <a:ea typeface="Roboto"/>
                <a:cs typeface="Roboto"/>
                <a:sym typeface="Roboto"/>
              </a:rPr>
              <a:t>.</a:t>
            </a:r>
            <a:endParaRPr sz="2200" b="0" i="0" u="none" strike="noStrike" cap="none">
              <a:solidFill>
                <a:schemeClr val="lt1"/>
              </a:solidFill>
              <a:latin typeface="Roboto"/>
              <a:ea typeface="Roboto"/>
              <a:cs typeface="Roboto"/>
              <a:sym typeface="Roboto"/>
            </a:endParaRPr>
          </a:p>
        </p:txBody>
      </p:sp>
      <p:sp>
        <p:nvSpPr>
          <p:cNvPr id="205" name="Google Shape;205;p9"/>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VENTAJAS</a:t>
            </a:r>
            <a:endParaRPr sz="4000" b="0" i="0" u="none" strike="noStrike" cap="none" dirty="0">
              <a:solidFill>
                <a:schemeClr val="lt1"/>
              </a:solidFill>
              <a:latin typeface="Arial"/>
              <a:ea typeface="Arial"/>
              <a:cs typeface="Arial"/>
              <a:sym typeface="Arial"/>
            </a:endParaRPr>
          </a:p>
        </p:txBody>
      </p:sp>
      <p:pic>
        <p:nvPicPr>
          <p:cNvPr id="206" name="Google Shape;206;p9"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0"/>
        <p:cNvGrpSpPr/>
        <p:nvPr/>
      </p:nvGrpSpPr>
      <p:grpSpPr>
        <a:xfrm>
          <a:off x="0" y="0"/>
          <a:ext cx="0" cy="0"/>
          <a:chOff x="0" y="0"/>
          <a:chExt cx="0" cy="0"/>
        </a:xfrm>
      </p:grpSpPr>
      <p:sp>
        <p:nvSpPr>
          <p:cNvPr id="211" name="Google Shape;211;p10"/>
          <p:cNvSpPr txBox="1"/>
          <p:nvPr/>
        </p:nvSpPr>
        <p:spPr>
          <a:xfrm>
            <a:off x="422446" y="2037443"/>
            <a:ext cx="821023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s-AR" sz="8000" b="0" i="1" u="none" strike="noStrike" cap="none">
                <a:solidFill>
                  <a:schemeClr val="lt1"/>
                </a:solidFill>
                <a:latin typeface="Anton"/>
                <a:ea typeface="Anton"/>
                <a:cs typeface="Anton"/>
                <a:sym typeface="Anton"/>
              </a:rPr>
              <a:t>OBJETOS DE UNA </a:t>
            </a:r>
            <a:br>
              <a:rPr lang="es-AR" sz="8000" b="0" i="1" u="none" strike="noStrike" cap="none">
                <a:solidFill>
                  <a:schemeClr val="lt1"/>
                </a:solidFill>
                <a:latin typeface="Anton"/>
                <a:ea typeface="Anton"/>
                <a:cs typeface="Anton"/>
                <a:sym typeface="Anton"/>
              </a:rPr>
            </a:br>
            <a:r>
              <a:rPr lang="es-AR" sz="8000" b="0" i="1" u="none" strike="noStrike" cap="none">
                <a:solidFill>
                  <a:schemeClr val="lt1"/>
                </a:solidFill>
                <a:latin typeface="Anton"/>
                <a:ea typeface="Anton"/>
                <a:cs typeface="Anton"/>
                <a:sym typeface="Anton"/>
              </a:rPr>
              <a:t>BASE DE DATOS</a:t>
            </a:r>
            <a:endParaRPr sz="8000" b="0" i="1" u="none" strike="noStrike" cap="none">
              <a:solidFill>
                <a:schemeClr val="lt1"/>
              </a:solidFill>
              <a:latin typeface="Anton"/>
              <a:ea typeface="Anton"/>
              <a:cs typeface="Anton"/>
              <a:sym typeface="Anton"/>
            </a:endParaRPr>
          </a:p>
        </p:txBody>
      </p:sp>
      <p:pic>
        <p:nvPicPr>
          <p:cNvPr id="212" name="Google Shape;212;p10"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4"/>
        <p:cNvGrpSpPr/>
        <p:nvPr/>
      </p:nvGrpSpPr>
      <p:grpSpPr>
        <a:xfrm>
          <a:off x="0" y="0"/>
          <a:ext cx="0" cy="0"/>
          <a:chOff x="0" y="0"/>
          <a:chExt cx="0" cy="0"/>
        </a:xfrm>
      </p:grpSpPr>
      <p:sp>
        <p:nvSpPr>
          <p:cNvPr id="225" name="Google Shape;225;p12"/>
          <p:cNvSpPr txBox="1"/>
          <p:nvPr/>
        </p:nvSpPr>
        <p:spPr>
          <a:xfrm>
            <a:off x="654950" y="818000"/>
            <a:ext cx="5326750" cy="40647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0" i="0" u="none" strike="noStrike" cap="none" dirty="0">
                <a:solidFill>
                  <a:schemeClr val="lt1"/>
                </a:solidFill>
                <a:latin typeface="Roboto"/>
                <a:ea typeface="Roboto"/>
                <a:cs typeface="Roboto"/>
                <a:sym typeface="Roboto"/>
              </a:rPr>
              <a:t>Las </a:t>
            </a:r>
            <a:r>
              <a:rPr lang="es-AR" sz="2000" b="1" i="0" u="none" strike="noStrike" cap="none" dirty="0">
                <a:solidFill>
                  <a:schemeClr val="lt1"/>
                </a:solidFill>
                <a:latin typeface="Roboto"/>
                <a:ea typeface="Roboto"/>
                <a:cs typeface="Roboto"/>
                <a:sym typeface="Roboto"/>
              </a:rPr>
              <a:t>tablas </a:t>
            </a:r>
            <a:r>
              <a:rPr lang="es-AR" sz="2000" b="0" i="0" u="none" strike="noStrike" cap="none" dirty="0">
                <a:solidFill>
                  <a:schemeClr val="lt1"/>
                </a:solidFill>
                <a:latin typeface="Roboto"/>
                <a:ea typeface="Roboto"/>
                <a:cs typeface="Roboto"/>
                <a:sym typeface="Roboto"/>
              </a:rPr>
              <a:t>son los elementos más importantes de una base de datos. Están compuestas por columnas (</a:t>
            </a:r>
            <a:r>
              <a:rPr lang="es-AR" sz="2000" b="1" i="0" u="none" strike="noStrike" cap="none" dirty="0">
                <a:solidFill>
                  <a:schemeClr val="lt1"/>
                </a:solidFill>
                <a:latin typeface="Roboto"/>
                <a:ea typeface="Roboto"/>
                <a:cs typeface="Roboto"/>
                <a:sym typeface="Roboto"/>
              </a:rPr>
              <a:t>campos</a:t>
            </a:r>
            <a:r>
              <a:rPr lang="es-AR" sz="2000" b="0" i="0" u="none" strike="noStrike" cap="none" dirty="0">
                <a:solidFill>
                  <a:schemeClr val="lt1"/>
                </a:solidFill>
                <a:latin typeface="Roboto"/>
                <a:ea typeface="Roboto"/>
                <a:cs typeface="Roboto"/>
                <a:sym typeface="Roboto"/>
              </a:rPr>
              <a:t>) y filas (</a:t>
            </a:r>
            <a:r>
              <a:rPr lang="es-AR" sz="2000" b="1" i="0" u="none" strike="noStrike" cap="none" dirty="0">
                <a:solidFill>
                  <a:schemeClr val="lt1"/>
                </a:solidFill>
                <a:latin typeface="Roboto"/>
                <a:ea typeface="Roboto"/>
                <a:cs typeface="Roboto"/>
                <a:sym typeface="Roboto"/>
              </a:rPr>
              <a:t>registros</a:t>
            </a:r>
            <a:r>
              <a:rPr lang="es-AR" sz="2000" b="0" i="0" u="none" strike="noStrike" cap="none" dirty="0">
                <a:solidFill>
                  <a:schemeClr val="lt1"/>
                </a:solidFill>
                <a:latin typeface="Roboto"/>
                <a:ea typeface="Roboto"/>
                <a:cs typeface="Roboto"/>
                <a:sym typeface="Roboto"/>
              </a:rPr>
              <a:t>). </a:t>
            </a:r>
            <a:endParaRPr sz="1400" b="0" i="0" u="none" strike="noStrike" cap="none" dirty="0">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0" i="0" u="none" strike="noStrike" cap="none" dirty="0">
                <a:solidFill>
                  <a:schemeClr val="lt1"/>
                </a:solidFill>
                <a:latin typeface="Roboto"/>
                <a:ea typeface="Roboto"/>
                <a:cs typeface="Roboto"/>
                <a:sym typeface="Roboto"/>
              </a:rPr>
              <a:t>Las tablas son los elementos que contienen la información de una base de datos y están relacionadas entre sí.</a:t>
            </a:r>
            <a:endParaRPr sz="1400" b="0" i="0" u="none" strike="noStrike" cap="none" dirty="0">
              <a:solidFill>
                <a:srgbClr val="000000"/>
              </a:solidFill>
              <a:latin typeface="Arial"/>
              <a:ea typeface="Arial"/>
              <a:cs typeface="Arial"/>
              <a:sym typeface="Arial"/>
            </a:endParaRPr>
          </a:p>
        </p:txBody>
      </p:sp>
      <p:pic>
        <p:nvPicPr>
          <p:cNvPr id="226" name="Google Shape;226;p12"/>
          <p:cNvPicPr preferRelativeResize="0"/>
          <p:nvPr/>
        </p:nvPicPr>
        <p:blipFill rotWithShape="1">
          <a:blip r:embed="rId4">
            <a:alphaModFix/>
          </a:blip>
          <a:srcRect/>
          <a:stretch/>
        </p:blipFill>
        <p:spPr>
          <a:xfrm>
            <a:off x="6286015" y="1360199"/>
            <a:ext cx="2324953" cy="2030701"/>
          </a:xfrm>
          <a:prstGeom prst="rect">
            <a:avLst/>
          </a:prstGeom>
          <a:noFill/>
          <a:ln>
            <a:noFill/>
          </a:ln>
        </p:spPr>
      </p:pic>
      <p:sp>
        <p:nvSpPr>
          <p:cNvPr id="227" name="Google Shape;227;p12"/>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TABLAS</a:t>
            </a:r>
            <a:endParaRPr sz="4000" b="0" i="0" u="none" strike="noStrike" cap="none">
              <a:solidFill>
                <a:schemeClr val="lt1"/>
              </a:solidFill>
              <a:latin typeface="Arial"/>
              <a:ea typeface="Arial"/>
              <a:cs typeface="Arial"/>
              <a:sym typeface="Arial"/>
            </a:endParaRPr>
          </a:p>
        </p:txBody>
      </p:sp>
      <p:pic>
        <p:nvPicPr>
          <p:cNvPr id="228" name="Google Shape;228;p12" descr="Blog | Coderhouse"/>
          <p:cNvPicPr preferRelativeResize="0"/>
          <p:nvPr/>
        </p:nvPicPr>
        <p:blipFill rotWithShape="1">
          <a:blip r:embed="rId5">
            <a:alphaModFix/>
          </a:blip>
          <a:srcRect/>
          <a:stretch/>
        </p:blipFill>
        <p:spPr>
          <a:xfrm>
            <a:off x="7598964" y="4569570"/>
            <a:ext cx="1221186" cy="260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1"/>
        <p:cNvGrpSpPr/>
        <p:nvPr/>
      </p:nvGrpSpPr>
      <p:grpSpPr>
        <a:xfrm>
          <a:off x="0" y="0"/>
          <a:ext cx="0" cy="0"/>
          <a:chOff x="0" y="0"/>
          <a:chExt cx="0" cy="0"/>
        </a:xfrm>
      </p:grpSpPr>
      <p:sp>
        <p:nvSpPr>
          <p:cNvPr id="282" name="Google Shape;282;p18"/>
          <p:cNvSpPr txBox="1"/>
          <p:nvPr/>
        </p:nvSpPr>
        <p:spPr>
          <a:xfrm>
            <a:off x="621975" y="707368"/>
            <a:ext cx="7709647" cy="1430379"/>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2200"/>
              <a:buFont typeface="Arial"/>
              <a:buNone/>
            </a:pPr>
            <a:r>
              <a:rPr lang="es-AR" sz="1800" b="0" i="0" u="none" strike="noStrike" cap="none">
                <a:solidFill>
                  <a:schemeClr val="lt1"/>
                </a:solidFill>
                <a:latin typeface="Roboto"/>
                <a:ea typeface="Roboto"/>
                <a:cs typeface="Roboto"/>
                <a:sym typeface="Roboto"/>
              </a:rPr>
              <a:t>También llamada </a:t>
            </a:r>
            <a:r>
              <a:rPr lang="es-AR" sz="1800" b="1" i="0" u="none" strike="noStrike" cap="none">
                <a:solidFill>
                  <a:schemeClr val="lt1"/>
                </a:solidFill>
                <a:latin typeface="Roboto"/>
                <a:ea typeface="Roboto"/>
                <a:cs typeface="Roboto"/>
                <a:sym typeface="Roboto"/>
              </a:rPr>
              <a:t>entidad</a:t>
            </a:r>
            <a:r>
              <a:rPr lang="es-AR" sz="1800" b="0" i="0" u="none" strike="noStrike" cap="none">
                <a:solidFill>
                  <a:schemeClr val="lt1"/>
                </a:solidFill>
                <a:latin typeface="Roboto"/>
                <a:ea typeface="Roboto"/>
                <a:cs typeface="Roboto"/>
                <a:sym typeface="Roboto"/>
              </a:rPr>
              <a:t>, es una </a:t>
            </a:r>
            <a:r>
              <a:rPr lang="es-AR" sz="1800" b="1" i="0" u="none" strike="noStrike" cap="none">
                <a:solidFill>
                  <a:schemeClr val="lt1"/>
                </a:solidFill>
                <a:latin typeface="Roboto"/>
                <a:ea typeface="Roboto"/>
                <a:cs typeface="Roboto"/>
                <a:sym typeface="Roboto"/>
              </a:rPr>
              <a:t>estructura compuesta por tuplas </a:t>
            </a:r>
            <a:r>
              <a:rPr lang="es-AR" sz="1800" b="0" i="0" u="none" strike="noStrike" cap="none">
                <a:solidFill>
                  <a:schemeClr val="lt1"/>
                </a:solidFill>
                <a:latin typeface="Roboto"/>
                <a:ea typeface="Roboto"/>
                <a:cs typeface="Roboto"/>
                <a:sym typeface="Roboto"/>
              </a:rPr>
              <a:t>(filas o registros) y </a:t>
            </a:r>
            <a:r>
              <a:rPr lang="es-AR" sz="1800" b="1" i="0" u="none" strike="noStrike" cap="none">
                <a:solidFill>
                  <a:schemeClr val="lt1"/>
                </a:solidFill>
                <a:latin typeface="Roboto"/>
                <a:ea typeface="Roboto"/>
                <a:cs typeface="Roboto"/>
                <a:sym typeface="Roboto"/>
              </a:rPr>
              <a:t>atributos </a:t>
            </a:r>
            <a:r>
              <a:rPr lang="es-AR" sz="1800" b="0" i="0" u="none" strike="noStrike" cap="none">
                <a:solidFill>
                  <a:schemeClr val="lt1"/>
                </a:solidFill>
                <a:latin typeface="Roboto"/>
                <a:ea typeface="Roboto"/>
                <a:cs typeface="Roboto"/>
                <a:sym typeface="Roboto"/>
              </a:rPr>
              <a:t>(campos, columnas o atributos).</a:t>
            </a:r>
            <a:endParaRPr sz="1800" b="0" i="0" u="none" strike="noStrike" cap="none">
              <a:solidFill>
                <a:schemeClr val="lt1"/>
              </a:solidFill>
              <a:latin typeface="Roboto"/>
              <a:ea typeface="Roboto"/>
              <a:cs typeface="Roboto"/>
              <a:sym typeface="Roboto"/>
            </a:endParaRPr>
          </a:p>
        </p:txBody>
      </p:sp>
      <p:sp>
        <p:nvSpPr>
          <p:cNvPr id="283" name="Google Shape;283;p18"/>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TABLAS</a:t>
            </a:r>
            <a:endParaRPr sz="4000" b="0" i="0" u="none" strike="noStrike" cap="none" dirty="0">
              <a:solidFill>
                <a:schemeClr val="lt1"/>
              </a:solidFill>
              <a:latin typeface="Arial"/>
              <a:ea typeface="Arial"/>
              <a:cs typeface="Arial"/>
              <a:sym typeface="Arial"/>
            </a:endParaRPr>
          </a:p>
        </p:txBody>
      </p:sp>
      <p:pic>
        <p:nvPicPr>
          <p:cNvPr id="284" name="Google Shape;284;p18"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pic>
        <p:nvPicPr>
          <p:cNvPr id="285" name="Google Shape;285;p18" descr="Resumen de la estructura de la tabla de SQL Server"/>
          <p:cNvPicPr preferRelativeResize="0"/>
          <p:nvPr/>
        </p:nvPicPr>
        <p:blipFill rotWithShape="1">
          <a:blip r:embed="rId5">
            <a:alphaModFix/>
          </a:blip>
          <a:srcRect/>
          <a:stretch/>
        </p:blipFill>
        <p:spPr>
          <a:xfrm>
            <a:off x="723900" y="2657751"/>
            <a:ext cx="5387340" cy="1516380"/>
          </a:xfrm>
          <a:prstGeom prst="rect">
            <a:avLst/>
          </a:prstGeom>
          <a:noFill/>
          <a:ln w="9525" cap="flat" cmpd="sng">
            <a:solidFill>
              <a:schemeClr val="lt1"/>
            </a:solidFill>
            <a:prstDash val="solid"/>
            <a:round/>
            <a:headEnd type="none" w="sm" len="sm"/>
            <a:tailEnd type="none" w="sm" len="sm"/>
          </a:ln>
        </p:spPr>
      </p:pic>
      <p:sp>
        <p:nvSpPr>
          <p:cNvPr id="286" name="Google Shape;286;p18"/>
          <p:cNvSpPr txBox="1"/>
          <p:nvPr/>
        </p:nvSpPr>
        <p:spPr>
          <a:xfrm>
            <a:off x="723900" y="1725561"/>
            <a:ext cx="5387340" cy="710100"/>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2200"/>
              <a:buFont typeface="Arial"/>
              <a:buNone/>
            </a:pPr>
            <a:r>
              <a:rPr lang="es-AR" sz="1800" b="1" i="0" u="none" strike="noStrike" cap="none">
                <a:solidFill>
                  <a:schemeClr val="lt1"/>
                </a:solidFill>
                <a:latin typeface="Roboto"/>
                <a:ea typeface="Roboto"/>
                <a:cs typeface="Roboto"/>
                <a:sym typeface="Roboto"/>
              </a:rPr>
              <a:t>CAMPOS</a:t>
            </a:r>
            <a:endParaRPr sz="1800" b="1" i="0" u="none" strike="noStrike" cap="none">
              <a:solidFill>
                <a:schemeClr val="lt1"/>
              </a:solidFill>
              <a:latin typeface="Roboto"/>
              <a:ea typeface="Roboto"/>
              <a:cs typeface="Roboto"/>
              <a:sym typeface="Roboto"/>
            </a:endParaRPr>
          </a:p>
        </p:txBody>
      </p:sp>
      <p:sp>
        <p:nvSpPr>
          <p:cNvPr id="287" name="Google Shape;287;p18"/>
          <p:cNvSpPr txBox="1"/>
          <p:nvPr/>
        </p:nvSpPr>
        <p:spPr>
          <a:xfrm>
            <a:off x="7043785" y="2836128"/>
            <a:ext cx="1917335" cy="1035061"/>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2200"/>
              <a:buFont typeface="Arial"/>
              <a:buNone/>
            </a:pPr>
            <a:r>
              <a:rPr lang="es-AR" sz="1800" b="1" i="0" u="none" strike="noStrike" cap="none">
                <a:solidFill>
                  <a:schemeClr val="lt1"/>
                </a:solidFill>
                <a:latin typeface="Roboto"/>
                <a:ea typeface="Roboto"/>
                <a:cs typeface="Roboto"/>
                <a:sym typeface="Roboto"/>
              </a:rPr>
              <a:t>REGISTROS</a:t>
            </a:r>
            <a:endParaRPr sz="1800" b="1" i="0" u="none" strike="noStrike" cap="none">
              <a:solidFill>
                <a:schemeClr val="lt1"/>
              </a:solidFill>
              <a:latin typeface="Roboto"/>
              <a:ea typeface="Roboto"/>
              <a:cs typeface="Roboto"/>
              <a:sym typeface="Roboto"/>
            </a:endParaRPr>
          </a:p>
        </p:txBody>
      </p:sp>
      <p:cxnSp>
        <p:nvCxnSpPr>
          <p:cNvPr id="288" name="Google Shape;288;p18"/>
          <p:cNvCxnSpPr/>
          <p:nvPr/>
        </p:nvCxnSpPr>
        <p:spPr>
          <a:xfrm flipH="1">
            <a:off x="1424940" y="2263140"/>
            <a:ext cx="1996440" cy="308610"/>
          </a:xfrm>
          <a:prstGeom prst="straightConnector1">
            <a:avLst/>
          </a:prstGeom>
          <a:noFill/>
          <a:ln w="9525" cap="flat" cmpd="sng">
            <a:solidFill>
              <a:schemeClr val="lt1"/>
            </a:solidFill>
            <a:prstDash val="solid"/>
            <a:round/>
            <a:headEnd type="none" w="sm" len="sm"/>
            <a:tailEnd type="triangle" w="med" len="med"/>
          </a:ln>
        </p:spPr>
      </p:cxnSp>
      <p:cxnSp>
        <p:nvCxnSpPr>
          <p:cNvPr id="289" name="Google Shape;289;p18"/>
          <p:cNvCxnSpPr/>
          <p:nvPr/>
        </p:nvCxnSpPr>
        <p:spPr>
          <a:xfrm flipH="1">
            <a:off x="2125980" y="2263140"/>
            <a:ext cx="1291590" cy="308610"/>
          </a:xfrm>
          <a:prstGeom prst="straightConnector1">
            <a:avLst/>
          </a:prstGeom>
          <a:noFill/>
          <a:ln w="9525" cap="flat" cmpd="sng">
            <a:solidFill>
              <a:schemeClr val="lt1"/>
            </a:solidFill>
            <a:prstDash val="solid"/>
            <a:round/>
            <a:headEnd type="none" w="sm" len="sm"/>
            <a:tailEnd type="triangle" w="med" len="med"/>
          </a:ln>
        </p:spPr>
      </p:cxnSp>
      <p:cxnSp>
        <p:nvCxnSpPr>
          <p:cNvPr id="290" name="Google Shape;290;p18"/>
          <p:cNvCxnSpPr/>
          <p:nvPr/>
        </p:nvCxnSpPr>
        <p:spPr>
          <a:xfrm flipH="1">
            <a:off x="2667000" y="2263140"/>
            <a:ext cx="750570" cy="308610"/>
          </a:xfrm>
          <a:prstGeom prst="straightConnector1">
            <a:avLst/>
          </a:prstGeom>
          <a:noFill/>
          <a:ln w="9525" cap="flat" cmpd="sng">
            <a:solidFill>
              <a:schemeClr val="lt1"/>
            </a:solidFill>
            <a:prstDash val="solid"/>
            <a:round/>
            <a:headEnd type="none" w="sm" len="sm"/>
            <a:tailEnd type="triangle" w="med" len="med"/>
          </a:ln>
        </p:spPr>
      </p:cxnSp>
      <p:cxnSp>
        <p:nvCxnSpPr>
          <p:cNvPr id="291" name="Google Shape;291;p18"/>
          <p:cNvCxnSpPr/>
          <p:nvPr/>
        </p:nvCxnSpPr>
        <p:spPr>
          <a:xfrm flipH="1">
            <a:off x="3368040" y="2263140"/>
            <a:ext cx="49530" cy="308610"/>
          </a:xfrm>
          <a:prstGeom prst="straightConnector1">
            <a:avLst/>
          </a:prstGeom>
          <a:noFill/>
          <a:ln w="9525" cap="flat" cmpd="sng">
            <a:solidFill>
              <a:schemeClr val="lt1"/>
            </a:solidFill>
            <a:prstDash val="solid"/>
            <a:round/>
            <a:headEnd type="none" w="sm" len="sm"/>
            <a:tailEnd type="triangle" w="med" len="med"/>
          </a:ln>
        </p:spPr>
      </p:cxnSp>
      <p:cxnSp>
        <p:nvCxnSpPr>
          <p:cNvPr id="292" name="Google Shape;292;p18"/>
          <p:cNvCxnSpPr/>
          <p:nvPr/>
        </p:nvCxnSpPr>
        <p:spPr>
          <a:xfrm>
            <a:off x="3417570" y="2263140"/>
            <a:ext cx="651510" cy="308610"/>
          </a:xfrm>
          <a:prstGeom prst="straightConnector1">
            <a:avLst/>
          </a:prstGeom>
          <a:noFill/>
          <a:ln w="9525" cap="flat" cmpd="sng">
            <a:solidFill>
              <a:schemeClr val="lt1"/>
            </a:solidFill>
            <a:prstDash val="solid"/>
            <a:round/>
            <a:headEnd type="none" w="sm" len="sm"/>
            <a:tailEnd type="triangle" w="med" len="med"/>
          </a:ln>
        </p:spPr>
      </p:cxnSp>
      <p:cxnSp>
        <p:nvCxnSpPr>
          <p:cNvPr id="293" name="Google Shape;293;p18"/>
          <p:cNvCxnSpPr/>
          <p:nvPr/>
        </p:nvCxnSpPr>
        <p:spPr>
          <a:xfrm>
            <a:off x="3399473" y="2263140"/>
            <a:ext cx="1277302" cy="308610"/>
          </a:xfrm>
          <a:prstGeom prst="straightConnector1">
            <a:avLst/>
          </a:prstGeom>
          <a:noFill/>
          <a:ln w="9525" cap="flat" cmpd="sng">
            <a:solidFill>
              <a:schemeClr val="lt1"/>
            </a:solidFill>
            <a:prstDash val="solid"/>
            <a:round/>
            <a:headEnd type="none" w="sm" len="sm"/>
            <a:tailEnd type="triangle" w="med" len="med"/>
          </a:ln>
        </p:spPr>
      </p:cxnSp>
      <p:cxnSp>
        <p:nvCxnSpPr>
          <p:cNvPr id="294" name="Google Shape;294;p18"/>
          <p:cNvCxnSpPr/>
          <p:nvPr/>
        </p:nvCxnSpPr>
        <p:spPr>
          <a:xfrm>
            <a:off x="3417570" y="2263140"/>
            <a:ext cx="1748842" cy="308610"/>
          </a:xfrm>
          <a:prstGeom prst="straightConnector1">
            <a:avLst/>
          </a:prstGeom>
          <a:noFill/>
          <a:ln w="9525" cap="flat" cmpd="sng">
            <a:solidFill>
              <a:schemeClr val="lt1"/>
            </a:solidFill>
            <a:prstDash val="solid"/>
            <a:round/>
            <a:headEnd type="none" w="sm" len="sm"/>
            <a:tailEnd type="triangle" w="med" len="med"/>
          </a:ln>
        </p:spPr>
      </p:cxnSp>
      <p:cxnSp>
        <p:nvCxnSpPr>
          <p:cNvPr id="295" name="Google Shape;295;p18"/>
          <p:cNvCxnSpPr/>
          <p:nvPr/>
        </p:nvCxnSpPr>
        <p:spPr>
          <a:xfrm>
            <a:off x="3412800" y="2263140"/>
            <a:ext cx="2409892" cy="308610"/>
          </a:xfrm>
          <a:prstGeom prst="straightConnector1">
            <a:avLst/>
          </a:prstGeom>
          <a:noFill/>
          <a:ln w="9525" cap="flat" cmpd="sng">
            <a:solidFill>
              <a:schemeClr val="lt1"/>
            </a:solidFill>
            <a:prstDash val="solid"/>
            <a:round/>
            <a:headEnd type="none" w="sm" len="sm"/>
            <a:tailEnd type="triangle" w="med" len="med"/>
          </a:ln>
        </p:spPr>
      </p:cxnSp>
      <p:cxnSp>
        <p:nvCxnSpPr>
          <p:cNvPr id="296" name="Google Shape;296;p18"/>
          <p:cNvCxnSpPr>
            <a:stCxn id="287" idx="1"/>
          </p:cNvCxnSpPr>
          <p:nvPr/>
        </p:nvCxnSpPr>
        <p:spPr>
          <a:xfrm rot="10800000">
            <a:off x="6225685" y="3353659"/>
            <a:ext cx="818100" cy="0"/>
          </a:xfrm>
          <a:prstGeom prst="straightConnector1">
            <a:avLst/>
          </a:prstGeom>
          <a:noFill/>
          <a:ln w="9525" cap="flat" cmpd="sng">
            <a:solidFill>
              <a:schemeClr val="lt1"/>
            </a:solidFill>
            <a:prstDash val="solid"/>
            <a:round/>
            <a:headEnd type="none" w="sm" len="sm"/>
            <a:tailEnd type="triangle" w="med" len="med"/>
          </a:ln>
        </p:spPr>
      </p:cxnSp>
      <p:cxnSp>
        <p:nvCxnSpPr>
          <p:cNvPr id="297" name="Google Shape;297;p18"/>
          <p:cNvCxnSpPr>
            <a:stCxn id="287" idx="1"/>
          </p:cNvCxnSpPr>
          <p:nvPr/>
        </p:nvCxnSpPr>
        <p:spPr>
          <a:xfrm flipH="1">
            <a:off x="6225685" y="3353659"/>
            <a:ext cx="818100" cy="159900"/>
          </a:xfrm>
          <a:prstGeom prst="straightConnector1">
            <a:avLst/>
          </a:prstGeom>
          <a:noFill/>
          <a:ln w="9525" cap="flat" cmpd="sng">
            <a:solidFill>
              <a:schemeClr val="lt1"/>
            </a:solidFill>
            <a:prstDash val="solid"/>
            <a:round/>
            <a:headEnd type="none" w="sm" len="sm"/>
            <a:tailEnd type="triangle" w="med" len="med"/>
          </a:ln>
        </p:spPr>
      </p:cxnSp>
      <p:cxnSp>
        <p:nvCxnSpPr>
          <p:cNvPr id="298" name="Google Shape;298;p18"/>
          <p:cNvCxnSpPr>
            <a:stCxn id="287" idx="1"/>
          </p:cNvCxnSpPr>
          <p:nvPr/>
        </p:nvCxnSpPr>
        <p:spPr>
          <a:xfrm flipH="1">
            <a:off x="6225685" y="3353659"/>
            <a:ext cx="818100" cy="313200"/>
          </a:xfrm>
          <a:prstGeom prst="straightConnector1">
            <a:avLst/>
          </a:prstGeom>
          <a:noFill/>
          <a:ln w="9525" cap="flat" cmpd="sng">
            <a:solidFill>
              <a:schemeClr val="lt1"/>
            </a:solidFill>
            <a:prstDash val="solid"/>
            <a:round/>
            <a:headEnd type="none" w="sm" len="sm"/>
            <a:tailEnd type="triangle" w="med" len="med"/>
          </a:ln>
        </p:spPr>
      </p:cxnSp>
      <p:cxnSp>
        <p:nvCxnSpPr>
          <p:cNvPr id="299" name="Google Shape;299;p18"/>
          <p:cNvCxnSpPr>
            <a:stCxn id="287" idx="1"/>
          </p:cNvCxnSpPr>
          <p:nvPr/>
        </p:nvCxnSpPr>
        <p:spPr>
          <a:xfrm flipH="1">
            <a:off x="6225685" y="3353659"/>
            <a:ext cx="818100" cy="466500"/>
          </a:xfrm>
          <a:prstGeom prst="straightConnector1">
            <a:avLst/>
          </a:prstGeom>
          <a:noFill/>
          <a:ln w="9525" cap="flat" cmpd="sng">
            <a:solidFill>
              <a:schemeClr val="lt1"/>
            </a:solidFill>
            <a:prstDash val="solid"/>
            <a:round/>
            <a:headEnd type="none" w="sm" len="sm"/>
            <a:tailEnd type="triangle" w="med" len="med"/>
          </a:ln>
        </p:spPr>
      </p:cxnSp>
      <p:cxnSp>
        <p:nvCxnSpPr>
          <p:cNvPr id="300" name="Google Shape;300;p18"/>
          <p:cNvCxnSpPr>
            <a:stCxn id="287" idx="1"/>
          </p:cNvCxnSpPr>
          <p:nvPr/>
        </p:nvCxnSpPr>
        <p:spPr>
          <a:xfrm flipH="1">
            <a:off x="6225685" y="3353659"/>
            <a:ext cx="818100" cy="612000"/>
          </a:xfrm>
          <a:prstGeom prst="straightConnector1">
            <a:avLst/>
          </a:prstGeom>
          <a:noFill/>
          <a:ln w="9525" cap="flat" cmpd="sng">
            <a:solidFill>
              <a:schemeClr val="lt1"/>
            </a:solidFill>
            <a:prstDash val="solid"/>
            <a:round/>
            <a:headEnd type="none" w="sm" len="sm"/>
            <a:tailEnd type="triangle" w="med" len="med"/>
          </a:ln>
        </p:spPr>
      </p:cxnSp>
      <p:cxnSp>
        <p:nvCxnSpPr>
          <p:cNvPr id="301" name="Google Shape;301;p18"/>
          <p:cNvCxnSpPr>
            <a:stCxn id="287" idx="1"/>
          </p:cNvCxnSpPr>
          <p:nvPr/>
        </p:nvCxnSpPr>
        <p:spPr>
          <a:xfrm flipH="1">
            <a:off x="6225685" y="3353659"/>
            <a:ext cx="818100" cy="757500"/>
          </a:xfrm>
          <a:prstGeom prst="straightConnector1">
            <a:avLst/>
          </a:prstGeom>
          <a:noFill/>
          <a:ln w="9525" cap="flat" cmpd="sng">
            <a:solidFill>
              <a:schemeClr val="lt1"/>
            </a:solidFill>
            <a:prstDash val="solid"/>
            <a:round/>
            <a:headEnd type="none" w="sm" len="sm"/>
            <a:tailEnd type="triangle" w="med" len="med"/>
          </a:ln>
        </p:spPr>
      </p:cxnSp>
      <p:cxnSp>
        <p:nvCxnSpPr>
          <p:cNvPr id="302" name="Google Shape;302;p18"/>
          <p:cNvCxnSpPr>
            <a:stCxn id="287" idx="1"/>
          </p:cNvCxnSpPr>
          <p:nvPr/>
        </p:nvCxnSpPr>
        <p:spPr>
          <a:xfrm rot="10800000">
            <a:off x="6225685" y="3216559"/>
            <a:ext cx="818100" cy="137100"/>
          </a:xfrm>
          <a:prstGeom prst="straightConnector1">
            <a:avLst/>
          </a:prstGeom>
          <a:noFill/>
          <a:ln w="9525" cap="flat" cmpd="sng">
            <a:solidFill>
              <a:schemeClr val="lt1"/>
            </a:solidFill>
            <a:prstDash val="solid"/>
            <a:round/>
            <a:headEnd type="none" w="sm" len="sm"/>
            <a:tailEnd type="triangle" w="med" len="med"/>
          </a:ln>
        </p:spPr>
      </p:cxnSp>
      <p:cxnSp>
        <p:nvCxnSpPr>
          <p:cNvPr id="303" name="Google Shape;303;p18"/>
          <p:cNvCxnSpPr>
            <a:stCxn id="287" idx="1"/>
          </p:cNvCxnSpPr>
          <p:nvPr/>
        </p:nvCxnSpPr>
        <p:spPr>
          <a:xfrm rot="10800000">
            <a:off x="6225685" y="3072259"/>
            <a:ext cx="818100" cy="281400"/>
          </a:xfrm>
          <a:prstGeom prst="straightConnector1">
            <a:avLst/>
          </a:prstGeom>
          <a:noFill/>
          <a:ln w="9525" cap="flat" cmpd="sng">
            <a:solidFill>
              <a:schemeClr val="lt1"/>
            </a:solidFill>
            <a:prstDash val="solid"/>
            <a:round/>
            <a:headEnd type="none" w="sm" len="sm"/>
            <a:tailEnd type="triangle" w="med" len="med"/>
          </a:ln>
        </p:spPr>
      </p:cxnSp>
      <p:cxnSp>
        <p:nvCxnSpPr>
          <p:cNvPr id="304" name="Google Shape;304;p18"/>
          <p:cNvCxnSpPr>
            <a:stCxn id="287" idx="1"/>
          </p:cNvCxnSpPr>
          <p:nvPr/>
        </p:nvCxnSpPr>
        <p:spPr>
          <a:xfrm rot="10800000">
            <a:off x="6225685" y="2935459"/>
            <a:ext cx="818100" cy="418200"/>
          </a:xfrm>
          <a:prstGeom prst="straightConnector1">
            <a:avLst/>
          </a:prstGeom>
          <a:noFill/>
          <a:ln w="9525" cap="flat" cmpd="sng">
            <a:solidFill>
              <a:schemeClr val="lt1"/>
            </a:solidFill>
            <a:prstDash val="solid"/>
            <a:round/>
            <a:headEnd type="none" w="sm" len="sm"/>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14"/>
        <p:cNvGrpSpPr/>
        <p:nvPr/>
      </p:nvGrpSpPr>
      <p:grpSpPr>
        <a:xfrm>
          <a:off x="0" y="0"/>
          <a:ext cx="0" cy="0"/>
          <a:chOff x="0" y="0"/>
          <a:chExt cx="0" cy="0"/>
        </a:xfrm>
      </p:grpSpPr>
      <p:sp>
        <p:nvSpPr>
          <p:cNvPr id="315" name="Google Shape;315;p20"/>
          <p:cNvSpPr/>
          <p:nvPr/>
        </p:nvSpPr>
        <p:spPr>
          <a:xfrm>
            <a:off x="4821382" y="1912381"/>
            <a:ext cx="3927607" cy="1935719"/>
          </a:xfrm>
          <a:prstGeom prst="roundRect">
            <a:avLst>
              <a:gd name="adj" fmla="val 10673"/>
            </a:avLst>
          </a:pr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316" name="Google Shape;316;p20"/>
          <p:cNvSpPr txBox="1"/>
          <p:nvPr/>
        </p:nvSpPr>
        <p:spPr>
          <a:xfrm>
            <a:off x="644393" y="1154440"/>
            <a:ext cx="3927607" cy="3051300"/>
          </a:xfrm>
          <a:prstGeom prst="rect">
            <a:avLst/>
          </a:prstGeom>
          <a:noFill/>
          <a:ln>
            <a:noFill/>
          </a:ln>
        </p:spPr>
        <p:txBody>
          <a:bodyPr spcFirstLastPara="1" wrap="square" lIns="91425" tIns="91425" rIns="91425" bIns="91425" anchor="t"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0" i="0" u="none" strike="noStrike" cap="none" dirty="0">
                <a:solidFill>
                  <a:schemeClr val="lt1"/>
                </a:solidFill>
                <a:latin typeface="Roboto"/>
                <a:ea typeface="Roboto"/>
                <a:cs typeface="Roboto"/>
                <a:sym typeface="Roboto"/>
              </a:rPr>
              <a:t>La tabla es el objeto </a:t>
            </a:r>
            <a:r>
              <a:rPr lang="es-AR" sz="1800" b="1" i="0" u="none" strike="noStrike" cap="none" dirty="0">
                <a:solidFill>
                  <a:schemeClr val="lt1"/>
                </a:solidFill>
                <a:latin typeface="Roboto"/>
                <a:ea typeface="Roboto"/>
                <a:cs typeface="Roboto"/>
                <a:sym typeface="Roboto"/>
              </a:rPr>
              <a:t>contenedor </a:t>
            </a:r>
            <a:r>
              <a:rPr lang="es-AR" sz="1800" b="0" i="0" u="none" strike="noStrike" cap="none" dirty="0">
                <a:solidFill>
                  <a:schemeClr val="lt1"/>
                </a:solidFill>
                <a:latin typeface="Roboto"/>
                <a:ea typeface="Roboto"/>
                <a:cs typeface="Roboto"/>
                <a:sym typeface="Roboto"/>
              </a:rPr>
              <a:t>que permite </a:t>
            </a:r>
            <a:r>
              <a:rPr lang="es-AR" sz="1800" b="1" i="0" u="none" strike="noStrike" cap="none" dirty="0">
                <a:solidFill>
                  <a:schemeClr val="lt1"/>
                </a:solidFill>
                <a:latin typeface="Roboto"/>
                <a:ea typeface="Roboto"/>
                <a:cs typeface="Roboto"/>
                <a:sym typeface="Roboto"/>
              </a:rPr>
              <a:t>almacenar los datos</a:t>
            </a:r>
            <a:r>
              <a:rPr lang="es-AR" sz="1800" b="0" i="0" u="none" strike="noStrike" cap="none" dirty="0">
                <a:solidFill>
                  <a:schemeClr val="lt1"/>
                </a:solidFill>
                <a:latin typeface="Roboto"/>
                <a:ea typeface="Roboto"/>
                <a:cs typeface="Roboto"/>
                <a:sym typeface="Roboto"/>
              </a:rPr>
              <a:t>. Su </a:t>
            </a:r>
            <a:r>
              <a:rPr lang="es-AR" sz="1800" b="1" i="0" u="none" strike="noStrike" cap="none" dirty="0">
                <a:solidFill>
                  <a:schemeClr val="lt1"/>
                </a:solidFill>
                <a:latin typeface="Roboto"/>
                <a:ea typeface="Roboto"/>
                <a:cs typeface="Roboto"/>
                <a:sym typeface="Roboto"/>
              </a:rPr>
              <a:t>estructura </a:t>
            </a:r>
            <a:r>
              <a:rPr lang="es-AR" sz="1800" b="0" i="0" u="none" strike="noStrike" cap="none" dirty="0">
                <a:solidFill>
                  <a:schemeClr val="lt1"/>
                </a:solidFill>
                <a:latin typeface="Roboto"/>
                <a:ea typeface="Roboto"/>
                <a:cs typeface="Roboto"/>
                <a:sym typeface="Roboto"/>
              </a:rPr>
              <a:t>es de </a:t>
            </a:r>
            <a:r>
              <a:rPr lang="es-AR" sz="1800" b="1" i="0" u="none" strike="noStrike" cap="none" dirty="0">
                <a:solidFill>
                  <a:schemeClr val="lt1"/>
                </a:solidFill>
                <a:latin typeface="Roboto"/>
                <a:ea typeface="Roboto"/>
                <a:cs typeface="Roboto"/>
                <a:sym typeface="Roboto"/>
              </a:rPr>
              <a:t>columnas y filas</a:t>
            </a:r>
            <a:r>
              <a:rPr lang="es-AR" sz="1800" dirty="0">
                <a:solidFill>
                  <a:schemeClr val="lt1"/>
                </a:solidFill>
                <a:latin typeface="Roboto"/>
                <a:ea typeface="Roboto"/>
                <a:cs typeface="Roboto"/>
                <a:sym typeface="Roboto"/>
              </a:rPr>
              <a:t>. </a:t>
            </a:r>
            <a:r>
              <a:rPr lang="es-AR" sz="1800" b="0" i="0" u="none" strike="noStrike" cap="none" dirty="0">
                <a:solidFill>
                  <a:schemeClr val="lt1"/>
                </a:solidFill>
                <a:latin typeface="Roboto"/>
                <a:ea typeface="Roboto"/>
                <a:cs typeface="Roboto"/>
                <a:sym typeface="Roboto"/>
              </a:rPr>
              <a:t>Cada fila representa un registro, mientras que cada columna es un campo de ese registro. Al momento de definir la tabla, debemos </a:t>
            </a:r>
            <a:r>
              <a:rPr lang="es-AR" sz="1800" b="1" i="0" u="none" strike="noStrike" cap="none" dirty="0">
                <a:solidFill>
                  <a:schemeClr val="lt1"/>
                </a:solidFill>
                <a:latin typeface="Roboto"/>
                <a:ea typeface="Roboto"/>
                <a:cs typeface="Roboto"/>
                <a:sym typeface="Roboto"/>
              </a:rPr>
              <a:t>declarar los tipos de datos </a:t>
            </a:r>
            <a:r>
              <a:rPr lang="es-AR" sz="1800" b="0" i="0" u="none" strike="noStrike" cap="none" dirty="0">
                <a:solidFill>
                  <a:schemeClr val="lt1"/>
                </a:solidFill>
                <a:latin typeface="Roboto"/>
                <a:ea typeface="Roboto"/>
                <a:cs typeface="Roboto"/>
                <a:sym typeface="Roboto"/>
              </a:rPr>
              <a:t>de cada columna.</a:t>
            </a:r>
            <a:endParaRPr sz="1800" b="0" i="0" u="none" strike="noStrike" cap="none" dirty="0">
              <a:solidFill>
                <a:schemeClr val="lt1"/>
              </a:solidFill>
              <a:latin typeface="Roboto"/>
              <a:ea typeface="Roboto"/>
              <a:cs typeface="Roboto"/>
              <a:sym typeface="Roboto"/>
            </a:endParaRPr>
          </a:p>
        </p:txBody>
      </p:sp>
      <p:sp>
        <p:nvSpPr>
          <p:cNvPr id="317" name="Google Shape;317;p20"/>
          <p:cNvSpPr txBox="1"/>
          <p:nvPr/>
        </p:nvSpPr>
        <p:spPr>
          <a:xfrm>
            <a:off x="5091545" y="1672753"/>
            <a:ext cx="3526675" cy="2311219"/>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600" b="1" i="0" u="none" strike="noStrike" cap="none">
                <a:solidFill>
                  <a:schemeClr val="dk1"/>
                </a:solidFill>
                <a:latin typeface="Courier New"/>
                <a:ea typeface="Courier New"/>
                <a:cs typeface="Courier New"/>
                <a:sym typeface="Courier New"/>
              </a:rPr>
              <a:t>CREATE TABLE Nombre_Tabla (</a:t>
            </a:r>
            <a:endParaRPr sz="1600" b="1" i="0" u="none" strike="noStrike" cap="none">
              <a:solidFill>
                <a:schemeClr val="dk1"/>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600" b="1" i="0" u="none" strike="noStrike" cap="none">
                <a:solidFill>
                  <a:schemeClr val="dk1"/>
                </a:solidFill>
                <a:latin typeface="Courier New"/>
                <a:ea typeface="Courier New"/>
                <a:cs typeface="Courier New"/>
                <a:sym typeface="Courier New"/>
              </a:rPr>
              <a:t>Campo_a varchar(200),</a:t>
            </a:r>
            <a:endParaRPr sz="1600" b="1" i="0" u="none" strike="noStrike" cap="none">
              <a:solidFill>
                <a:schemeClr val="dk1"/>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600" b="1" i="0" u="none" strike="noStrike" cap="none">
                <a:solidFill>
                  <a:schemeClr val="dk1"/>
                </a:solidFill>
                <a:latin typeface="Courier New"/>
                <a:ea typeface="Courier New"/>
                <a:cs typeface="Courier New"/>
                <a:sym typeface="Courier New"/>
              </a:rPr>
              <a:t>Campo_b int,</a:t>
            </a:r>
            <a:endParaRPr sz="1600" b="1" i="0" u="none" strike="noStrike" cap="none">
              <a:solidFill>
                <a:schemeClr val="dk1"/>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600" b="1" i="0" u="none" strike="noStrike" cap="none">
                <a:solidFill>
                  <a:schemeClr val="dk1"/>
                </a:solidFill>
                <a:latin typeface="Courier New"/>
                <a:ea typeface="Courier New"/>
                <a:cs typeface="Courier New"/>
                <a:sym typeface="Courier New"/>
              </a:rPr>
              <a:t>Campo_c varchar(255));</a:t>
            </a:r>
            <a:endParaRPr sz="1600" b="1" i="0" u="none" strike="noStrike" cap="none">
              <a:solidFill>
                <a:schemeClr val="dk1"/>
              </a:solidFill>
              <a:latin typeface="Courier New"/>
              <a:ea typeface="Courier New"/>
              <a:cs typeface="Courier New"/>
              <a:sym typeface="Courier New"/>
            </a:endParaRPr>
          </a:p>
        </p:txBody>
      </p:sp>
      <p:sp>
        <p:nvSpPr>
          <p:cNvPr id="318" name="Google Shape;318;p20"/>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TABLAS</a:t>
            </a:r>
            <a:endParaRPr sz="4000" b="0" i="0" u="none" strike="noStrike" cap="none">
              <a:solidFill>
                <a:schemeClr val="lt1"/>
              </a:solidFill>
              <a:latin typeface="Arial"/>
              <a:ea typeface="Arial"/>
              <a:cs typeface="Arial"/>
              <a:sym typeface="Arial"/>
            </a:endParaRPr>
          </a:p>
        </p:txBody>
      </p:sp>
      <p:sp>
        <p:nvSpPr>
          <p:cNvPr id="319" name="Google Shape;319;p20"/>
          <p:cNvSpPr/>
          <p:nvPr/>
        </p:nvSpPr>
        <p:spPr>
          <a:xfrm>
            <a:off x="5915285" y="1066088"/>
            <a:ext cx="1713902" cy="710100"/>
          </a:xfrm>
          <a:prstGeom prst="roundRect">
            <a:avLst>
              <a:gd name="adj" fmla="val 16667"/>
            </a:avLst>
          </a:prstGeom>
          <a:solidFill>
            <a:srgbClr val="FF3399"/>
          </a:solidFill>
          <a:ln w="9525" cap="flat" cmpd="sng">
            <a:solidFill>
              <a:schemeClr val="dk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320" name="Google Shape;320;p20"/>
          <p:cNvSpPr txBox="1"/>
          <p:nvPr/>
        </p:nvSpPr>
        <p:spPr>
          <a:xfrm>
            <a:off x="6069699" y="1159528"/>
            <a:ext cx="134844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AR" sz="2800" b="0" i="1" u="none" strike="noStrike" cap="none">
                <a:solidFill>
                  <a:schemeClr val="lt1"/>
                </a:solidFill>
                <a:latin typeface="Anton"/>
                <a:ea typeface="Anton"/>
                <a:cs typeface="Anton"/>
                <a:sym typeface="Anton"/>
              </a:rPr>
              <a:t>SINTAXIS</a:t>
            </a:r>
            <a:endParaRPr sz="2800" b="0" i="0" u="none" strike="noStrike" cap="none">
              <a:solidFill>
                <a:schemeClr val="lt1"/>
              </a:solidFill>
              <a:latin typeface="Arial"/>
              <a:ea typeface="Arial"/>
              <a:cs typeface="Arial"/>
              <a:sym typeface="Arial"/>
            </a:endParaRPr>
          </a:p>
        </p:txBody>
      </p:sp>
      <p:pic>
        <p:nvPicPr>
          <p:cNvPr id="321" name="Google Shape;321;p20"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2"/>
        <p:cNvGrpSpPr/>
        <p:nvPr/>
      </p:nvGrpSpPr>
      <p:grpSpPr>
        <a:xfrm>
          <a:off x="0" y="0"/>
          <a:ext cx="0" cy="0"/>
          <a:chOff x="0" y="0"/>
          <a:chExt cx="0" cy="0"/>
        </a:xfrm>
      </p:grpSpPr>
      <p:sp>
        <p:nvSpPr>
          <p:cNvPr id="233" name="Google Shape;233;p13"/>
          <p:cNvSpPr txBox="1"/>
          <p:nvPr/>
        </p:nvSpPr>
        <p:spPr>
          <a:xfrm>
            <a:off x="579445" y="1239625"/>
            <a:ext cx="3594405" cy="3420000"/>
          </a:xfrm>
          <a:prstGeom prst="rect">
            <a:avLst/>
          </a:prstGeom>
          <a:noFill/>
          <a:ln>
            <a:noFill/>
          </a:ln>
        </p:spPr>
        <p:txBody>
          <a:bodyPr spcFirstLastPara="1" wrap="square" lIns="91425" tIns="91425" rIns="91425" bIns="91425" anchor="t"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0" i="0" u="none" strike="noStrike" cap="none">
                <a:solidFill>
                  <a:schemeClr val="lt1"/>
                </a:solidFill>
                <a:latin typeface="Roboto"/>
                <a:ea typeface="Roboto"/>
                <a:cs typeface="Roboto"/>
                <a:sym typeface="Roboto"/>
              </a:rPr>
              <a:t>Una vista es una “</a:t>
            </a:r>
            <a:r>
              <a:rPr lang="es-AR" sz="1800" b="1" i="0" u="none" strike="noStrike" cap="none">
                <a:solidFill>
                  <a:schemeClr val="lt1"/>
                </a:solidFill>
                <a:latin typeface="Roboto"/>
                <a:ea typeface="Roboto"/>
                <a:cs typeface="Roboto"/>
                <a:sym typeface="Roboto"/>
              </a:rPr>
              <a:t>tabla</a:t>
            </a:r>
            <a:r>
              <a:rPr lang="es-AR" sz="1800" b="0" i="0" u="none" strike="noStrike" cap="none">
                <a:solidFill>
                  <a:schemeClr val="lt1"/>
                </a:solidFill>
                <a:latin typeface="Roboto"/>
                <a:ea typeface="Roboto"/>
                <a:cs typeface="Roboto"/>
                <a:sym typeface="Roboto"/>
              </a:rPr>
              <a:t> </a:t>
            </a:r>
            <a:r>
              <a:rPr lang="es-AR" sz="1800" b="1" i="0" u="none" strike="noStrike" cap="none">
                <a:solidFill>
                  <a:schemeClr val="lt1"/>
                </a:solidFill>
                <a:latin typeface="Roboto"/>
                <a:ea typeface="Roboto"/>
                <a:cs typeface="Roboto"/>
                <a:sym typeface="Roboto"/>
              </a:rPr>
              <a:t>virtual</a:t>
            </a:r>
            <a:r>
              <a:rPr lang="es-AR" sz="1800" b="0" i="0" u="none" strike="noStrike" cap="none">
                <a:solidFill>
                  <a:schemeClr val="lt1"/>
                </a:solidFill>
                <a:latin typeface="Roboto"/>
                <a:ea typeface="Roboto"/>
                <a:cs typeface="Roboto"/>
                <a:sym typeface="Roboto"/>
              </a:rPr>
              <a:t>” </a:t>
            </a:r>
            <a:r>
              <a:rPr lang="es-AR" sz="1800" b="1" i="0" u="none" strike="noStrike" cap="none">
                <a:solidFill>
                  <a:schemeClr val="lt1"/>
                </a:solidFill>
                <a:latin typeface="Roboto"/>
                <a:ea typeface="Roboto"/>
                <a:cs typeface="Roboto"/>
                <a:sym typeface="Roboto"/>
              </a:rPr>
              <a:t>construida a partir de una consulta</a:t>
            </a:r>
            <a:r>
              <a:rPr lang="es-AR" sz="1800" b="0" i="0" u="none" strike="noStrike" cap="none">
                <a:solidFill>
                  <a:schemeClr val="lt1"/>
                </a:solidFill>
                <a:latin typeface="Roboto"/>
                <a:ea typeface="Roboto"/>
                <a:cs typeface="Roboto"/>
                <a:sym typeface="Roboto"/>
              </a:rPr>
              <a:t>. Al igual que una tabla, consta de columnas y filas de datos. La vista permite </a:t>
            </a:r>
            <a:r>
              <a:rPr lang="es-AR" sz="1800" b="1" i="0" u="none" strike="noStrike" cap="none">
                <a:solidFill>
                  <a:schemeClr val="lt1"/>
                </a:solidFill>
                <a:latin typeface="Roboto"/>
                <a:ea typeface="Roboto"/>
                <a:cs typeface="Roboto"/>
                <a:sym typeface="Roboto"/>
              </a:rPr>
              <a:t>aislar los datos con restricciones de seguridad</a:t>
            </a:r>
            <a:r>
              <a:rPr lang="es-AR" sz="1800" b="0" i="0" u="none" strike="noStrike" cap="none">
                <a:solidFill>
                  <a:schemeClr val="lt1"/>
                </a:solidFill>
                <a:latin typeface="Roboto"/>
                <a:ea typeface="Roboto"/>
                <a:cs typeface="Roboto"/>
                <a:sym typeface="Roboto"/>
              </a:rPr>
              <a:t>. Gracias a las vistas los datos quedan disponibles para los usuarios finales.</a:t>
            </a:r>
            <a:endParaRPr sz="1800" b="0" i="0" u="none" strike="noStrike" cap="none">
              <a:solidFill>
                <a:schemeClr val="lt1"/>
              </a:solidFill>
              <a:latin typeface="Roboto"/>
              <a:ea typeface="Roboto"/>
              <a:cs typeface="Roboto"/>
              <a:sym typeface="Roboto"/>
            </a:endParaRPr>
          </a:p>
        </p:txBody>
      </p:sp>
      <p:sp>
        <p:nvSpPr>
          <p:cNvPr id="234" name="Google Shape;234;p13"/>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VISTAS</a:t>
            </a:r>
            <a:endParaRPr sz="4000" b="0" i="0" u="none" strike="noStrike" cap="none">
              <a:solidFill>
                <a:schemeClr val="lt1"/>
              </a:solidFill>
              <a:latin typeface="Arial"/>
              <a:ea typeface="Arial"/>
              <a:cs typeface="Arial"/>
              <a:sym typeface="Arial"/>
            </a:endParaRPr>
          </a:p>
        </p:txBody>
      </p:sp>
      <p:sp>
        <p:nvSpPr>
          <p:cNvPr id="235" name="Google Shape;235;p13"/>
          <p:cNvSpPr/>
          <p:nvPr/>
        </p:nvSpPr>
        <p:spPr>
          <a:xfrm>
            <a:off x="5606296" y="971878"/>
            <a:ext cx="1713902" cy="710100"/>
          </a:xfrm>
          <a:prstGeom prst="roundRect">
            <a:avLst>
              <a:gd name="adj" fmla="val 16667"/>
            </a:avLst>
          </a:prstGeom>
          <a:solidFill>
            <a:srgbClr val="FF3399"/>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36" name="Google Shape;236;p13"/>
          <p:cNvSpPr txBox="1"/>
          <p:nvPr/>
        </p:nvSpPr>
        <p:spPr>
          <a:xfrm>
            <a:off x="5760710" y="1086547"/>
            <a:ext cx="134844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AR" sz="2800" b="0" i="1" u="none" strike="noStrike" cap="none">
                <a:solidFill>
                  <a:schemeClr val="lt1"/>
                </a:solidFill>
                <a:latin typeface="Anton"/>
                <a:ea typeface="Anton"/>
                <a:cs typeface="Anton"/>
                <a:sym typeface="Anton"/>
              </a:rPr>
              <a:t>SINTAXIS</a:t>
            </a:r>
            <a:endParaRPr sz="2800" b="0" i="0" u="none" strike="noStrike" cap="none">
              <a:solidFill>
                <a:schemeClr val="lt1"/>
              </a:solidFill>
              <a:latin typeface="Arial"/>
              <a:ea typeface="Arial"/>
              <a:cs typeface="Arial"/>
              <a:sym typeface="Arial"/>
            </a:endParaRPr>
          </a:p>
        </p:txBody>
      </p:sp>
      <p:sp>
        <p:nvSpPr>
          <p:cNvPr id="237" name="Google Shape;237;p13"/>
          <p:cNvSpPr/>
          <p:nvPr/>
        </p:nvSpPr>
        <p:spPr>
          <a:xfrm>
            <a:off x="4437321" y="1838840"/>
            <a:ext cx="4253023" cy="1988882"/>
          </a:xfrm>
          <a:prstGeom prst="roundRect">
            <a:avLst>
              <a:gd name="adj" fmla="val 9539"/>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38" name="Google Shape;238;p13"/>
          <p:cNvSpPr txBox="1"/>
          <p:nvPr/>
        </p:nvSpPr>
        <p:spPr>
          <a:xfrm>
            <a:off x="4572001" y="2349203"/>
            <a:ext cx="4118344" cy="925623"/>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700" b="1" i="0" u="none" strike="noStrike" cap="none">
                <a:solidFill>
                  <a:schemeClr val="dk1"/>
                </a:solidFill>
                <a:latin typeface="Courier New"/>
                <a:ea typeface="Courier New"/>
                <a:cs typeface="Courier New"/>
                <a:sym typeface="Courier New"/>
              </a:rPr>
              <a:t>CREATE VIEW Nombre_Vista</a:t>
            </a:r>
            <a:endParaRPr sz="1700" b="1" i="0" u="none" strike="noStrike" cap="none">
              <a:solidFill>
                <a:schemeClr val="dk1"/>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700" b="1" i="0" u="none" strike="noStrike" cap="none">
                <a:solidFill>
                  <a:schemeClr val="dk1"/>
                </a:solidFill>
                <a:latin typeface="Courier New"/>
                <a:ea typeface="Courier New"/>
                <a:cs typeface="Courier New"/>
                <a:sym typeface="Courier New"/>
              </a:rPr>
              <a:t>AS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700" b="1" i="0" u="none" strike="noStrike" cap="none">
                <a:solidFill>
                  <a:schemeClr val="dk1"/>
                </a:solidFill>
                <a:latin typeface="Courier New"/>
                <a:ea typeface="Courier New"/>
                <a:cs typeface="Courier New"/>
                <a:sym typeface="Courier New"/>
              </a:rPr>
              <a:t>SELECT columna_1, columna 2,…</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700" b="1" i="0" u="none" strike="noStrike" cap="none">
                <a:solidFill>
                  <a:schemeClr val="dk1"/>
                </a:solidFill>
                <a:latin typeface="Courier New"/>
                <a:ea typeface="Courier New"/>
                <a:cs typeface="Courier New"/>
                <a:sym typeface="Courier New"/>
              </a:rPr>
              <a:t>FROM Nombre_Tabla</a:t>
            </a:r>
            <a:r>
              <a:rPr lang="es-AR" sz="1700" b="1" i="0" u="none" strike="noStrike" cap="none">
                <a:solidFill>
                  <a:schemeClr val="dk1"/>
                </a:solidFill>
                <a:latin typeface="Helvetica Neue"/>
                <a:ea typeface="Helvetica Neue"/>
                <a:cs typeface="Helvetica Neue"/>
                <a:sym typeface="Helvetica Neue"/>
              </a:rPr>
              <a:t>;</a:t>
            </a:r>
            <a:endParaRPr sz="1700" b="1" i="0" u="none" strike="noStrike" cap="none">
              <a:solidFill>
                <a:schemeClr val="dk1"/>
              </a:solidFill>
              <a:latin typeface="Helvetica Neue Light"/>
              <a:ea typeface="Helvetica Neue Light"/>
              <a:cs typeface="Helvetica Neue Light"/>
              <a:sym typeface="Helvetica Neue Light"/>
            </a:endParaRPr>
          </a:p>
        </p:txBody>
      </p:sp>
      <p:pic>
        <p:nvPicPr>
          <p:cNvPr id="239" name="Google Shape;239;p13"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3"/>
        <p:cNvGrpSpPr/>
        <p:nvPr/>
      </p:nvGrpSpPr>
      <p:grpSpPr>
        <a:xfrm>
          <a:off x="0" y="0"/>
          <a:ext cx="0" cy="0"/>
          <a:chOff x="0" y="0"/>
          <a:chExt cx="0" cy="0"/>
        </a:xfrm>
      </p:grpSpPr>
      <p:sp>
        <p:nvSpPr>
          <p:cNvPr id="244" name="Google Shape;244;p14"/>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CREACIÓN DE VISTA: EJEMPLO</a:t>
            </a:r>
            <a:endParaRPr sz="4000" b="0" i="0" u="none" strike="noStrike" cap="none">
              <a:solidFill>
                <a:schemeClr val="lt1"/>
              </a:solidFill>
              <a:latin typeface="Arial"/>
              <a:ea typeface="Arial"/>
              <a:cs typeface="Arial"/>
              <a:sym typeface="Arial"/>
            </a:endParaRPr>
          </a:p>
        </p:txBody>
      </p:sp>
      <p:sp>
        <p:nvSpPr>
          <p:cNvPr id="245" name="Google Shape;245;p14"/>
          <p:cNvSpPr/>
          <p:nvPr/>
        </p:nvSpPr>
        <p:spPr>
          <a:xfrm>
            <a:off x="701749" y="1165444"/>
            <a:ext cx="6585098" cy="2456714"/>
          </a:xfrm>
          <a:prstGeom prst="roundRect">
            <a:avLst>
              <a:gd name="adj" fmla="val 9539"/>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46" name="Google Shape;246;p14"/>
          <p:cNvSpPr txBox="1"/>
          <p:nvPr/>
        </p:nvSpPr>
        <p:spPr>
          <a:xfrm>
            <a:off x="836429" y="1860105"/>
            <a:ext cx="6946604" cy="925623"/>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chemeClr val="dk1"/>
                </a:solidFill>
                <a:latin typeface="Courier New"/>
                <a:ea typeface="Courier New"/>
                <a:cs typeface="Courier New"/>
                <a:sym typeface="Courier New"/>
              </a:rPr>
              <a:t>CREATE VIEW Clientes_Masculinos</a:t>
            </a:r>
            <a:endParaRPr sz="2000" b="1" i="0" u="none" strike="noStrike" cap="none">
              <a:solidFill>
                <a:schemeClr val="dk1"/>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chemeClr val="dk1"/>
                </a:solidFill>
                <a:latin typeface="Courier New"/>
                <a:ea typeface="Courier New"/>
                <a:cs typeface="Courier New"/>
                <a:sym typeface="Courier New"/>
              </a:rPr>
              <a:t>AS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chemeClr val="dk1"/>
                </a:solidFill>
                <a:latin typeface="Courier New"/>
                <a:ea typeface="Courier New"/>
                <a:cs typeface="Courier New"/>
                <a:sym typeface="Courier New"/>
              </a:rPr>
              <a:t>SELECT ID, Apellido, Nombre, Edad, Sexo</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chemeClr val="dk1"/>
                </a:solidFill>
                <a:latin typeface="Courier New"/>
                <a:ea typeface="Courier New"/>
                <a:cs typeface="Courier New"/>
                <a:sym typeface="Courier New"/>
              </a:rPr>
              <a:t>FROM Clientes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chemeClr val="dk1"/>
                </a:solidFill>
                <a:latin typeface="Courier New"/>
                <a:ea typeface="Courier New"/>
                <a:cs typeface="Courier New"/>
                <a:sym typeface="Courier New"/>
              </a:rPr>
              <a:t>WHERE Sexo = ‘Masculino’</a:t>
            </a:r>
            <a:r>
              <a:rPr lang="es-AR" sz="2000" b="1" i="0" u="none" strike="noStrike" cap="none">
                <a:solidFill>
                  <a:schemeClr val="dk1"/>
                </a:solidFill>
                <a:latin typeface="Helvetica Neue"/>
                <a:ea typeface="Helvetica Neue"/>
                <a:cs typeface="Helvetica Neue"/>
                <a:sym typeface="Helvetica Neue"/>
              </a:rPr>
              <a:t>;</a:t>
            </a:r>
            <a:endParaRPr sz="2000" b="1" i="0" u="none" strike="noStrike" cap="none">
              <a:solidFill>
                <a:schemeClr val="dk1"/>
              </a:solidFill>
              <a:latin typeface="Helvetica Neue Light"/>
              <a:ea typeface="Helvetica Neue Light"/>
              <a:cs typeface="Helvetica Neue Light"/>
              <a:sym typeface="Helvetica Neue Light"/>
            </a:endParaRPr>
          </a:p>
        </p:txBody>
      </p:sp>
      <p:pic>
        <p:nvPicPr>
          <p:cNvPr id="247" name="Google Shape;247;p14"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1"/>
        <p:cNvGrpSpPr/>
        <p:nvPr/>
      </p:nvGrpSpPr>
      <p:grpSpPr>
        <a:xfrm>
          <a:off x="0" y="0"/>
          <a:ext cx="0" cy="0"/>
          <a:chOff x="0" y="0"/>
          <a:chExt cx="0" cy="0"/>
        </a:xfrm>
      </p:grpSpPr>
      <p:sp>
        <p:nvSpPr>
          <p:cNvPr id="252" name="Google Shape;252;p15"/>
          <p:cNvSpPr/>
          <p:nvPr/>
        </p:nvSpPr>
        <p:spPr>
          <a:xfrm>
            <a:off x="1248288" y="3613975"/>
            <a:ext cx="6647423" cy="710100"/>
          </a:xfrm>
          <a:prstGeom prst="roundRect">
            <a:avLst>
              <a:gd name="adj" fmla="val 16667"/>
            </a:avLst>
          </a:prstGeom>
          <a:solidFill>
            <a:schemeClr val="lt1"/>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53" name="Google Shape;253;p15"/>
          <p:cNvSpPr txBox="1"/>
          <p:nvPr/>
        </p:nvSpPr>
        <p:spPr>
          <a:xfrm>
            <a:off x="579445" y="1174475"/>
            <a:ext cx="7985110" cy="1926300"/>
          </a:xfrm>
          <a:prstGeom prst="rect">
            <a:avLst/>
          </a:prstGeom>
          <a:noFill/>
          <a:ln>
            <a:noFill/>
          </a:ln>
        </p:spPr>
        <p:txBody>
          <a:bodyPr spcFirstLastPara="1" wrap="square" lIns="91425" tIns="91425" rIns="91425" bIns="91425" anchor="t" anchorCtr="0">
            <a:noAutofit/>
          </a:bodyPr>
          <a:lstStyle/>
          <a:p>
            <a:pPr marL="0" marR="38100" lvl="0" indent="0" algn="just" rtl="0">
              <a:lnSpc>
                <a:spcPct val="128571"/>
              </a:lnSpc>
              <a:spcBef>
                <a:spcPts val="0"/>
              </a:spcBef>
              <a:spcAft>
                <a:spcPts val="0"/>
              </a:spcAft>
              <a:buClr>
                <a:srgbClr val="000000"/>
              </a:buClr>
              <a:buSzPts val="1100"/>
              <a:buFont typeface="Arial"/>
              <a:buNone/>
            </a:pPr>
            <a:r>
              <a:rPr lang="es-AR" sz="1800" b="0" i="0" u="none" strike="noStrike" cap="none">
                <a:solidFill>
                  <a:schemeClr val="lt1"/>
                </a:solidFill>
                <a:latin typeface="Roboto"/>
                <a:ea typeface="Roboto"/>
                <a:cs typeface="Roboto"/>
                <a:sym typeface="Roboto"/>
              </a:rPr>
              <a:t>El esquema</a:t>
            </a:r>
            <a:r>
              <a:rPr lang="es-AR" sz="1800" b="1" i="0" u="none" strike="noStrike" cap="none">
                <a:solidFill>
                  <a:schemeClr val="lt1"/>
                </a:solidFill>
                <a:latin typeface="Roboto"/>
                <a:ea typeface="Roboto"/>
                <a:cs typeface="Roboto"/>
                <a:sym typeface="Roboto"/>
              </a:rPr>
              <a:t> </a:t>
            </a:r>
            <a:r>
              <a:rPr lang="es-AR" sz="1800" b="0" i="0" u="none" strike="noStrike" cap="none">
                <a:solidFill>
                  <a:schemeClr val="lt1"/>
                </a:solidFill>
                <a:latin typeface="Roboto"/>
                <a:ea typeface="Roboto"/>
                <a:cs typeface="Roboto"/>
                <a:sym typeface="Roboto"/>
              </a:rPr>
              <a:t>es una </a:t>
            </a:r>
            <a:r>
              <a:rPr lang="es-AR" sz="1800" b="1" i="0" u="none" strike="noStrike" cap="none">
                <a:solidFill>
                  <a:schemeClr val="lt1"/>
                </a:solidFill>
                <a:latin typeface="Roboto"/>
                <a:ea typeface="Roboto"/>
                <a:cs typeface="Roboto"/>
                <a:sym typeface="Roboto"/>
              </a:rPr>
              <a:t>colección de objetos relacionados entre sí</a:t>
            </a:r>
            <a:r>
              <a:rPr lang="es-AR" sz="1800" b="0" i="0" u="none" strike="noStrike" cap="none">
                <a:solidFill>
                  <a:schemeClr val="lt1"/>
                </a:solidFill>
                <a:latin typeface="Roboto"/>
                <a:ea typeface="Roboto"/>
                <a:cs typeface="Roboto"/>
                <a:sym typeface="Roboto"/>
              </a:rPr>
              <a:t> dentro de la base de datos. Dado que el esquema suele estar asociado a un usuario, resulta muy </a:t>
            </a:r>
            <a:r>
              <a:rPr lang="es-AR" sz="1800" b="1" i="0" u="none" strike="noStrike" cap="none">
                <a:solidFill>
                  <a:schemeClr val="lt1"/>
                </a:solidFill>
                <a:latin typeface="Roboto"/>
                <a:ea typeface="Roboto"/>
                <a:cs typeface="Roboto"/>
                <a:sym typeface="Roboto"/>
              </a:rPr>
              <a:t>útil</a:t>
            </a:r>
            <a:r>
              <a:rPr lang="es-AR" sz="1800" b="0" i="0" u="none" strike="noStrike" cap="none">
                <a:solidFill>
                  <a:schemeClr val="lt1"/>
                </a:solidFill>
                <a:latin typeface="Roboto"/>
                <a:ea typeface="Roboto"/>
                <a:cs typeface="Roboto"/>
                <a:sym typeface="Roboto"/>
              </a:rPr>
              <a:t> para manejar las </a:t>
            </a:r>
            <a:r>
              <a:rPr lang="es-AR" sz="1800" b="1" i="0" u="none" strike="noStrike" cap="none">
                <a:solidFill>
                  <a:schemeClr val="lt1"/>
                </a:solidFill>
                <a:latin typeface="Roboto"/>
                <a:ea typeface="Roboto"/>
                <a:cs typeface="Roboto"/>
                <a:sym typeface="Roboto"/>
              </a:rPr>
              <a:t>restricciones </a:t>
            </a:r>
            <a:r>
              <a:rPr lang="es-AR" sz="1800" b="0" i="0" u="none" strike="noStrike" cap="none">
                <a:solidFill>
                  <a:schemeClr val="lt1"/>
                </a:solidFill>
                <a:latin typeface="Roboto"/>
                <a:ea typeface="Roboto"/>
                <a:cs typeface="Roboto"/>
                <a:sym typeface="Roboto"/>
              </a:rPr>
              <a:t>de </a:t>
            </a:r>
            <a:r>
              <a:rPr lang="es-AR" sz="1800" b="1" i="0" u="none" strike="noStrike" cap="none">
                <a:solidFill>
                  <a:schemeClr val="lt1"/>
                </a:solidFill>
                <a:latin typeface="Roboto"/>
                <a:ea typeface="Roboto"/>
                <a:cs typeface="Roboto"/>
                <a:sym typeface="Roboto"/>
              </a:rPr>
              <a:t>integridad </a:t>
            </a:r>
            <a:r>
              <a:rPr lang="es-AR" sz="1800" b="0" i="0" u="none" strike="noStrike" cap="none">
                <a:solidFill>
                  <a:schemeClr val="lt1"/>
                </a:solidFill>
                <a:latin typeface="Roboto"/>
                <a:ea typeface="Roboto"/>
                <a:cs typeface="Roboto"/>
                <a:sym typeface="Roboto"/>
              </a:rPr>
              <a:t>y </a:t>
            </a:r>
            <a:r>
              <a:rPr lang="es-AR" sz="1800" b="1" i="0" u="none" strike="noStrike" cap="none">
                <a:solidFill>
                  <a:schemeClr val="lt1"/>
                </a:solidFill>
                <a:latin typeface="Roboto"/>
                <a:ea typeface="Roboto"/>
                <a:cs typeface="Roboto"/>
                <a:sym typeface="Roboto"/>
              </a:rPr>
              <a:t>seguridad </a:t>
            </a:r>
            <a:r>
              <a:rPr lang="es-AR" sz="1800" b="0" i="0" u="none" strike="noStrike" cap="none">
                <a:solidFill>
                  <a:schemeClr val="lt1"/>
                </a:solidFill>
                <a:latin typeface="Roboto"/>
                <a:ea typeface="Roboto"/>
                <a:cs typeface="Roboto"/>
                <a:sym typeface="Roboto"/>
              </a:rPr>
              <a:t>de la información. Cuando se crea una base de datos, el SGBD de forma automática le asigna el nombre </a:t>
            </a:r>
            <a:r>
              <a:rPr lang="es-AR" sz="1800" b="1" i="0" u="none" strike="noStrike" cap="none">
                <a:solidFill>
                  <a:schemeClr val="lt1"/>
                </a:solidFill>
                <a:latin typeface="Roboto"/>
                <a:ea typeface="Roboto"/>
                <a:cs typeface="Roboto"/>
                <a:sym typeface="Roboto"/>
              </a:rPr>
              <a:t>DBO </a:t>
            </a:r>
            <a:r>
              <a:rPr lang="es-AR" sz="1800" b="0" i="0" u="none" strike="noStrike" cap="none">
                <a:solidFill>
                  <a:schemeClr val="lt1"/>
                </a:solidFill>
                <a:latin typeface="Roboto"/>
                <a:ea typeface="Roboto"/>
                <a:cs typeface="Roboto"/>
                <a:sym typeface="Roboto"/>
              </a:rPr>
              <a:t>al esquema principal. Una base de datos puede tener varios esquemas.</a:t>
            </a:r>
            <a:endParaRPr sz="1800" b="0" i="0" u="none" strike="noStrike" cap="none">
              <a:solidFill>
                <a:schemeClr val="lt1"/>
              </a:solidFill>
              <a:latin typeface="Roboto"/>
              <a:ea typeface="Roboto"/>
              <a:cs typeface="Roboto"/>
              <a:sym typeface="Roboto"/>
            </a:endParaRPr>
          </a:p>
          <a:p>
            <a:pPr marL="0" marR="38100" lvl="0" indent="0" algn="just" rtl="0">
              <a:lnSpc>
                <a:spcPct val="128571"/>
              </a:lnSpc>
              <a:spcBef>
                <a:spcPts val="0"/>
              </a:spcBef>
              <a:spcAft>
                <a:spcPts val="0"/>
              </a:spcAft>
              <a:buClr>
                <a:srgbClr val="000000"/>
              </a:buClr>
              <a:buSzPts val="1100"/>
              <a:buFont typeface="Arial"/>
              <a:buNone/>
            </a:pPr>
            <a:endParaRPr sz="1800" b="0" i="0" u="none" strike="noStrike" cap="none">
              <a:solidFill>
                <a:schemeClr val="lt1"/>
              </a:solidFill>
              <a:latin typeface="Roboto"/>
              <a:ea typeface="Roboto"/>
              <a:cs typeface="Roboto"/>
              <a:sym typeface="Roboto"/>
            </a:endParaRPr>
          </a:p>
        </p:txBody>
      </p:sp>
      <p:sp>
        <p:nvSpPr>
          <p:cNvPr id="254" name="Google Shape;254;p15"/>
          <p:cNvSpPr txBox="1"/>
          <p:nvPr/>
        </p:nvSpPr>
        <p:spPr>
          <a:xfrm>
            <a:off x="1748128" y="3750207"/>
            <a:ext cx="5647741" cy="403616"/>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1100"/>
              <a:buFont typeface="Arial"/>
              <a:buNone/>
            </a:pPr>
            <a:r>
              <a:rPr lang="es-AR" sz="2400" b="1" i="0" u="none" strike="noStrike" cap="none">
                <a:solidFill>
                  <a:schemeClr val="dk1"/>
                </a:solidFill>
                <a:latin typeface="Courier New"/>
                <a:ea typeface="Courier New"/>
                <a:cs typeface="Courier New"/>
                <a:sym typeface="Courier New"/>
              </a:rPr>
              <a:t>CREATE SCHEMA Nombre_Esquema</a:t>
            </a:r>
            <a:r>
              <a:rPr lang="es-AR" sz="2400" b="1" i="0" u="none" strike="noStrike" cap="none">
                <a:solidFill>
                  <a:schemeClr val="dk1"/>
                </a:solidFill>
                <a:latin typeface="Helvetica Neue"/>
                <a:ea typeface="Helvetica Neue"/>
                <a:cs typeface="Helvetica Neue"/>
                <a:sym typeface="Helvetica Neue"/>
              </a:rPr>
              <a:t>;</a:t>
            </a:r>
            <a:endParaRPr sz="3600" b="1" i="0" u="none" strike="noStrike" cap="none">
              <a:solidFill>
                <a:schemeClr val="dk1"/>
              </a:solidFill>
              <a:latin typeface="Helvetica Neue Light"/>
              <a:ea typeface="Helvetica Neue Light"/>
              <a:cs typeface="Helvetica Neue Light"/>
              <a:sym typeface="Helvetica Neue Light"/>
            </a:endParaRPr>
          </a:p>
        </p:txBody>
      </p:sp>
      <p:sp>
        <p:nvSpPr>
          <p:cNvPr id="255" name="Google Shape;255;p15"/>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ESQUEMAS</a:t>
            </a:r>
            <a:endParaRPr sz="4000" b="0" i="0" u="none" strike="noStrike" cap="none">
              <a:solidFill>
                <a:schemeClr val="lt1"/>
              </a:solidFill>
              <a:latin typeface="Arial"/>
              <a:ea typeface="Arial"/>
              <a:cs typeface="Arial"/>
              <a:sym typeface="Arial"/>
            </a:endParaRPr>
          </a:p>
        </p:txBody>
      </p:sp>
      <p:pic>
        <p:nvPicPr>
          <p:cNvPr id="256" name="Google Shape;256;p15"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0"/>
        <p:cNvGrpSpPr/>
        <p:nvPr/>
      </p:nvGrpSpPr>
      <p:grpSpPr>
        <a:xfrm>
          <a:off x="0" y="0"/>
          <a:ext cx="0" cy="0"/>
          <a:chOff x="0" y="0"/>
          <a:chExt cx="0" cy="0"/>
        </a:xfrm>
      </p:grpSpPr>
      <p:sp>
        <p:nvSpPr>
          <p:cNvPr id="261" name="Google Shape;261;p16"/>
          <p:cNvSpPr/>
          <p:nvPr/>
        </p:nvSpPr>
        <p:spPr>
          <a:xfrm>
            <a:off x="5692050" y="3489558"/>
            <a:ext cx="3124800" cy="788467"/>
          </a:xfrm>
          <a:prstGeom prst="roundRect">
            <a:avLst>
              <a:gd name="adj" fmla="val 16667"/>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62" name="Google Shape;262;p16"/>
          <p:cNvSpPr/>
          <p:nvPr/>
        </p:nvSpPr>
        <p:spPr>
          <a:xfrm>
            <a:off x="5692050" y="1615587"/>
            <a:ext cx="3124800" cy="1429350"/>
          </a:xfrm>
          <a:prstGeom prst="roundRect">
            <a:avLst>
              <a:gd name="adj" fmla="val 9724"/>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63" name="Google Shape;263;p16"/>
          <p:cNvSpPr txBox="1"/>
          <p:nvPr/>
        </p:nvSpPr>
        <p:spPr>
          <a:xfrm>
            <a:off x="621975" y="1142400"/>
            <a:ext cx="4085700" cy="3420000"/>
          </a:xfrm>
          <a:prstGeom prst="rect">
            <a:avLst/>
          </a:prstGeom>
          <a:noFill/>
          <a:ln>
            <a:noFill/>
          </a:ln>
        </p:spPr>
        <p:txBody>
          <a:bodyPr spcFirstLastPara="1" wrap="square" lIns="91425" tIns="91425" rIns="91425" bIns="91425" anchor="t"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100" b="0" i="0" u="none" strike="noStrike" cap="none">
                <a:solidFill>
                  <a:schemeClr val="lt1"/>
                </a:solidFill>
                <a:latin typeface="Roboto"/>
                <a:ea typeface="Roboto"/>
                <a:cs typeface="Roboto"/>
                <a:sym typeface="Roboto"/>
              </a:rPr>
              <a:t>Un </a:t>
            </a:r>
            <a:r>
              <a:rPr lang="es-AR" sz="2100" b="1" i="0" u="none" strike="noStrike" cap="none">
                <a:solidFill>
                  <a:schemeClr val="lt1"/>
                </a:solidFill>
                <a:latin typeface="Roboto"/>
                <a:ea typeface="Roboto"/>
                <a:cs typeface="Roboto"/>
                <a:sym typeface="Roboto"/>
              </a:rPr>
              <a:t>Procedimiento Almacenado </a:t>
            </a:r>
            <a:r>
              <a:rPr lang="es-AR" sz="2100" b="0" i="0" u="none" strike="noStrike" cap="none">
                <a:solidFill>
                  <a:schemeClr val="lt1"/>
                </a:solidFill>
                <a:latin typeface="Roboto"/>
                <a:ea typeface="Roboto"/>
                <a:cs typeface="Roboto"/>
                <a:sym typeface="Roboto"/>
              </a:rPr>
              <a:t> o </a:t>
            </a:r>
            <a:r>
              <a:rPr lang="es-AR" sz="2100" b="1" i="0" u="none" strike="noStrike" cap="none">
                <a:solidFill>
                  <a:schemeClr val="lt1"/>
                </a:solidFill>
                <a:latin typeface="Roboto"/>
                <a:ea typeface="Roboto"/>
                <a:cs typeface="Roboto"/>
                <a:sym typeface="Roboto"/>
              </a:rPr>
              <a:t>Stored Procedure </a:t>
            </a:r>
            <a:r>
              <a:rPr lang="es-AR" sz="2100" b="0" i="0" u="none" strike="noStrike" cap="none">
                <a:solidFill>
                  <a:schemeClr val="lt1"/>
                </a:solidFill>
                <a:latin typeface="Roboto"/>
                <a:ea typeface="Roboto"/>
                <a:cs typeface="Roboto"/>
                <a:sym typeface="Roboto"/>
              </a:rPr>
              <a:t>es un </a:t>
            </a:r>
            <a:r>
              <a:rPr lang="es-AR" sz="2100" b="1" i="0" u="none" strike="noStrike" cap="none">
                <a:solidFill>
                  <a:schemeClr val="lt1"/>
                </a:solidFill>
                <a:latin typeface="Roboto"/>
                <a:ea typeface="Roboto"/>
                <a:cs typeface="Roboto"/>
                <a:sym typeface="Roboto"/>
              </a:rPr>
              <a:t>programa</a:t>
            </a:r>
            <a:r>
              <a:rPr lang="es-AR" sz="2100" b="0" i="0" u="none" strike="noStrike" cap="none">
                <a:solidFill>
                  <a:schemeClr val="lt1"/>
                </a:solidFill>
                <a:latin typeface="Roboto"/>
                <a:ea typeface="Roboto"/>
                <a:cs typeface="Roboto"/>
                <a:sym typeface="Roboto"/>
              </a:rPr>
              <a:t> que permite </a:t>
            </a:r>
            <a:r>
              <a:rPr lang="es-AR" sz="2100" b="1" i="0" u="none" strike="noStrike" cap="none">
                <a:solidFill>
                  <a:schemeClr val="lt1"/>
                </a:solidFill>
                <a:latin typeface="Roboto"/>
                <a:ea typeface="Roboto"/>
                <a:cs typeface="Roboto"/>
                <a:sym typeface="Roboto"/>
              </a:rPr>
              <a:t>realizar </a:t>
            </a:r>
            <a:r>
              <a:rPr lang="es-AR" sz="2100" b="0" i="0" u="none" strike="noStrike" cap="none">
                <a:solidFill>
                  <a:schemeClr val="lt1"/>
                </a:solidFill>
                <a:latin typeface="Roboto"/>
                <a:ea typeface="Roboto"/>
                <a:cs typeface="Roboto"/>
                <a:sym typeface="Roboto"/>
              </a:rPr>
              <a:t>una o varias </a:t>
            </a:r>
            <a:r>
              <a:rPr lang="es-AR" sz="2100" b="1" i="0" u="none" strike="noStrike" cap="none">
                <a:solidFill>
                  <a:schemeClr val="lt1"/>
                </a:solidFill>
                <a:latin typeface="Roboto"/>
                <a:ea typeface="Roboto"/>
                <a:cs typeface="Roboto"/>
                <a:sym typeface="Roboto"/>
              </a:rPr>
              <a:t>tareas </a:t>
            </a:r>
            <a:r>
              <a:rPr lang="es-AR" sz="2100" b="0" i="0" u="none" strike="noStrike" cap="none">
                <a:solidFill>
                  <a:schemeClr val="lt1"/>
                </a:solidFill>
                <a:latin typeface="Roboto"/>
                <a:ea typeface="Roboto"/>
                <a:cs typeface="Roboto"/>
                <a:sym typeface="Roboto"/>
              </a:rPr>
              <a:t>dentro de una o varias bases al mismo tiempo. Permite </a:t>
            </a:r>
            <a:r>
              <a:rPr lang="es-AR" sz="2100" b="1" i="0" u="none" strike="noStrike" cap="none">
                <a:solidFill>
                  <a:schemeClr val="lt1"/>
                </a:solidFill>
                <a:latin typeface="Roboto"/>
                <a:ea typeface="Roboto"/>
                <a:cs typeface="Roboto"/>
                <a:sym typeface="Roboto"/>
              </a:rPr>
              <a:t>automatizar tareas </a:t>
            </a:r>
            <a:r>
              <a:rPr lang="es-AR" sz="2100" b="0" i="0" u="none" strike="noStrike" cap="none">
                <a:solidFill>
                  <a:schemeClr val="lt1"/>
                </a:solidFill>
                <a:latin typeface="Roboto"/>
                <a:ea typeface="Roboto"/>
                <a:cs typeface="Roboto"/>
                <a:sym typeface="Roboto"/>
              </a:rPr>
              <a:t>y reutilizar código.</a:t>
            </a:r>
            <a:endParaRPr sz="3100" b="0" i="0" u="none" strike="noStrike" cap="none">
              <a:solidFill>
                <a:schemeClr val="lt1"/>
              </a:solidFill>
              <a:latin typeface="Roboto"/>
              <a:ea typeface="Roboto"/>
              <a:cs typeface="Roboto"/>
              <a:sym typeface="Roboto"/>
            </a:endParaRPr>
          </a:p>
        </p:txBody>
      </p:sp>
      <p:sp>
        <p:nvSpPr>
          <p:cNvPr id="264" name="Google Shape;264;p16"/>
          <p:cNvSpPr txBox="1"/>
          <p:nvPr/>
        </p:nvSpPr>
        <p:spPr>
          <a:xfrm>
            <a:off x="5754450" y="1615587"/>
            <a:ext cx="3000000" cy="14160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chemeClr val="dk1"/>
                </a:solidFill>
                <a:latin typeface="Courier New"/>
                <a:ea typeface="Courier New"/>
                <a:cs typeface="Courier New"/>
                <a:sym typeface="Courier New"/>
              </a:rPr>
              <a:t>CREATE PROCEDURE Seleccionar_Clientes</a:t>
            </a:r>
            <a:endParaRPr sz="16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chemeClr val="dk1"/>
                </a:solidFill>
                <a:latin typeface="Courier New"/>
                <a:ea typeface="Courier New"/>
                <a:cs typeface="Courier New"/>
                <a:sym typeface="Courier New"/>
              </a:rPr>
              <a:t>AS</a:t>
            </a:r>
            <a:endParaRPr sz="16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chemeClr val="dk1"/>
                </a:solidFill>
                <a:latin typeface="Courier New"/>
                <a:ea typeface="Courier New"/>
                <a:cs typeface="Courier New"/>
                <a:sym typeface="Courier New"/>
              </a:rPr>
              <a:t>SELECT * FROM Clientes</a:t>
            </a:r>
            <a:endParaRPr sz="16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chemeClr val="dk1"/>
                </a:solidFill>
                <a:latin typeface="Courier New"/>
                <a:ea typeface="Courier New"/>
                <a:cs typeface="Courier New"/>
                <a:sym typeface="Courier New"/>
              </a:rPr>
              <a:t>GO;</a:t>
            </a:r>
            <a:endParaRPr sz="1600" b="1" i="0" u="none" strike="noStrike" cap="none">
              <a:solidFill>
                <a:schemeClr val="dk1"/>
              </a:solidFill>
              <a:latin typeface="Arial"/>
              <a:ea typeface="Arial"/>
              <a:cs typeface="Arial"/>
              <a:sym typeface="Arial"/>
            </a:endParaRPr>
          </a:p>
        </p:txBody>
      </p:sp>
      <p:sp>
        <p:nvSpPr>
          <p:cNvPr id="265" name="Google Shape;265;p16"/>
          <p:cNvSpPr txBox="1"/>
          <p:nvPr/>
        </p:nvSpPr>
        <p:spPr>
          <a:xfrm>
            <a:off x="5754450" y="1187174"/>
            <a:ext cx="3000000" cy="462532"/>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Clr>
                <a:srgbClr val="000000"/>
              </a:buClr>
              <a:buSzPts val="1400"/>
              <a:buFont typeface="Arial"/>
              <a:buNone/>
            </a:pPr>
            <a:r>
              <a:rPr lang="es-AR" sz="1400" b="1" i="0" u="none" strike="noStrike" cap="none">
                <a:solidFill>
                  <a:schemeClr val="lt1"/>
                </a:solidFill>
                <a:latin typeface="Helvetica Neue Light"/>
                <a:ea typeface="Helvetica Neue Light"/>
                <a:cs typeface="Helvetica Neue Light"/>
                <a:sym typeface="Helvetica Neue Light"/>
              </a:rPr>
              <a:t>Creación del Stored Procedure:</a:t>
            </a:r>
            <a:endParaRPr sz="1400" b="1" i="0" u="none" strike="noStrike" cap="none">
              <a:solidFill>
                <a:schemeClr val="lt1"/>
              </a:solidFill>
              <a:latin typeface="Arial"/>
              <a:ea typeface="Arial"/>
              <a:cs typeface="Arial"/>
              <a:sym typeface="Arial"/>
            </a:endParaRPr>
          </a:p>
        </p:txBody>
      </p:sp>
      <p:sp>
        <p:nvSpPr>
          <p:cNvPr id="266" name="Google Shape;266;p16"/>
          <p:cNvSpPr txBox="1"/>
          <p:nvPr/>
        </p:nvSpPr>
        <p:spPr>
          <a:xfrm>
            <a:off x="5754450" y="3517007"/>
            <a:ext cx="3000000" cy="677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s-AR" sz="1600" b="1" i="0" u="none" strike="noStrike" cap="none">
                <a:solidFill>
                  <a:schemeClr val="dk1"/>
                </a:solidFill>
                <a:latin typeface="Courier New"/>
                <a:ea typeface="Courier New"/>
                <a:cs typeface="Courier New"/>
                <a:sym typeface="Courier New"/>
              </a:rPr>
              <a:t>EXEC Seleccionar_Clientes;</a:t>
            </a:r>
            <a:endParaRPr sz="1600" b="1" i="0" u="none" strike="noStrike" cap="none">
              <a:solidFill>
                <a:schemeClr val="dk1"/>
              </a:solidFill>
              <a:latin typeface="Courier New"/>
              <a:ea typeface="Courier New"/>
              <a:cs typeface="Courier New"/>
              <a:sym typeface="Courier New"/>
            </a:endParaRPr>
          </a:p>
        </p:txBody>
      </p:sp>
      <p:sp>
        <p:nvSpPr>
          <p:cNvPr id="267" name="Google Shape;267;p16"/>
          <p:cNvSpPr txBox="1"/>
          <p:nvPr/>
        </p:nvSpPr>
        <p:spPr>
          <a:xfrm>
            <a:off x="5754450" y="3054475"/>
            <a:ext cx="3000000" cy="462532"/>
          </a:xfrm>
          <a:prstGeom prst="rect">
            <a:avLst/>
          </a:prstGeom>
          <a:noFill/>
          <a:ln>
            <a:noFill/>
          </a:ln>
        </p:spPr>
        <p:txBody>
          <a:bodyPr spcFirstLastPara="1" wrap="square" lIns="91425" tIns="91425" rIns="91425" bIns="91425" anchor="t" anchorCtr="0">
            <a:spAutoFit/>
          </a:bodyPr>
          <a:lstStyle/>
          <a:p>
            <a:pPr marL="0" marR="38100" lvl="0" indent="0" algn="l" rtl="0">
              <a:lnSpc>
                <a:spcPct val="128571"/>
              </a:lnSpc>
              <a:spcBef>
                <a:spcPts val="0"/>
              </a:spcBef>
              <a:spcAft>
                <a:spcPts val="0"/>
              </a:spcAft>
              <a:buClr>
                <a:srgbClr val="000000"/>
              </a:buClr>
              <a:buSzPts val="1400"/>
              <a:buFont typeface="Arial"/>
              <a:buNone/>
            </a:pPr>
            <a:r>
              <a:rPr lang="es-AR" sz="1400" b="1" i="0" u="none" strike="noStrike" cap="none">
                <a:solidFill>
                  <a:schemeClr val="lt1"/>
                </a:solidFill>
                <a:latin typeface="Helvetica Neue Light"/>
                <a:ea typeface="Helvetica Neue Light"/>
                <a:cs typeface="Helvetica Neue Light"/>
                <a:sym typeface="Helvetica Neue Light"/>
              </a:rPr>
              <a:t>Ejecución del Stored Procedure:</a:t>
            </a:r>
            <a:endParaRPr sz="1400" b="1" i="0" u="none" strike="noStrike" cap="none">
              <a:solidFill>
                <a:schemeClr val="lt1"/>
              </a:solidFill>
              <a:latin typeface="Arial"/>
              <a:ea typeface="Arial"/>
              <a:cs typeface="Arial"/>
              <a:sym typeface="Arial"/>
            </a:endParaRPr>
          </a:p>
        </p:txBody>
      </p:sp>
      <p:sp>
        <p:nvSpPr>
          <p:cNvPr id="268" name="Google Shape;268;p16"/>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STORED PROCEDURE</a:t>
            </a:r>
            <a:endParaRPr sz="4000" b="0" i="0" u="none" strike="noStrike" cap="none">
              <a:solidFill>
                <a:schemeClr val="lt1"/>
              </a:solidFill>
              <a:latin typeface="Arial"/>
              <a:ea typeface="Arial"/>
              <a:cs typeface="Arial"/>
              <a:sym typeface="Arial"/>
            </a:endParaRPr>
          </a:p>
        </p:txBody>
      </p:sp>
      <p:sp>
        <p:nvSpPr>
          <p:cNvPr id="269" name="Google Shape;269;p16"/>
          <p:cNvSpPr/>
          <p:nvPr/>
        </p:nvSpPr>
        <p:spPr>
          <a:xfrm>
            <a:off x="6435636" y="455981"/>
            <a:ext cx="1713902" cy="710100"/>
          </a:xfrm>
          <a:prstGeom prst="roundRect">
            <a:avLst>
              <a:gd name="adj" fmla="val 16667"/>
            </a:avLst>
          </a:prstGeom>
          <a:solidFill>
            <a:srgbClr val="FF3399"/>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270" name="Google Shape;270;p16"/>
          <p:cNvSpPr txBox="1"/>
          <p:nvPr/>
        </p:nvSpPr>
        <p:spPr>
          <a:xfrm>
            <a:off x="6590050" y="570650"/>
            <a:ext cx="134844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s-AR" sz="2800" b="0" i="1" u="none" strike="noStrike" cap="none">
                <a:solidFill>
                  <a:schemeClr val="lt1"/>
                </a:solidFill>
                <a:latin typeface="Anton"/>
                <a:ea typeface="Anton"/>
                <a:cs typeface="Anton"/>
                <a:sym typeface="Anton"/>
              </a:rPr>
              <a:t>SINTAXIS</a:t>
            </a:r>
            <a:endParaRPr sz="2800" b="0" i="0" u="none" strike="noStrike" cap="none">
              <a:solidFill>
                <a:schemeClr val="lt1"/>
              </a:solidFill>
              <a:latin typeface="Arial"/>
              <a:ea typeface="Arial"/>
              <a:cs typeface="Arial"/>
              <a:sym typeface="Arial"/>
            </a:endParaRPr>
          </a:p>
        </p:txBody>
      </p:sp>
      <p:pic>
        <p:nvPicPr>
          <p:cNvPr id="271" name="Google Shape;271;p16"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8"/>
        <p:cNvGrpSpPr/>
        <p:nvPr/>
      </p:nvGrpSpPr>
      <p:grpSpPr>
        <a:xfrm>
          <a:off x="0" y="0"/>
          <a:ext cx="0" cy="0"/>
          <a:chOff x="0" y="0"/>
          <a:chExt cx="0" cy="0"/>
        </a:xfrm>
      </p:grpSpPr>
      <p:sp>
        <p:nvSpPr>
          <p:cNvPr id="309" name="Google Shape;309;p19"/>
          <p:cNvSpPr txBox="1"/>
          <p:nvPr/>
        </p:nvSpPr>
        <p:spPr>
          <a:xfrm>
            <a:off x="541504" y="2037443"/>
            <a:ext cx="7972114"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s-AR" sz="8000" b="0" i="1" u="none" strike="noStrike" cap="none">
                <a:solidFill>
                  <a:schemeClr val="lt1"/>
                </a:solidFill>
                <a:latin typeface="Anton"/>
                <a:ea typeface="Anton"/>
                <a:cs typeface="Anton"/>
                <a:sym typeface="Anton"/>
              </a:rPr>
              <a:t>TIPOS DE DATOS y RESTRICCIONES</a:t>
            </a:r>
            <a:endParaRPr sz="8000" b="0" i="1" u="none" strike="noStrike" cap="none">
              <a:solidFill>
                <a:schemeClr val="lt1"/>
              </a:solidFill>
              <a:latin typeface="Anton"/>
              <a:ea typeface="Anton"/>
              <a:cs typeface="Anton"/>
              <a:sym typeface="Anton"/>
            </a:endParaRPr>
          </a:p>
        </p:txBody>
      </p:sp>
      <p:pic>
        <p:nvPicPr>
          <p:cNvPr id="310" name="Google Shape;310;p19"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32"/>
        <p:cNvGrpSpPr/>
        <p:nvPr/>
      </p:nvGrpSpPr>
      <p:grpSpPr>
        <a:xfrm>
          <a:off x="0" y="0"/>
          <a:ext cx="0" cy="0"/>
          <a:chOff x="0" y="0"/>
          <a:chExt cx="0" cy="0"/>
        </a:xfrm>
      </p:grpSpPr>
      <p:sp>
        <p:nvSpPr>
          <p:cNvPr id="333" name="Google Shape;333;p22"/>
          <p:cNvSpPr txBox="1"/>
          <p:nvPr/>
        </p:nvSpPr>
        <p:spPr>
          <a:xfrm>
            <a:off x="621974" y="1096654"/>
            <a:ext cx="7813189" cy="444584"/>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dirty="0">
                <a:solidFill>
                  <a:schemeClr val="lt1"/>
                </a:solidFill>
                <a:latin typeface="Roboto"/>
                <a:ea typeface="Roboto"/>
                <a:cs typeface="Roboto"/>
                <a:sym typeface="Roboto"/>
              </a:rPr>
              <a:t>Los tipos de datos en SQL se organizan en categorías:</a:t>
            </a:r>
            <a:endParaRPr sz="2900" b="0" i="0" u="none" strike="noStrike" cap="none" dirty="0">
              <a:solidFill>
                <a:schemeClr val="lt1"/>
              </a:solidFill>
              <a:latin typeface="Roboto"/>
              <a:ea typeface="Roboto"/>
              <a:cs typeface="Roboto"/>
              <a:sym typeface="Roboto"/>
            </a:endParaRPr>
          </a:p>
        </p:txBody>
      </p:sp>
      <p:sp>
        <p:nvSpPr>
          <p:cNvPr id="334" name="Google Shape;334;p22"/>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CATEGORÍAS DE TIPOS DE DATOS</a:t>
            </a:r>
            <a:endParaRPr sz="4000" b="0" i="0" u="none" strike="noStrike" cap="none">
              <a:solidFill>
                <a:schemeClr val="lt1"/>
              </a:solidFill>
              <a:latin typeface="Arial"/>
              <a:ea typeface="Arial"/>
              <a:cs typeface="Arial"/>
              <a:sym typeface="Arial"/>
            </a:endParaRPr>
          </a:p>
        </p:txBody>
      </p:sp>
      <p:sp>
        <p:nvSpPr>
          <p:cNvPr id="335" name="Google Shape;335;p22"/>
          <p:cNvSpPr txBox="1"/>
          <p:nvPr/>
        </p:nvSpPr>
        <p:spPr>
          <a:xfrm>
            <a:off x="621974" y="1789523"/>
            <a:ext cx="7813189" cy="1971476"/>
          </a:xfrm>
          <a:prstGeom prst="rect">
            <a:avLst/>
          </a:prstGeom>
          <a:noFill/>
          <a:ln>
            <a:noFill/>
          </a:ln>
        </p:spPr>
        <p:txBody>
          <a:bodyPr spcFirstLastPara="1" wrap="square" lIns="91425" tIns="91425" rIns="91425" bIns="91425" anchor="ctr" anchorCtr="0">
            <a:noAutofit/>
          </a:bodyPr>
          <a:lstStyle/>
          <a:p>
            <a:pPr marL="538163" marR="38100" lvl="0" indent="-342900"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Numéricos exactos</a:t>
            </a:r>
            <a:endParaRPr sz="1400" b="0" i="0" u="none" strike="noStrike" cap="none">
              <a:solidFill>
                <a:srgbClr val="000000"/>
              </a:solidFill>
              <a:latin typeface="Arial"/>
              <a:ea typeface="Arial"/>
              <a:cs typeface="Arial"/>
              <a:sym typeface="Arial"/>
            </a:endParaRPr>
          </a:p>
          <a:p>
            <a:pPr marL="538163" marR="38100" lvl="0" indent="-342900"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Numéricos aproximados</a:t>
            </a:r>
            <a:endParaRPr sz="1400" b="0" i="0" u="none" strike="noStrike" cap="none">
              <a:solidFill>
                <a:srgbClr val="000000"/>
              </a:solidFill>
              <a:latin typeface="Arial"/>
              <a:ea typeface="Arial"/>
              <a:cs typeface="Arial"/>
              <a:sym typeface="Arial"/>
            </a:endParaRPr>
          </a:p>
          <a:p>
            <a:pPr marL="538163" marR="38100" lvl="0" indent="-342900"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Fecha y hora</a:t>
            </a:r>
            <a:endParaRPr sz="1400" b="0" i="0" u="none" strike="noStrike" cap="none">
              <a:solidFill>
                <a:srgbClr val="000000"/>
              </a:solidFill>
              <a:latin typeface="Arial"/>
              <a:ea typeface="Arial"/>
              <a:cs typeface="Arial"/>
              <a:sym typeface="Arial"/>
            </a:endParaRPr>
          </a:p>
          <a:p>
            <a:pPr marL="538163" marR="38100" lvl="0" indent="-342900"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Cadenas de caracteres</a:t>
            </a:r>
            <a:endParaRPr sz="1400" b="0" i="0" u="none" strike="noStrike" cap="none">
              <a:solidFill>
                <a:srgbClr val="000000"/>
              </a:solidFill>
              <a:latin typeface="Arial"/>
              <a:ea typeface="Arial"/>
              <a:cs typeface="Arial"/>
              <a:sym typeface="Arial"/>
            </a:endParaRPr>
          </a:p>
          <a:p>
            <a:pPr marL="538163" marR="38100" lvl="0" indent="-342900"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Cadenas binarias</a:t>
            </a:r>
            <a:endParaRPr sz="1400" b="0" i="0" u="none" strike="noStrike" cap="none">
              <a:solidFill>
                <a:srgbClr val="000000"/>
              </a:solidFill>
              <a:latin typeface="Arial"/>
              <a:ea typeface="Arial"/>
              <a:cs typeface="Arial"/>
              <a:sym typeface="Arial"/>
            </a:endParaRPr>
          </a:p>
          <a:p>
            <a:pPr marL="538163" marR="38100" lvl="0" indent="-342900"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Otros tipos de datos</a:t>
            </a:r>
            <a:endParaRPr sz="2900" b="0" i="0" u="none" strike="noStrike" cap="none">
              <a:solidFill>
                <a:schemeClr val="lt1"/>
              </a:solidFill>
              <a:latin typeface="Roboto"/>
              <a:ea typeface="Roboto"/>
              <a:cs typeface="Roboto"/>
              <a:sym typeface="Roboto"/>
            </a:endParaRPr>
          </a:p>
        </p:txBody>
      </p:sp>
      <p:pic>
        <p:nvPicPr>
          <p:cNvPr id="336" name="Google Shape;336;p22"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40"/>
        <p:cNvGrpSpPr/>
        <p:nvPr/>
      </p:nvGrpSpPr>
      <p:grpSpPr>
        <a:xfrm>
          <a:off x="0" y="0"/>
          <a:ext cx="0" cy="0"/>
          <a:chOff x="0" y="0"/>
          <a:chExt cx="0" cy="0"/>
        </a:xfrm>
      </p:grpSpPr>
      <p:sp>
        <p:nvSpPr>
          <p:cNvPr id="341" name="Google Shape;341;p23"/>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PRINCIPALES TIPOS DE DATOS</a:t>
            </a:r>
            <a:endParaRPr sz="4000" b="0" i="0" u="none" strike="noStrike" cap="none">
              <a:solidFill>
                <a:schemeClr val="lt1"/>
              </a:solidFill>
              <a:latin typeface="Arial"/>
              <a:ea typeface="Arial"/>
              <a:cs typeface="Arial"/>
              <a:sym typeface="Arial"/>
            </a:endParaRPr>
          </a:p>
        </p:txBody>
      </p:sp>
      <p:graphicFrame>
        <p:nvGraphicFramePr>
          <p:cNvPr id="342" name="Google Shape;342;p23"/>
          <p:cNvGraphicFramePr/>
          <p:nvPr/>
        </p:nvGraphicFramePr>
        <p:xfrm>
          <a:off x="645042" y="1177703"/>
          <a:ext cx="7896450" cy="3172575"/>
        </p:xfrm>
        <a:graphic>
          <a:graphicData uri="http://schemas.openxmlformats.org/drawingml/2006/table">
            <a:tbl>
              <a:tblPr>
                <a:noFill/>
                <a:tableStyleId>{CAC326B2-8FC0-42C8-8BB4-0635C716948D}</a:tableStyleId>
              </a:tblPr>
              <a:tblGrid>
                <a:gridCol w="2632150">
                  <a:extLst>
                    <a:ext uri="{9D8B030D-6E8A-4147-A177-3AD203B41FA5}">
                      <a16:colId xmlns:a16="http://schemas.microsoft.com/office/drawing/2014/main" val="20000"/>
                    </a:ext>
                  </a:extLst>
                </a:gridCol>
                <a:gridCol w="2632150">
                  <a:extLst>
                    <a:ext uri="{9D8B030D-6E8A-4147-A177-3AD203B41FA5}">
                      <a16:colId xmlns:a16="http://schemas.microsoft.com/office/drawing/2014/main" val="20001"/>
                    </a:ext>
                  </a:extLst>
                </a:gridCol>
                <a:gridCol w="2632150">
                  <a:extLst>
                    <a:ext uri="{9D8B030D-6E8A-4147-A177-3AD203B41FA5}">
                      <a16:colId xmlns:a16="http://schemas.microsoft.com/office/drawing/2014/main" val="20002"/>
                    </a:ext>
                  </a:extLst>
                </a:gridCol>
              </a:tblGrid>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b="1" u="none" strike="noStrike" cap="none">
                          <a:solidFill>
                            <a:schemeClr val="dk1"/>
                          </a:solidFill>
                        </a:rPr>
                        <a:t>TIPO</a:t>
                      </a:r>
                      <a:endParaRPr sz="1800" b="1" u="none" strike="noStrike" cap="none">
                        <a:solidFill>
                          <a:schemeClr val="dk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AEABAB"/>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b="1" u="none" strike="noStrike" cap="none">
                          <a:solidFill>
                            <a:schemeClr val="dk1"/>
                          </a:solidFill>
                        </a:rPr>
                        <a:t>SQL</a:t>
                      </a:r>
                      <a:endParaRPr sz="1800" b="1" u="none" strike="noStrike" cap="none">
                        <a:solidFill>
                          <a:schemeClr val="dk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AEABAB"/>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b="1" u="none" strike="noStrike" cap="none">
                          <a:solidFill>
                            <a:schemeClr val="dk1"/>
                          </a:solidFill>
                        </a:rPr>
                        <a:t>EJEMPLO</a:t>
                      </a:r>
                      <a:endParaRPr sz="1800" b="1" u="none" strike="noStrike" cap="none">
                        <a:solidFill>
                          <a:schemeClr val="dk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AEABAB"/>
                    </a:solidFill>
                  </a:tcPr>
                </a:tc>
                <a:extLst>
                  <a:ext uri="{0D108BD9-81ED-4DB2-BD59-A6C34878D82A}">
                    <a16:rowId xmlns:a16="http://schemas.microsoft.com/office/drawing/2014/main" val="10000"/>
                  </a:ext>
                </a:extLst>
              </a:tr>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Enteros</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Int</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159</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Decimales</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Float</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10,51</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Texto</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Text</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Argentina</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Alfanumérico</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Varchar (n)</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CJN582</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4"/>
                  </a:ext>
                </a:extLst>
              </a:tr>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Fecha</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Date</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2022-08-17</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5"/>
                  </a:ext>
                </a:extLst>
              </a:tr>
              <a:tr h="453225">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Fecha y hora</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DateTime</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s-AR" sz="1800" u="none" strike="noStrike" cap="none">
                          <a:solidFill>
                            <a:schemeClr val="lt1"/>
                          </a:solidFill>
                        </a:rPr>
                        <a:t>2022-08-17 14:55:00</a:t>
                      </a:r>
                      <a:endParaRPr sz="18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343" name="Google Shape;343;p23"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1"/>
        <p:cNvGrpSpPr/>
        <p:nvPr/>
      </p:nvGrpSpPr>
      <p:grpSpPr>
        <a:xfrm>
          <a:off x="0" y="0"/>
          <a:ext cx="0" cy="0"/>
          <a:chOff x="0" y="0"/>
          <a:chExt cx="0" cy="0"/>
        </a:xfrm>
      </p:grpSpPr>
      <p:sp>
        <p:nvSpPr>
          <p:cNvPr id="362" name="Google Shape;362;p26"/>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RESTRICCIONES</a:t>
            </a:r>
            <a:endParaRPr sz="4000" b="0" i="0" u="none" strike="noStrike" cap="none" dirty="0">
              <a:solidFill>
                <a:schemeClr val="lt1"/>
              </a:solidFill>
              <a:latin typeface="Arial"/>
              <a:ea typeface="Arial"/>
              <a:cs typeface="Arial"/>
              <a:sym typeface="Arial"/>
            </a:endParaRPr>
          </a:p>
        </p:txBody>
      </p:sp>
      <p:graphicFrame>
        <p:nvGraphicFramePr>
          <p:cNvPr id="363" name="Google Shape;363;p26"/>
          <p:cNvGraphicFramePr/>
          <p:nvPr/>
        </p:nvGraphicFramePr>
        <p:xfrm>
          <a:off x="645041" y="1177704"/>
          <a:ext cx="7827000" cy="3034100"/>
        </p:xfrm>
        <a:graphic>
          <a:graphicData uri="http://schemas.openxmlformats.org/drawingml/2006/table">
            <a:tbl>
              <a:tblPr>
                <a:noFill/>
                <a:tableStyleId>{CAC326B2-8FC0-42C8-8BB4-0635C716948D}</a:tableStyleId>
              </a:tblPr>
              <a:tblGrid>
                <a:gridCol w="1924975">
                  <a:extLst>
                    <a:ext uri="{9D8B030D-6E8A-4147-A177-3AD203B41FA5}">
                      <a16:colId xmlns:a16="http://schemas.microsoft.com/office/drawing/2014/main" val="20000"/>
                    </a:ext>
                  </a:extLst>
                </a:gridCol>
                <a:gridCol w="5902025">
                  <a:extLst>
                    <a:ext uri="{9D8B030D-6E8A-4147-A177-3AD203B41FA5}">
                      <a16:colId xmlns:a16="http://schemas.microsoft.com/office/drawing/2014/main" val="20001"/>
                    </a:ext>
                  </a:extLst>
                </a:gridCol>
              </a:tblGrid>
              <a:tr h="438600">
                <a:tc>
                  <a:txBody>
                    <a:bodyPr/>
                    <a:lstStyle/>
                    <a:p>
                      <a:pPr marL="0" marR="0" lvl="0" indent="0" algn="ctr" rtl="0">
                        <a:lnSpc>
                          <a:spcPct val="100000"/>
                        </a:lnSpc>
                        <a:spcBef>
                          <a:spcPts val="0"/>
                        </a:spcBef>
                        <a:spcAft>
                          <a:spcPts val="0"/>
                        </a:spcAft>
                        <a:buClr>
                          <a:srgbClr val="000000"/>
                        </a:buClr>
                        <a:buSzPts val="1400"/>
                        <a:buFont typeface="Arial"/>
                        <a:buNone/>
                      </a:pPr>
                      <a:r>
                        <a:rPr lang="es-AR" sz="1400" b="1" u="none" strike="noStrike" cap="none">
                          <a:solidFill>
                            <a:srgbClr val="000000"/>
                          </a:solidFill>
                        </a:rPr>
                        <a:t>RESTRICCIÓN</a:t>
                      </a:r>
                      <a:endParaRPr sz="1400" b="1" u="none" strike="noStrike" cap="none">
                        <a:solidFill>
                          <a:srgbClr val="000000"/>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AEABAB"/>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s-AR" sz="1400" b="1" u="none" strike="noStrike" cap="none">
                          <a:solidFill>
                            <a:srgbClr val="000000"/>
                          </a:solidFill>
                        </a:rPr>
                        <a:t>FUNCIÓN</a:t>
                      </a:r>
                      <a:endParaRPr sz="1400" b="1" u="none" strike="noStrike" cap="none">
                        <a:solidFill>
                          <a:srgbClr val="000000"/>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AEABAB"/>
                    </a:solidFill>
                  </a:tcPr>
                </a:tc>
                <a:extLst>
                  <a:ext uri="{0D108BD9-81ED-4DB2-BD59-A6C34878D82A}">
                    <a16:rowId xmlns:a16="http://schemas.microsoft.com/office/drawing/2014/main" val="10000"/>
                  </a:ext>
                </a:extLst>
              </a:tr>
              <a:tr h="612825">
                <a:tc>
                  <a:txBody>
                    <a:bodyPr/>
                    <a:lstStyle/>
                    <a:p>
                      <a:pPr marL="0" marR="0" lvl="0" indent="0" algn="ctr" rtl="0">
                        <a:lnSpc>
                          <a:spcPct val="100000"/>
                        </a:lnSpc>
                        <a:spcBef>
                          <a:spcPts val="0"/>
                        </a:spcBef>
                        <a:spcAft>
                          <a:spcPts val="0"/>
                        </a:spcAft>
                        <a:buClr>
                          <a:srgbClr val="000000"/>
                        </a:buClr>
                        <a:buSzPts val="1400"/>
                        <a:buFont typeface="Arial"/>
                        <a:buNone/>
                      </a:pPr>
                      <a:r>
                        <a:rPr lang="es-AR" sz="1400" b="1" u="none" strike="noStrike" cap="none">
                          <a:solidFill>
                            <a:schemeClr val="lt1"/>
                          </a:solidFill>
                        </a:rPr>
                        <a:t>NOT NULL</a:t>
                      </a:r>
                      <a:endParaRPr sz="1400" b="1"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s-AR" sz="1400" u="none" strike="noStrike" cap="none">
                          <a:solidFill>
                            <a:schemeClr val="lt1"/>
                          </a:solidFill>
                        </a:rPr>
                        <a:t>Cuando se asigna este modificador a un campo, la carga del dato en ese campo es obligatoria; es decir, no puede quedar vacío.</a:t>
                      </a:r>
                      <a:endParaRPr sz="14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1117500">
                <a:tc>
                  <a:txBody>
                    <a:bodyPr/>
                    <a:lstStyle/>
                    <a:p>
                      <a:pPr marL="0" marR="0" lvl="0" indent="0" algn="ctr" rtl="0">
                        <a:lnSpc>
                          <a:spcPct val="100000"/>
                        </a:lnSpc>
                        <a:spcBef>
                          <a:spcPts val="0"/>
                        </a:spcBef>
                        <a:spcAft>
                          <a:spcPts val="0"/>
                        </a:spcAft>
                        <a:buClr>
                          <a:srgbClr val="000000"/>
                        </a:buClr>
                        <a:buSzPts val="1400"/>
                        <a:buFont typeface="Arial"/>
                        <a:buNone/>
                      </a:pPr>
                      <a:r>
                        <a:rPr lang="es-AR" sz="1400" b="1" u="none" strike="noStrike" cap="none">
                          <a:solidFill>
                            <a:schemeClr val="lt1"/>
                          </a:solidFill>
                        </a:rPr>
                        <a:t>PRIMARY KEY</a:t>
                      </a:r>
                      <a:endParaRPr sz="1400" b="1"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s-AR" sz="1400" u="none" strike="noStrike" cap="none">
                          <a:solidFill>
                            <a:schemeClr val="lt1"/>
                          </a:solidFill>
                        </a:rPr>
                        <a:t>Cuando se asigna esta restricción a un campo, dicho campo no admitirá la carga de valores repetidos o duplicados. Además, será el campo a relacionar con otras tablas de la base de datos. Sólo puede existir un </a:t>
                      </a:r>
                      <a:r>
                        <a:rPr lang="es-AR" sz="1400" b="1" u="none" strike="noStrike" cap="none">
                          <a:solidFill>
                            <a:schemeClr val="lt1"/>
                          </a:solidFill>
                        </a:rPr>
                        <a:t>Primary Key</a:t>
                      </a:r>
                      <a:r>
                        <a:rPr lang="es-AR" sz="1400" b="0" u="none" strike="noStrike" cap="none">
                          <a:solidFill>
                            <a:schemeClr val="lt1"/>
                          </a:solidFill>
                        </a:rPr>
                        <a:t> por tabla.</a:t>
                      </a:r>
                      <a:endParaRPr sz="14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r h="865175">
                <a:tc>
                  <a:txBody>
                    <a:bodyPr/>
                    <a:lstStyle/>
                    <a:p>
                      <a:pPr marL="0" marR="0" lvl="0" indent="0" algn="ctr" rtl="0">
                        <a:lnSpc>
                          <a:spcPct val="100000"/>
                        </a:lnSpc>
                        <a:spcBef>
                          <a:spcPts val="0"/>
                        </a:spcBef>
                        <a:spcAft>
                          <a:spcPts val="0"/>
                        </a:spcAft>
                        <a:buClr>
                          <a:srgbClr val="000000"/>
                        </a:buClr>
                        <a:buSzPts val="1400"/>
                        <a:buFont typeface="Arial"/>
                        <a:buNone/>
                      </a:pPr>
                      <a:r>
                        <a:rPr lang="es-AR" sz="1400" b="1" u="none" strike="noStrike" cap="none">
                          <a:solidFill>
                            <a:schemeClr val="lt1"/>
                          </a:solidFill>
                        </a:rPr>
                        <a:t>UNIQUE</a:t>
                      </a:r>
                      <a:endParaRPr sz="1400" b="1"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s-AR" sz="1400" u="none" strike="noStrike" cap="none">
                          <a:solidFill>
                            <a:schemeClr val="lt1"/>
                          </a:solidFill>
                        </a:rPr>
                        <a:t>Cuando se asigna esta restricción a un campo, dicho campo no admitirá la carga de valores repetidos o duplicados. Puede existir más de un campo con esta restricción dentro de una tabla.</a:t>
                      </a:r>
                      <a:endParaRPr sz="1400" u="none" strike="noStrike" cap="none">
                        <a:solidFill>
                          <a:schemeClr val="lt1"/>
                        </a:solidFill>
                      </a:endParaRPr>
                    </a:p>
                  </a:txBody>
                  <a:tcPr marL="91450" marR="91450"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364" name="Google Shape;364;p26"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75"/>
        <p:cNvGrpSpPr/>
        <p:nvPr/>
      </p:nvGrpSpPr>
      <p:grpSpPr>
        <a:xfrm>
          <a:off x="0" y="0"/>
          <a:ext cx="0" cy="0"/>
          <a:chOff x="0" y="0"/>
          <a:chExt cx="0" cy="0"/>
        </a:xfrm>
      </p:grpSpPr>
      <p:sp>
        <p:nvSpPr>
          <p:cNvPr id="376" name="Google Shape;376;p28"/>
          <p:cNvSpPr txBox="1"/>
          <p:nvPr/>
        </p:nvSpPr>
        <p:spPr>
          <a:xfrm>
            <a:off x="621974" y="2807277"/>
            <a:ext cx="5917371" cy="444584"/>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Roboto"/>
                <a:ea typeface="Roboto"/>
                <a:cs typeface="Roboto"/>
                <a:sym typeface="Roboto"/>
              </a:rPr>
              <a:t>Recuerda: </a:t>
            </a:r>
            <a:endParaRPr sz="1400" b="0" i="0" u="none" strike="noStrike" cap="none">
              <a:solidFill>
                <a:srgbClr val="000000"/>
              </a:solidFill>
              <a:latin typeface="Arial"/>
              <a:ea typeface="Arial"/>
              <a:cs typeface="Arial"/>
              <a:sym typeface="Arial"/>
            </a:endParaRPr>
          </a:p>
          <a:p>
            <a:pPr marL="522287" marR="38100" lvl="0" indent="-342900" algn="l" rtl="0">
              <a:lnSpc>
                <a:spcPct val="128571"/>
              </a:lnSpc>
              <a:spcBef>
                <a:spcPts val="60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A cada campo o columna de una tabla se le debe asignar obligatoriamente un tipo de dato. </a:t>
            </a:r>
            <a:endParaRPr sz="1400" b="0" i="0" u="none" strike="noStrike" cap="none">
              <a:solidFill>
                <a:srgbClr val="000000"/>
              </a:solidFill>
              <a:latin typeface="Arial"/>
              <a:ea typeface="Arial"/>
              <a:cs typeface="Arial"/>
              <a:sym typeface="Arial"/>
            </a:endParaRPr>
          </a:p>
          <a:p>
            <a:pPr marL="522287" marR="38100" lvl="0" indent="-342900" algn="l" rtl="0">
              <a:lnSpc>
                <a:spcPct val="128571"/>
              </a:lnSpc>
              <a:spcBef>
                <a:spcPts val="60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Las restricciones son opcionales.</a:t>
            </a:r>
            <a:endParaRPr sz="1400" b="0" i="0" u="none" strike="noStrike" cap="none">
              <a:solidFill>
                <a:srgbClr val="000000"/>
              </a:solidFill>
              <a:latin typeface="Arial"/>
              <a:ea typeface="Arial"/>
              <a:cs typeface="Arial"/>
              <a:sym typeface="Arial"/>
            </a:endParaRPr>
          </a:p>
          <a:p>
            <a:pPr marL="522287" marR="38100" lvl="0" indent="-342900" algn="l" rtl="0">
              <a:lnSpc>
                <a:spcPct val="128571"/>
              </a:lnSpc>
              <a:spcBef>
                <a:spcPts val="600"/>
              </a:spcBef>
              <a:spcAft>
                <a:spcPts val="60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Un campo puede tener asociado ninguna, una o varias restricciones.</a:t>
            </a:r>
            <a:endParaRPr sz="2900" b="0" i="0" u="none" strike="noStrike" cap="none">
              <a:solidFill>
                <a:schemeClr val="lt1"/>
              </a:solidFill>
              <a:latin typeface="Roboto"/>
              <a:ea typeface="Roboto"/>
              <a:cs typeface="Roboto"/>
              <a:sym typeface="Roboto"/>
            </a:endParaRPr>
          </a:p>
        </p:txBody>
      </p:sp>
      <p:sp>
        <p:nvSpPr>
          <p:cNvPr id="377" name="Google Shape;377;p28"/>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TIPOS DE DATOS / RESTRICCIONES</a:t>
            </a:r>
            <a:endParaRPr sz="4000" b="0" i="0" u="none" strike="noStrike" cap="none">
              <a:solidFill>
                <a:schemeClr val="lt1"/>
              </a:solidFill>
              <a:latin typeface="Arial"/>
              <a:ea typeface="Arial"/>
              <a:cs typeface="Arial"/>
              <a:sym typeface="Arial"/>
            </a:endParaRPr>
          </a:p>
        </p:txBody>
      </p:sp>
      <p:pic>
        <p:nvPicPr>
          <p:cNvPr id="378" name="Google Shape;378;p28"/>
          <p:cNvPicPr preferRelativeResize="0"/>
          <p:nvPr/>
        </p:nvPicPr>
        <p:blipFill rotWithShape="1">
          <a:blip r:embed="rId4">
            <a:alphaModFix/>
          </a:blip>
          <a:srcRect/>
          <a:stretch/>
        </p:blipFill>
        <p:spPr>
          <a:xfrm>
            <a:off x="6345262" y="1572492"/>
            <a:ext cx="2639290" cy="2639290"/>
          </a:xfrm>
          <a:prstGeom prst="rect">
            <a:avLst/>
          </a:prstGeom>
          <a:noFill/>
          <a:ln>
            <a:noFill/>
          </a:ln>
        </p:spPr>
      </p:pic>
      <p:pic>
        <p:nvPicPr>
          <p:cNvPr id="379" name="Google Shape;379;p28" descr="Blog | Coderhouse"/>
          <p:cNvPicPr preferRelativeResize="0"/>
          <p:nvPr/>
        </p:nvPicPr>
        <p:blipFill rotWithShape="1">
          <a:blip r:embed="rId5">
            <a:alphaModFix/>
          </a:blip>
          <a:srcRect/>
          <a:stretch/>
        </p:blipFill>
        <p:spPr>
          <a:xfrm>
            <a:off x="7598964" y="4569570"/>
            <a:ext cx="1221186" cy="260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19"/>
        <p:cNvGrpSpPr/>
        <p:nvPr/>
      </p:nvGrpSpPr>
      <p:grpSpPr>
        <a:xfrm>
          <a:off x="0" y="0"/>
          <a:ext cx="0" cy="0"/>
          <a:chOff x="0" y="0"/>
          <a:chExt cx="0" cy="0"/>
        </a:xfrm>
      </p:grpSpPr>
      <p:sp>
        <p:nvSpPr>
          <p:cNvPr id="420" name="Google Shape;420;p33"/>
          <p:cNvSpPr txBox="1"/>
          <p:nvPr/>
        </p:nvSpPr>
        <p:spPr>
          <a:xfrm>
            <a:off x="772182" y="2037443"/>
            <a:ext cx="7510758"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s-AR" sz="6600" b="0" i="1" u="none" strike="noStrike" cap="none">
                <a:solidFill>
                  <a:schemeClr val="lt1"/>
                </a:solidFill>
                <a:latin typeface="Anton"/>
                <a:ea typeface="Anton"/>
                <a:cs typeface="Anton"/>
                <a:sym typeface="Anton"/>
              </a:rPr>
              <a:t>CLAVES EN LAS TABLAS</a:t>
            </a:r>
            <a:endParaRPr sz="6600" b="0" i="1" u="none" strike="noStrike" cap="none">
              <a:solidFill>
                <a:schemeClr val="lt1"/>
              </a:solidFill>
              <a:latin typeface="Anton"/>
              <a:ea typeface="Anton"/>
              <a:cs typeface="Anton"/>
              <a:sym typeface="Anton"/>
            </a:endParaRPr>
          </a:p>
        </p:txBody>
      </p:sp>
      <p:pic>
        <p:nvPicPr>
          <p:cNvPr id="421" name="Google Shape;421;p33"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25"/>
        <p:cNvGrpSpPr/>
        <p:nvPr/>
      </p:nvGrpSpPr>
      <p:grpSpPr>
        <a:xfrm>
          <a:off x="0" y="0"/>
          <a:ext cx="0" cy="0"/>
          <a:chOff x="0" y="0"/>
          <a:chExt cx="0" cy="0"/>
        </a:xfrm>
      </p:grpSpPr>
      <p:sp>
        <p:nvSpPr>
          <p:cNvPr id="426" name="Google Shape;426;p34"/>
          <p:cNvSpPr/>
          <p:nvPr/>
        </p:nvSpPr>
        <p:spPr>
          <a:xfrm>
            <a:off x="6479635" y="3077206"/>
            <a:ext cx="2042400" cy="1180963"/>
          </a:xfrm>
          <a:prstGeom prst="roundRect">
            <a:avLst>
              <a:gd name="adj" fmla="val 16667"/>
            </a:avLst>
          </a:prstGeom>
          <a:solidFill>
            <a:srgbClr val="00B0F0"/>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6600" b="0" i="0" u="none" strike="noStrike" cap="none">
              <a:solidFill>
                <a:srgbClr val="000000"/>
              </a:solidFill>
              <a:latin typeface="Arial"/>
              <a:ea typeface="Arial"/>
              <a:cs typeface="Arial"/>
              <a:sym typeface="Arial"/>
            </a:endParaRPr>
          </a:p>
        </p:txBody>
      </p:sp>
      <p:sp>
        <p:nvSpPr>
          <p:cNvPr id="427" name="Google Shape;427;p34"/>
          <p:cNvSpPr/>
          <p:nvPr/>
        </p:nvSpPr>
        <p:spPr>
          <a:xfrm>
            <a:off x="7525673" y="2063968"/>
            <a:ext cx="1271030" cy="1180963"/>
          </a:xfrm>
          <a:prstGeom prst="roundRect">
            <a:avLst>
              <a:gd name="adj" fmla="val 16667"/>
            </a:avLst>
          </a:prstGeom>
          <a:solidFill>
            <a:srgbClr val="FF99CC"/>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6600" b="0" i="0" u="none" strike="noStrike" cap="none">
              <a:solidFill>
                <a:srgbClr val="000000"/>
              </a:solidFill>
              <a:latin typeface="Arial"/>
              <a:ea typeface="Arial"/>
              <a:cs typeface="Arial"/>
              <a:sym typeface="Arial"/>
            </a:endParaRPr>
          </a:p>
        </p:txBody>
      </p:sp>
      <p:sp>
        <p:nvSpPr>
          <p:cNvPr id="428" name="Google Shape;428;p34"/>
          <p:cNvSpPr/>
          <p:nvPr/>
        </p:nvSpPr>
        <p:spPr>
          <a:xfrm>
            <a:off x="6464595" y="1212613"/>
            <a:ext cx="1271030" cy="1180963"/>
          </a:xfrm>
          <a:prstGeom prst="roundRect">
            <a:avLst>
              <a:gd name="adj" fmla="val 16667"/>
            </a:avLst>
          </a:prstGeom>
          <a:solidFill>
            <a:srgbClr val="49F559"/>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6600" b="0" i="0" u="none" strike="noStrike" cap="none">
              <a:solidFill>
                <a:srgbClr val="000000"/>
              </a:solidFill>
              <a:latin typeface="Arial"/>
              <a:ea typeface="Arial"/>
              <a:cs typeface="Arial"/>
              <a:sym typeface="Arial"/>
            </a:endParaRPr>
          </a:p>
        </p:txBody>
      </p:sp>
      <p:sp>
        <p:nvSpPr>
          <p:cNvPr id="429" name="Google Shape;429;p34"/>
          <p:cNvSpPr txBox="1"/>
          <p:nvPr/>
        </p:nvSpPr>
        <p:spPr>
          <a:xfrm>
            <a:off x="483575" y="1239525"/>
            <a:ext cx="5879850" cy="3524100"/>
          </a:xfrm>
          <a:prstGeom prst="rect">
            <a:avLst/>
          </a:prstGeom>
          <a:noFill/>
          <a:ln>
            <a:noFill/>
          </a:ln>
        </p:spPr>
        <p:txBody>
          <a:bodyPr spcFirstLastPara="1" wrap="square" lIns="91425" tIns="91425" rIns="91425" bIns="91425" anchor="ctr" anchorCtr="0">
            <a:noAutofit/>
          </a:bodyPr>
          <a:lstStyle/>
          <a:p>
            <a:pPr marL="400050" marR="0" lvl="0" indent="-285750" algn="l" rtl="0">
              <a:lnSpc>
                <a:spcPct val="115000"/>
              </a:lnSpc>
              <a:spcBef>
                <a:spcPts val="0"/>
              </a:spcBef>
              <a:spcAft>
                <a:spcPts val="0"/>
              </a:spcAft>
              <a:buClr>
                <a:schemeClr val="lt1"/>
              </a:buClr>
              <a:buSzPts val="1800"/>
              <a:buFont typeface="Arial"/>
              <a:buChar char="•"/>
            </a:pPr>
            <a:r>
              <a:rPr lang="es-AR" sz="1700" b="1" i="0" u="none" strike="noStrike" cap="none">
                <a:solidFill>
                  <a:schemeClr val="lt1"/>
                </a:solidFill>
                <a:latin typeface="Roboto"/>
                <a:ea typeface="Roboto"/>
                <a:cs typeface="Roboto"/>
                <a:sym typeface="Roboto"/>
              </a:rPr>
              <a:t>Clave Primaria PK</a:t>
            </a:r>
            <a:r>
              <a:rPr lang="es-AR" sz="1700" b="0" i="0" u="none" strike="noStrike" cap="none">
                <a:solidFill>
                  <a:schemeClr val="lt1"/>
                </a:solidFill>
                <a:latin typeface="Roboto"/>
                <a:ea typeface="Roboto"/>
                <a:cs typeface="Roboto"/>
                <a:sym typeface="Roboto"/>
              </a:rPr>
              <a:t>: también llamada Llave Primaria o Primary Key, hace que el </a:t>
            </a:r>
            <a:r>
              <a:rPr lang="es-AR" sz="1700" b="1" i="0" u="none" strike="noStrike" cap="none">
                <a:solidFill>
                  <a:schemeClr val="lt1"/>
                </a:solidFill>
                <a:latin typeface="Roboto"/>
                <a:ea typeface="Roboto"/>
                <a:cs typeface="Roboto"/>
                <a:sym typeface="Roboto"/>
              </a:rPr>
              <a:t>registro </a:t>
            </a:r>
            <a:r>
              <a:rPr lang="es-AR" sz="1700" b="0" i="0" u="none" strike="noStrike" cap="none">
                <a:solidFill>
                  <a:schemeClr val="lt1"/>
                </a:solidFill>
                <a:latin typeface="Roboto"/>
                <a:ea typeface="Roboto"/>
                <a:cs typeface="Roboto"/>
                <a:sym typeface="Roboto"/>
              </a:rPr>
              <a:t>sea </a:t>
            </a:r>
            <a:r>
              <a:rPr lang="es-AR" sz="1700" b="1" i="0" u="none" strike="noStrike" cap="none">
                <a:solidFill>
                  <a:schemeClr val="lt1"/>
                </a:solidFill>
                <a:latin typeface="Roboto"/>
                <a:ea typeface="Roboto"/>
                <a:cs typeface="Roboto"/>
                <a:sym typeface="Roboto"/>
              </a:rPr>
              <a:t>unívoco </a:t>
            </a:r>
            <a:r>
              <a:rPr lang="es-AR" sz="1700" b="0" i="0" u="none" strike="noStrike" cap="none">
                <a:solidFill>
                  <a:schemeClr val="lt1"/>
                </a:solidFill>
                <a:latin typeface="Roboto"/>
                <a:ea typeface="Roboto"/>
                <a:cs typeface="Roboto"/>
                <a:sym typeface="Roboto"/>
              </a:rPr>
              <a:t>y obligatoriamente </a:t>
            </a:r>
            <a:r>
              <a:rPr lang="es-AR" sz="1700" b="1" i="0" u="none" strike="noStrike" cap="none">
                <a:solidFill>
                  <a:schemeClr val="lt1"/>
                </a:solidFill>
                <a:latin typeface="Roboto"/>
                <a:ea typeface="Roboto"/>
                <a:cs typeface="Roboto"/>
                <a:sym typeface="Roboto"/>
              </a:rPr>
              <a:t>no nulo</a:t>
            </a:r>
            <a:r>
              <a:rPr lang="es-AR" sz="1700" b="0" i="0" u="none" strike="noStrike" cap="none">
                <a:solidFill>
                  <a:schemeClr val="lt1"/>
                </a:solidFill>
                <a:latin typeface="Roboto"/>
                <a:ea typeface="Roboto"/>
                <a:cs typeface="Roboto"/>
                <a:sym typeface="Roboto"/>
              </a:rPr>
              <a:t>.</a:t>
            </a:r>
            <a:endParaRPr sz="1700" b="0" i="0" u="none" strike="noStrike" cap="none">
              <a:solidFill>
                <a:schemeClr val="lt1"/>
              </a:solidFill>
              <a:latin typeface="Roboto"/>
              <a:ea typeface="Roboto"/>
              <a:cs typeface="Roboto"/>
              <a:sym typeface="Roboto"/>
            </a:endParaRPr>
          </a:p>
          <a:p>
            <a:pPr marL="400050" marR="0" lvl="0" indent="-285750" algn="l" rtl="0">
              <a:lnSpc>
                <a:spcPct val="115000"/>
              </a:lnSpc>
              <a:spcBef>
                <a:spcPts val="1200"/>
              </a:spcBef>
              <a:spcAft>
                <a:spcPts val="0"/>
              </a:spcAft>
              <a:buClr>
                <a:schemeClr val="lt1"/>
              </a:buClr>
              <a:buSzPts val="1800"/>
              <a:buFont typeface="Arial"/>
              <a:buChar char="•"/>
            </a:pPr>
            <a:r>
              <a:rPr lang="es-AR" sz="1700" b="1" i="0" u="none" strike="noStrike" cap="none">
                <a:solidFill>
                  <a:schemeClr val="lt1"/>
                </a:solidFill>
                <a:latin typeface="Roboto"/>
                <a:ea typeface="Roboto"/>
                <a:cs typeface="Roboto"/>
                <a:sym typeface="Roboto"/>
              </a:rPr>
              <a:t>Clave Foránea FK</a:t>
            </a:r>
            <a:r>
              <a:rPr lang="es-AR" sz="1700" b="0" i="0" u="none" strike="noStrike" cap="none">
                <a:solidFill>
                  <a:schemeClr val="lt1"/>
                </a:solidFill>
                <a:latin typeface="Roboto"/>
                <a:ea typeface="Roboto"/>
                <a:cs typeface="Roboto"/>
                <a:sym typeface="Roboto"/>
              </a:rPr>
              <a:t>: también llamada Foreign Key, Clave Secundaria o Clave Externa, puede ser (o no) una Clave Primaria dentro de la tabla. Su característica es que es el punto de enlace con otra tabla donde el campo es Primary Key.</a:t>
            </a:r>
            <a:endParaRPr sz="1700" b="0" i="0" u="none" strike="noStrike" cap="none">
              <a:solidFill>
                <a:schemeClr val="lt1"/>
              </a:solidFill>
              <a:latin typeface="Roboto"/>
              <a:ea typeface="Roboto"/>
              <a:cs typeface="Roboto"/>
              <a:sym typeface="Roboto"/>
            </a:endParaRPr>
          </a:p>
          <a:p>
            <a:pPr marL="406400" marR="0" lvl="0" indent="-285750" algn="l" rtl="0">
              <a:lnSpc>
                <a:spcPct val="115000"/>
              </a:lnSpc>
              <a:spcBef>
                <a:spcPts val="1200"/>
              </a:spcBef>
              <a:spcAft>
                <a:spcPts val="1200"/>
              </a:spcAft>
              <a:buClr>
                <a:schemeClr val="lt1"/>
              </a:buClr>
              <a:buSzPts val="1700"/>
              <a:buFont typeface="Arial"/>
              <a:buChar char="•"/>
            </a:pPr>
            <a:r>
              <a:rPr lang="es-AR" sz="1700" b="1" i="0" u="none" strike="noStrike" cap="none">
                <a:solidFill>
                  <a:schemeClr val="lt1"/>
                </a:solidFill>
                <a:latin typeface="Roboto"/>
                <a:ea typeface="Roboto"/>
                <a:cs typeface="Roboto"/>
                <a:sym typeface="Roboto"/>
              </a:rPr>
              <a:t>Clave Índice</a:t>
            </a:r>
            <a:r>
              <a:rPr lang="es-AR" sz="1700" b="0" i="0" u="none" strike="noStrike" cap="none">
                <a:solidFill>
                  <a:schemeClr val="lt1"/>
                </a:solidFill>
                <a:latin typeface="Roboto"/>
                <a:ea typeface="Roboto"/>
                <a:cs typeface="Roboto"/>
                <a:sym typeface="Roboto"/>
              </a:rPr>
              <a:t>: es un campo que </a:t>
            </a:r>
            <a:r>
              <a:rPr lang="es-AR" sz="1700" b="1" i="0" u="none" strike="noStrike" cap="none">
                <a:solidFill>
                  <a:schemeClr val="lt1"/>
                </a:solidFill>
                <a:latin typeface="Roboto"/>
                <a:ea typeface="Roboto"/>
                <a:cs typeface="Roboto"/>
                <a:sym typeface="Roboto"/>
              </a:rPr>
              <a:t>facilita la búsqueda </a:t>
            </a:r>
            <a:r>
              <a:rPr lang="es-AR" sz="1700" b="0" i="0" u="none" strike="noStrike" cap="none">
                <a:solidFill>
                  <a:schemeClr val="lt1"/>
                </a:solidFill>
                <a:latin typeface="Roboto"/>
                <a:ea typeface="Roboto"/>
                <a:cs typeface="Roboto"/>
                <a:sym typeface="Roboto"/>
              </a:rPr>
              <a:t>dentro de una tabla. Generalmente son campos Primary Key.</a:t>
            </a:r>
            <a:endParaRPr sz="2800" b="0" i="0" u="none" strike="noStrike" cap="none">
              <a:solidFill>
                <a:schemeClr val="lt1"/>
              </a:solidFill>
              <a:latin typeface="Roboto"/>
              <a:ea typeface="Roboto"/>
              <a:cs typeface="Roboto"/>
              <a:sym typeface="Roboto"/>
            </a:endParaRPr>
          </a:p>
        </p:txBody>
      </p:sp>
      <p:sp>
        <p:nvSpPr>
          <p:cNvPr id="430" name="Google Shape;430;p34"/>
          <p:cNvSpPr txBox="1"/>
          <p:nvPr/>
        </p:nvSpPr>
        <p:spPr>
          <a:xfrm>
            <a:off x="7499000" y="2104836"/>
            <a:ext cx="1099923" cy="1180964"/>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s-AR" sz="5900" b="0" i="1" u="none" strike="noStrike" cap="none">
                <a:solidFill>
                  <a:srgbClr val="000000"/>
                </a:solidFill>
                <a:latin typeface="Anton"/>
                <a:ea typeface="Anton"/>
                <a:cs typeface="Anton"/>
                <a:sym typeface="Anton"/>
              </a:rPr>
              <a:t>FK</a:t>
            </a:r>
            <a:endParaRPr sz="5900" b="0" i="0" u="none" strike="noStrike" cap="none">
              <a:solidFill>
                <a:srgbClr val="000000"/>
              </a:solidFill>
              <a:latin typeface="Arial"/>
              <a:ea typeface="Arial"/>
              <a:cs typeface="Arial"/>
              <a:sym typeface="Arial"/>
            </a:endParaRPr>
          </a:p>
        </p:txBody>
      </p:sp>
      <p:sp>
        <p:nvSpPr>
          <p:cNvPr id="431" name="Google Shape;431;p34"/>
          <p:cNvSpPr txBox="1"/>
          <p:nvPr/>
        </p:nvSpPr>
        <p:spPr>
          <a:xfrm>
            <a:off x="6208625" y="1309050"/>
            <a:ext cx="1527000" cy="126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s-AR" sz="5900" b="0" i="1" u="none" strike="noStrike" cap="none">
                <a:solidFill>
                  <a:srgbClr val="000000"/>
                </a:solidFill>
                <a:latin typeface="Anton"/>
                <a:ea typeface="Anton"/>
                <a:cs typeface="Anton"/>
                <a:sym typeface="Anton"/>
              </a:rPr>
              <a:t>PK</a:t>
            </a:r>
            <a:endParaRPr sz="5900" b="0" i="0" u="none" strike="noStrike" cap="none">
              <a:solidFill>
                <a:srgbClr val="000000"/>
              </a:solidFill>
              <a:latin typeface="Arial"/>
              <a:ea typeface="Arial"/>
              <a:cs typeface="Arial"/>
              <a:sym typeface="Arial"/>
            </a:endParaRPr>
          </a:p>
        </p:txBody>
      </p:sp>
      <p:sp>
        <p:nvSpPr>
          <p:cNvPr id="432" name="Google Shape;432;p34"/>
          <p:cNvSpPr txBox="1"/>
          <p:nvPr/>
        </p:nvSpPr>
        <p:spPr>
          <a:xfrm>
            <a:off x="6363425" y="3204063"/>
            <a:ext cx="2042400" cy="126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r>
              <a:rPr lang="es-AR" sz="5900" b="0" i="1" u="none" strike="noStrike" cap="none">
                <a:solidFill>
                  <a:srgbClr val="000000"/>
                </a:solidFill>
                <a:latin typeface="Anton"/>
                <a:ea typeface="Anton"/>
                <a:cs typeface="Anton"/>
                <a:sym typeface="Anton"/>
              </a:rPr>
              <a:t>INDEX</a:t>
            </a:r>
            <a:endParaRPr sz="5900" b="0" i="0" u="none" strike="noStrike" cap="none">
              <a:solidFill>
                <a:srgbClr val="000000"/>
              </a:solidFill>
              <a:latin typeface="Arial"/>
              <a:ea typeface="Arial"/>
              <a:cs typeface="Arial"/>
              <a:sym typeface="Arial"/>
            </a:endParaRPr>
          </a:p>
        </p:txBody>
      </p:sp>
      <p:sp>
        <p:nvSpPr>
          <p:cNvPr id="433" name="Google Shape;433;p34"/>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LÓGICAS</a:t>
            </a:r>
            <a:endParaRPr sz="4000" b="0" i="0" u="none" strike="noStrike" cap="none">
              <a:solidFill>
                <a:schemeClr val="lt1"/>
              </a:solidFill>
              <a:latin typeface="Arial"/>
              <a:ea typeface="Arial"/>
              <a:cs typeface="Arial"/>
              <a:sym typeface="Arial"/>
            </a:endParaRPr>
          </a:p>
        </p:txBody>
      </p:sp>
      <p:pic>
        <p:nvPicPr>
          <p:cNvPr id="434" name="Google Shape;434;p34"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6"/>
        <p:cNvGrpSpPr/>
        <p:nvPr/>
      </p:nvGrpSpPr>
      <p:grpSpPr>
        <a:xfrm>
          <a:off x="0" y="0"/>
          <a:ext cx="0" cy="0"/>
          <a:chOff x="0" y="0"/>
          <a:chExt cx="0" cy="0"/>
        </a:xfrm>
      </p:grpSpPr>
      <p:sp>
        <p:nvSpPr>
          <p:cNvPr id="447" name="Google Shape;447;p36"/>
          <p:cNvSpPr txBox="1"/>
          <p:nvPr/>
        </p:nvSpPr>
        <p:spPr>
          <a:xfrm>
            <a:off x="591606" y="2037443"/>
            <a:ext cx="787191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s-AR" sz="7200" b="0" i="1" u="none" strike="noStrike" cap="none">
                <a:solidFill>
                  <a:schemeClr val="lt1"/>
                </a:solidFill>
                <a:latin typeface="Anton"/>
                <a:ea typeface="Anton"/>
                <a:cs typeface="Anton"/>
                <a:sym typeface="Anton"/>
              </a:rPr>
              <a:t>TIPOS DE RELACIONES</a:t>
            </a:r>
            <a:endParaRPr sz="7200" b="0" i="1" u="none" strike="noStrike" cap="none">
              <a:solidFill>
                <a:schemeClr val="lt1"/>
              </a:solidFill>
              <a:latin typeface="Anton"/>
              <a:ea typeface="Anton"/>
              <a:cs typeface="Anton"/>
              <a:sym typeface="Anton"/>
            </a:endParaRPr>
          </a:p>
        </p:txBody>
      </p:sp>
      <p:pic>
        <p:nvPicPr>
          <p:cNvPr id="448" name="Google Shape;448;p36" descr="Blog | Coderhouse"/>
          <p:cNvPicPr preferRelativeResize="0"/>
          <p:nvPr/>
        </p:nvPicPr>
        <p:blipFill rotWithShape="1">
          <a:blip r:embed="rId4">
            <a:alphaModFix/>
          </a:blip>
          <a:srcRect/>
          <a:stretch/>
        </p:blipFill>
        <p:spPr>
          <a:xfrm>
            <a:off x="7598964" y="4569570"/>
            <a:ext cx="1221186" cy="2603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6"/>
        <p:cNvGrpSpPr/>
        <p:nvPr/>
      </p:nvGrpSpPr>
      <p:grpSpPr>
        <a:xfrm>
          <a:off x="0" y="0"/>
          <a:ext cx="0" cy="0"/>
          <a:chOff x="0" y="0"/>
          <a:chExt cx="0" cy="0"/>
        </a:xfrm>
      </p:grpSpPr>
      <p:sp>
        <p:nvSpPr>
          <p:cNvPr id="447" name="Google Shape;447;p36"/>
          <p:cNvSpPr txBox="1"/>
          <p:nvPr/>
        </p:nvSpPr>
        <p:spPr>
          <a:xfrm>
            <a:off x="88798" y="1038959"/>
            <a:ext cx="3468413" cy="1988019"/>
          </a:xfrm>
          <a:prstGeom prst="rect">
            <a:avLst/>
          </a:prstGeom>
          <a:noFill/>
          <a:ln>
            <a:noFill/>
          </a:ln>
        </p:spPr>
        <p:txBody>
          <a:bodyPr spcFirstLastPara="1" wrap="square" lIns="91425" tIns="91425" rIns="91425" bIns="91425" anchor="ctr" anchorCtr="0">
            <a:noAutofit/>
          </a:bodyPr>
          <a:lstStyle/>
          <a:p>
            <a:pPr algn="ctr">
              <a:buSzPts val="3600"/>
            </a:pPr>
            <a:r>
              <a:rPr lang="es-MX" sz="7200" i="1" dirty="0">
                <a:solidFill>
                  <a:srgbClr val="FFFFFF"/>
                </a:solidFill>
                <a:latin typeface="Anton"/>
                <a:ea typeface="Anton"/>
                <a:cs typeface="Anton"/>
                <a:sym typeface="Anton"/>
              </a:rPr>
              <a:t>RELACION 1:1</a:t>
            </a:r>
            <a:endParaRPr sz="7200" i="1" dirty="0">
              <a:solidFill>
                <a:srgbClr val="FFFFFF"/>
              </a:solidFill>
              <a:latin typeface="Anton"/>
              <a:ea typeface="Anton"/>
              <a:cs typeface="Anton"/>
              <a:sym typeface="Anton"/>
            </a:endParaRPr>
          </a:p>
        </p:txBody>
      </p:sp>
      <p:pic>
        <p:nvPicPr>
          <p:cNvPr id="448" name="Google Shape;448;p36" descr="Blog | Coderhouse"/>
          <p:cNvPicPr preferRelativeResize="0"/>
          <p:nvPr/>
        </p:nvPicPr>
        <p:blipFill rotWithShape="1">
          <a:blip r:embed="rId4">
            <a:alphaModFix/>
          </a:blip>
          <a:srcRect/>
          <a:stretch/>
        </p:blipFill>
        <p:spPr>
          <a:xfrm>
            <a:off x="7651516" y="4685184"/>
            <a:ext cx="1221186" cy="260350"/>
          </a:xfrm>
          <a:prstGeom prst="rect">
            <a:avLst/>
          </a:prstGeom>
          <a:noFill/>
          <a:ln>
            <a:noFill/>
          </a:ln>
        </p:spPr>
      </p:pic>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09507" y="14965"/>
            <a:ext cx="4554605" cy="4554605"/>
          </a:xfrm>
          <a:prstGeom prst="rect">
            <a:avLst/>
          </a:prstGeom>
        </p:spPr>
      </p:pic>
      <p:pic>
        <p:nvPicPr>
          <p:cNvPr id="5" name="Imagen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18903" y="2204128"/>
            <a:ext cx="1132613" cy="1132613"/>
          </a:xfrm>
          <a:prstGeom prst="rect">
            <a:avLst/>
          </a:prstGeom>
        </p:spPr>
      </p:pic>
      <p:pic>
        <p:nvPicPr>
          <p:cNvPr id="6" name="Imagen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69807" y="1667431"/>
            <a:ext cx="1103003" cy="1103003"/>
          </a:xfrm>
          <a:prstGeom prst="rect">
            <a:avLst/>
          </a:prstGeom>
        </p:spPr>
      </p:pic>
      <p:cxnSp>
        <p:nvCxnSpPr>
          <p:cNvPr id="4" name="Conector recto de flecha 3"/>
          <p:cNvCxnSpPr/>
          <p:nvPr/>
        </p:nvCxnSpPr>
        <p:spPr>
          <a:xfrm>
            <a:off x="5472810" y="2218932"/>
            <a:ext cx="1046093" cy="47171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1438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6"/>
        <p:cNvGrpSpPr/>
        <p:nvPr/>
      </p:nvGrpSpPr>
      <p:grpSpPr>
        <a:xfrm>
          <a:off x="0" y="0"/>
          <a:ext cx="0" cy="0"/>
          <a:chOff x="0" y="0"/>
          <a:chExt cx="0" cy="0"/>
        </a:xfrm>
      </p:grpSpPr>
      <p:sp>
        <p:nvSpPr>
          <p:cNvPr id="447" name="Google Shape;447;p36"/>
          <p:cNvSpPr txBox="1"/>
          <p:nvPr/>
        </p:nvSpPr>
        <p:spPr>
          <a:xfrm>
            <a:off x="0" y="1038959"/>
            <a:ext cx="3468413" cy="1988019"/>
          </a:xfrm>
          <a:prstGeom prst="rect">
            <a:avLst/>
          </a:prstGeom>
          <a:noFill/>
          <a:ln>
            <a:noFill/>
          </a:ln>
        </p:spPr>
        <p:txBody>
          <a:bodyPr spcFirstLastPara="1" wrap="square" lIns="91425" tIns="91425" rIns="91425" bIns="91425" anchor="ctr" anchorCtr="0">
            <a:noAutofit/>
          </a:bodyPr>
          <a:lstStyle/>
          <a:p>
            <a:pPr algn="ctr">
              <a:buSzPts val="3600"/>
            </a:pPr>
            <a:r>
              <a:rPr lang="es-MX" sz="7200" i="1" dirty="0">
                <a:solidFill>
                  <a:srgbClr val="FFFFFF"/>
                </a:solidFill>
                <a:latin typeface="Anton"/>
                <a:ea typeface="Anton"/>
                <a:cs typeface="Anton"/>
                <a:sym typeface="Anton"/>
              </a:rPr>
              <a:t>RELACION 1:M</a:t>
            </a:r>
            <a:endParaRPr sz="7200" i="1" dirty="0">
              <a:solidFill>
                <a:srgbClr val="FFFFFF"/>
              </a:solidFill>
              <a:latin typeface="Anton"/>
              <a:ea typeface="Anton"/>
              <a:cs typeface="Anton"/>
              <a:sym typeface="Anton"/>
            </a:endParaRPr>
          </a:p>
        </p:txBody>
      </p:sp>
      <p:pic>
        <p:nvPicPr>
          <p:cNvPr id="448" name="Google Shape;448;p36" descr="Blog | Coderhouse"/>
          <p:cNvPicPr preferRelativeResize="0"/>
          <p:nvPr/>
        </p:nvPicPr>
        <p:blipFill rotWithShape="1">
          <a:blip r:embed="rId4">
            <a:alphaModFix/>
          </a:blip>
          <a:srcRect/>
          <a:stretch/>
        </p:blipFill>
        <p:spPr>
          <a:xfrm>
            <a:off x="7651516" y="4685184"/>
            <a:ext cx="1221186" cy="260350"/>
          </a:xfrm>
          <a:prstGeom prst="rect">
            <a:avLst/>
          </a:prstGeom>
          <a:noFill/>
          <a:ln>
            <a:noFill/>
          </a:ln>
        </p:spPr>
      </p:pic>
      <p:pic>
        <p:nvPicPr>
          <p:cNvPr id="3" name="Imagen 2"/>
          <p:cNvPicPr>
            <a:picLocks noChangeAspect="1"/>
          </p:cNvPicPr>
          <p:nvPr/>
        </p:nvPicPr>
        <p:blipFill rotWithShape="1">
          <a:blip r:embed="rId5">
            <a:extLst>
              <a:ext uri="{28A0092B-C50C-407E-A947-70E740481C1C}">
                <a14:useLocalDpi xmlns:a14="http://schemas.microsoft.com/office/drawing/2010/main" val="0"/>
              </a:ext>
            </a:extLst>
          </a:blip>
          <a:srcRect l="1695" t="6340" r="2876" b="4294"/>
          <a:stretch/>
        </p:blipFill>
        <p:spPr>
          <a:xfrm>
            <a:off x="3372817" y="0"/>
            <a:ext cx="5350763" cy="5007031"/>
          </a:xfrm>
          <a:prstGeom prst="rect">
            <a:avLst/>
          </a:prstGeom>
        </p:spPr>
      </p:pic>
      <p:pic>
        <p:nvPicPr>
          <p:cNvPr id="9" name="Imagen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26455" y="2602295"/>
            <a:ext cx="1450122" cy="1450122"/>
          </a:xfrm>
          <a:prstGeom prst="rect">
            <a:avLst/>
          </a:prstGeom>
        </p:spPr>
      </p:pic>
      <p:pic>
        <p:nvPicPr>
          <p:cNvPr id="10" name="Imagen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82655" y="1539329"/>
            <a:ext cx="1325877" cy="1325877"/>
          </a:xfrm>
          <a:prstGeom prst="rect">
            <a:avLst/>
          </a:prstGeom>
        </p:spPr>
      </p:pic>
      <p:pic>
        <p:nvPicPr>
          <p:cNvPr id="11" name="Imagen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54929" y="2375338"/>
            <a:ext cx="989415" cy="989415"/>
          </a:xfrm>
          <a:prstGeom prst="rect">
            <a:avLst/>
          </a:prstGeom>
        </p:spPr>
      </p:pic>
      <p:cxnSp>
        <p:nvCxnSpPr>
          <p:cNvPr id="4" name="Conector recto de flecha 3"/>
          <p:cNvCxnSpPr/>
          <p:nvPr/>
        </p:nvCxnSpPr>
        <p:spPr>
          <a:xfrm flipV="1">
            <a:off x="5593783" y="2237261"/>
            <a:ext cx="1237077" cy="549503"/>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p:cNvCxnSpPr/>
          <p:nvPr/>
        </p:nvCxnSpPr>
        <p:spPr>
          <a:xfrm>
            <a:off x="5595764" y="3100552"/>
            <a:ext cx="1235096" cy="12612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568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6"/>
        <p:cNvGrpSpPr/>
        <p:nvPr/>
      </p:nvGrpSpPr>
      <p:grpSpPr>
        <a:xfrm>
          <a:off x="0" y="0"/>
          <a:ext cx="0" cy="0"/>
          <a:chOff x="0" y="0"/>
          <a:chExt cx="0" cy="0"/>
        </a:xfrm>
      </p:grpSpPr>
      <p:sp>
        <p:nvSpPr>
          <p:cNvPr id="447" name="Google Shape;447;p36"/>
          <p:cNvSpPr txBox="1"/>
          <p:nvPr/>
        </p:nvSpPr>
        <p:spPr>
          <a:xfrm>
            <a:off x="29705" y="1465517"/>
            <a:ext cx="3468413" cy="1988019"/>
          </a:xfrm>
          <a:prstGeom prst="rect">
            <a:avLst/>
          </a:prstGeom>
          <a:noFill/>
          <a:ln>
            <a:noFill/>
          </a:ln>
        </p:spPr>
        <p:txBody>
          <a:bodyPr spcFirstLastPara="1" wrap="square" lIns="91425" tIns="91425" rIns="91425" bIns="91425" anchor="ctr" anchorCtr="0">
            <a:noAutofit/>
          </a:bodyPr>
          <a:lstStyle/>
          <a:p>
            <a:pPr algn="ctr">
              <a:buSzPts val="3600"/>
            </a:pPr>
            <a:r>
              <a:rPr lang="es-MX" sz="7200" i="1" dirty="0">
                <a:solidFill>
                  <a:srgbClr val="FFFFFF"/>
                </a:solidFill>
                <a:latin typeface="Anton"/>
                <a:ea typeface="Anton"/>
                <a:cs typeface="Anton"/>
                <a:sym typeface="Anton"/>
              </a:rPr>
              <a:t>RELACION N:M</a:t>
            </a:r>
            <a:endParaRPr sz="7200" i="1" dirty="0">
              <a:solidFill>
                <a:srgbClr val="FFFFFF"/>
              </a:solidFill>
              <a:latin typeface="Anton"/>
              <a:ea typeface="Anton"/>
              <a:cs typeface="Anton"/>
              <a:sym typeface="Anton"/>
            </a:endParaRPr>
          </a:p>
        </p:txBody>
      </p:sp>
      <p:pic>
        <p:nvPicPr>
          <p:cNvPr id="448" name="Google Shape;448;p36" descr="Blog | Coderhouse"/>
          <p:cNvPicPr preferRelativeResize="0"/>
          <p:nvPr/>
        </p:nvPicPr>
        <p:blipFill rotWithShape="1">
          <a:blip r:embed="rId4">
            <a:alphaModFix/>
          </a:blip>
          <a:srcRect/>
          <a:stretch/>
        </p:blipFill>
        <p:spPr>
          <a:xfrm>
            <a:off x="7824099" y="4815359"/>
            <a:ext cx="1221186" cy="260350"/>
          </a:xfrm>
          <a:prstGeom prst="rect">
            <a:avLst/>
          </a:prstGeom>
          <a:noFill/>
          <a:ln>
            <a:noFill/>
          </a:ln>
        </p:spPr>
      </p:pic>
      <p:pic>
        <p:nvPicPr>
          <p:cNvPr id="3" name="Imagen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30480" y="-62122"/>
            <a:ext cx="4877481" cy="4877481"/>
          </a:xfrm>
          <a:prstGeom prst="rect">
            <a:avLst/>
          </a:prstGeom>
        </p:spPr>
      </p:pic>
      <p:pic>
        <p:nvPicPr>
          <p:cNvPr id="9" name="Imagen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47999" y="889161"/>
            <a:ext cx="982564" cy="982564"/>
          </a:xfrm>
          <a:prstGeom prst="rect">
            <a:avLst/>
          </a:prstGeom>
        </p:spPr>
      </p:pic>
      <p:pic>
        <p:nvPicPr>
          <p:cNvPr id="10" name="Imagen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62681" y="2168971"/>
            <a:ext cx="1014675" cy="1014675"/>
          </a:xfrm>
          <a:prstGeom prst="rect">
            <a:avLst/>
          </a:prstGeom>
        </p:spPr>
      </p:pic>
      <p:pic>
        <p:nvPicPr>
          <p:cNvPr id="11" name="Imagen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84422" y="1084620"/>
            <a:ext cx="1253812" cy="1253812"/>
          </a:xfrm>
          <a:prstGeom prst="rect">
            <a:avLst/>
          </a:prstGeom>
        </p:spPr>
      </p:pic>
      <p:pic>
        <p:nvPicPr>
          <p:cNvPr id="12" name="Imagen 1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26191" y="2598782"/>
            <a:ext cx="1169728" cy="1169728"/>
          </a:xfrm>
          <a:prstGeom prst="rect">
            <a:avLst/>
          </a:prstGeom>
        </p:spPr>
      </p:pic>
      <p:cxnSp>
        <p:nvCxnSpPr>
          <p:cNvPr id="4" name="Conector recto de flecha 3"/>
          <p:cNvCxnSpPr/>
          <p:nvPr/>
        </p:nvCxnSpPr>
        <p:spPr>
          <a:xfrm>
            <a:off x="5493695" y="2049517"/>
            <a:ext cx="1098843" cy="43738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p:cNvCxnSpPr/>
          <p:nvPr/>
        </p:nvCxnSpPr>
        <p:spPr>
          <a:xfrm flipV="1">
            <a:off x="5527398" y="1234942"/>
            <a:ext cx="1065140" cy="55367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p:cNvCxnSpPr/>
          <p:nvPr/>
        </p:nvCxnSpPr>
        <p:spPr>
          <a:xfrm>
            <a:off x="5527398" y="2966041"/>
            <a:ext cx="1103972" cy="23345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p:cNvCxnSpPr/>
          <p:nvPr/>
        </p:nvCxnSpPr>
        <p:spPr>
          <a:xfrm flipV="1">
            <a:off x="5518901" y="1711527"/>
            <a:ext cx="1031802" cy="114998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2221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97"/>
        <p:cNvGrpSpPr/>
        <p:nvPr/>
      </p:nvGrpSpPr>
      <p:grpSpPr>
        <a:xfrm>
          <a:off x="0" y="0"/>
          <a:ext cx="0" cy="0"/>
          <a:chOff x="0" y="0"/>
          <a:chExt cx="0" cy="0"/>
        </a:xfrm>
      </p:grpSpPr>
      <p:sp>
        <p:nvSpPr>
          <p:cNvPr id="698" name="Google Shape;698;g24e4d0b8270_0_708"/>
          <p:cNvSpPr txBox="1"/>
          <p:nvPr/>
        </p:nvSpPr>
        <p:spPr>
          <a:xfrm>
            <a:off x="549876" y="1066925"/>
            <a:ext cx="7243200" cy="4021200"/>
          </a:xfrm>
          <a:prstGeom prst="rect">
            <a:avLst/>
          </a:prstGeom>
          <a:noFill/>
          <a:ln>
            <a:noFill/>
          </a:ln>
        </p:spPr>
        <p:txBody>
          <a:bodyPr spcFirstLastPara="1" wrap="square" lIns="91425" tIns="91425" rIns="91425" bIns="91425" anchor="t" anchorCtr="0">
            <a:noAutofit/>
          </a:bodyPr>
          <a:lstStyle/>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Crear bases de datos dentro de un servidor SQL</a:t>
            </a:r>
            <a:endParaRPr sz="1800" b="0" i="0" u="none" strike="noStrike" cap="none">
              <a:solidFill>
                <a:schemeClr val="lt1"/>
              </a:solidFill>
              <a:latin typeface="Roboto"/>
              <a:ea typeface="Roboto"/>
              <a:cs typeface="Roboto"/>
              <a:sym typeface="Roboto"/>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Crear tablas dentro de la base de datos</a:t>
            </a:r>
            <a:endParaRPr sz="1800" b="0" i="0" u="none" strike="noStrike" cap="none">
              <a:solidFill>
                <a:schemeClr val="lt1"/>
              </a:solidFill>
              <a:latin typeface="Roboto"/>
              <a:ea typeface="Roboto"/>
              <a:cs typeface="Roboto"/>
              <a:sym typeface="Roboto"/>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Crear procedimientos </a:t>
            </a:r>
            <a:endParaRPr sz="1800" b="0" i="0" u="none" strike="noStrike" cap="none">
              <a:solidFill>
                <a:schemeClr val="lt1"/>
              </a:solidFill>
              <a:latin typeface="Roboto"/>
              <a:ea typeface="Roboto"/>
              <a:cs typeface="Roboto"/>
              <a:sym typeface="Roboto"/>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Crear vistas </a:t>
            </a:r>
            <a:endParaRPr sz="1200" b="0" i="0" u="none" strike="noStrike" cap="none">
              <a:solidFill>
                <a:schemeClr val="lt1"/>
              </a:solidFill>
              <a:latin typeface="Roboto"/>
              <a:ea typeface="Roboto"/>
              <a:cs typeface="Roboto"/>
              <a:sym typeface="Roboto"/>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Insertar, actualizar y eliminar registros en las tablas</a:t>
            </a:r>
            <a:endParaRPr sz="1200" b="0" i="0" u="none" strike="noStrike" cap="none">
              <a:solidFill>
                <a:schemeClr val="lt1"/>
              </a:solidFill>
              <a:latin typeface="Roboto"/>
              <a:ea typeface="Roboto"/>
              <a:cs typeface="Roboto"/>
              <a:sym typeface="Roboto"/>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Ejecutar consultas para recuperar datos </a:t>
            </a:r>
            <a:endParaRPr sz="1200" b="0" i="0" u="none" strike="noStrike" cap="none">
              <a:solidFill>
                <a:schemeClr val="lt1"/>
              </a:solidFill>
              <a:latin typeface="Roboto"/>
              <a:ea typeface="Roboto"/>
              <a:cs typeface="Roboto"/>
              <a:sym typeface="Roboto"/>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Establecer permisos en tablas, procedimientos y vistas </a:t>
            </a:r>
            <a:endParaRPr sz="1400" b="0" i="0" u="none" strike="noStrike" cap="none">
              <a:solidFill>
                <a:srgbClr val="000000"/>
              </a:solidFill>
              <a:latin typeface="Arial"/>
              <a:ea typeface="Arial"/>
              <a:cs typeface="Arial"/>
              <a:sym typeface="Arial"/>
            </a:endParaRPr>
          </a:p>
          <a:p>
            <a:pPr marL="715962" marR="38100" lvl="0" indent="-349250" algn="just" rtl="0">
              <a:lnSpc>
                <a:spcPct val="128571"/>
              </a:lnSpc>
              <a:spcBef>
                <a:spcPts val="0"/>
              </a:spcBef>
              <a:spcAft>
                <a:spcPts val="0"/>
              </a:spcAft>
              <a:buClr>
                <a:schemeClr val="lt1"/>
              </a:buClr>
              <a:buSzPts val="1900"/>
              <a:buFont typeface="Arial"/>
              <a:buChar char="•"/>
            </a:pPr>
            <a:r>
              <a:rPr lang="es-AR" sz="1800" b="0" i="0" u="none" strike="noStrike" cap="none">
                <a:solidFill>
                  <a:schemeClr val="lt1"/>
                </a:solidFill>
                <a:latin typeface="Roboto"/>
                <a:ea typeface="Roboto"/>
                <a:cs typeface="Roboto"/>
                <a:sym typeface="Roboto"/>
              </a:rPr>
              <a:t>Eliminar registros de una tabla</a:t>
            </a:r>
            <a:endParaRPr sz="1400" b="0" i="0" u="none" strike="noStrike" cap="none">
              <a:solidFill>
                <a:srgbClr val="000000"/>
              </a:solidFill>
              <a:latin typeface="Arial"/>
              <a:ea typeface="Arial"/>
              <a:cs typeface="Arial"/>
              <a:sym typeface="Arial"/>
            </a:endParaRPr>
          </a:p>
          <a:p>
            <a:pPr marL="366712" marR="38100" lvl="0" indent="0" algn="just" rtl="0">
              <a:lnSpc>
                <a:spcPct val="128571"/>
              </a:lnSpc>
              <a:spcBef>
                <a:spcPts val="0"/>
              </a:spcBef>
              <a:spcAft>
                <a:spcPts val="0"/>
              </a:spcAft>
              <a:buClr>
                <a:srgbClr val="000000"/>
              </a:buClr>
              <a:buSzPts val="2000"/>
              <a:buFont typeface="Arial"/>
              <a:buNone/>
            </a:pPr>
            <a:r>
              <a:rPr lang="es-AR" sz="2000" b="1" i="0" u="none" strike="noStrike" cap="none">
                <a:solidFill>
                  <a:schemeClr val="lt1"/>
                </a:solidFill>
                <a:latin typeface="Roboto"/>
                <a:ea typeface="Roboto"/>
                <a:cs typeface="Roboto"/>
                <a:sym typeface="Roboto"/>
              </a:rPr>
              <a:t>En definitiva, todo lo que se puede hacer con una BBDD.</a:t>
            </a:r>
            <a:endParaRPr sz="2000" b="1" i="0" u="none" strike="noStrike" cap="none">
              <a:solidFill>
                <a:schemeClr val="lt1"/>
              </a:solidFill>
              <a:latin typeface="Roboto"/>
              <a:ea typeface="Roboto"/>
              <a:cs typeface="Roboto"/>
              <a:sym typeface="Roboto"/>
            </a:endParaRPr>
          </a:p>
        </p:txBody>
      </p:sp>
      <p:sp>
        <p:nvSpPr>
          <p:cNvPr id="699" name="Google Shape;699;g24e4d0b8270_0_708"/>
          <p:cNvSpPr txBox="1"/>
          <p:nvPr/>
        </p:nvSpPr>
        <p:spPr>
          <a:xfrm>
            <a:off x="579444" y="309651"/>
            <a:ext cx="71610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 QUÉ PODEMOS HACER CON SQL ?</a:t>
            </a:r>
            <a:endParaRPr sz="4000" b="0" i="0" u="none" strike="noStrike" cap="none">
              <a:solidFill>
                <a:schemeClr val="lt1"/>
              </a:solidFill>
              <a:latin typeface="Arial"/>
              <a:ea typeface="Arial"/>
              <a:cs typeface="Arial"/>
              <a:sym typeface="Arial"/>
            </a:endParaRPr>
          </a:p>
        </p:txBody>
      </p:sp>
      <p:pic>
        <p:nvPicPr>
          <p:cNvPr id="700" name="Google Shape;700;g24e4d0b8270_0_708"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04"/>
        <p:cNvGrpSpPr/>
        <p:nvPr/>
      </p:nvGrpSpPr>
      <p:grpSpPr>
        <a:xfrm>
          <a:off x="0" y="0"/>
          <a:ext cx="0" cy="0"/>
          <a:chOff x="0" y="0"/>
          <a:chExt cx="0" cy="0"/>
        </a:xfrm>
      </p:grpSpPr>
      <p:sp>
        <p:nvSpPr>
          <p:cNvPr id="705" name="Google Shape;705;g24e4d0b8270_0_714"/>
          <p:cNvSpPr txBox="1"/>
          <p:nvPr/>
        </p:nvSpPr>
        <p:spPr>
          <a:xfrm>
            <a:off x="1015761" y="2037443"/>
            <a:ext cx="70236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s-AR" sz="8000" b="0" i="1" u="none" strike="noStrike" cap="none">
                <a:solidFill>
                  <a:schemeClr val="lt1"/>
                </a:solidFill>
                <a:latin typeface="Anton"/>
                <a:ea typeface="Anton"/>
                <a:cs typeface="Anton"/>
                <a:sym typeface="Anton"/>
              </a:rPr>
              <a:t>SENTENCIAS / COMANDOS</a:t>
            </a:r>
            <a:endParaRPr sz="8000" b="0" i="1" u="none" strike="noStrike" cap="none">
              <a:solidFill>
                <a:schemeClr val="lt1"/>
              </a:solidFill>
              <a:latin typeface="Anton"/>
              <a:ea typeface="Anton"/>
              <a:cs typeface="Anton"/>
              <a:sym typeface="Anton"/>
            </a:endParaRPr>
          </a:p>
        </p:txBody>
      </p:sp>
      <p:pic>
        <p:nvPicPr>
          <p:cNvPr id="706" name="Google Shape;706;g24e4d0b8270_0_714"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16"/>
        <p:cNvGrpSpPr/>
        <p:nvPr/>
      </p:nvGrpSpPr>
      <p:grpSpPr>
        <a:xfrm>
          <a:off x="0" y="0"/>
          <a:ext cx="0" cy="0"/>
          <a:chOff x="0" y="0"/>
          <a:chExt cx="0" cy="0"/>
        </a:xfrm>
      </p:grpSpPr>
      <p:sp>
        <p:nvSpPr>
          <p:cNvPr id="717" name="Google Shape;717;g24e4d0b8270_0_724"/>
          <p:cNvSpPr txBox="1"/>
          <p:nvPr/>
        </p:nvSpPr>
        <p:spPr>
          <a:xfrm>
            <a:off x="4479299" y="1204500"/>
            <a:ext cx="4336500" cy="3138900"/>
          </a:xfrm>
          <a:prstGeom prst="rect">
            <a:avLst/>
          </a:prstGeom>
          <a:noFill/>
          <a:ln>
            <a:noFill/>
          </a:ln>
        </p:spPr>
        <p:txBody>
          <a:bodyPr spcFirstLastPara="1" wrap="square" lIns="91425" tIns="91425" rIns="91425" bIns="91425" anchor="t"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0" i="0" u="none" strike="noStrike" cap="none">
                <a:solidFill>
                  <a:schemeClr val="lt1"/>
                </a:solidFill>
                <a:latin typeface="Roboto"/>
                <a:ea typeface="Roboto"/>
                <a:cs typeface="Roboto"/>
                <a:sym typeface="Roboto"/>
              </a:rPr>
              <a:t>Las </a:t>
            </a:r>
            <a:r>
              <a:rPr lang="es-AR" sz="1800" b="1" i="0" u="none" strike="noStrike" cap="none">
                <a:solidFill>
                  <a:schemeClr val="lt1"/>
                </a:solidFill>
                <a:latin typeface="Roboto"/>
                <a:ea typeface="Roboto"/>
                <a:cs typeface="Roboto"/>
                <a:sym typeface="Roboto"/>
              </a:rPr>
              <a:t>sentencias</a:t>
            </a:r>
            <a:r>
              <a:rPr lang="es-AR" sz="1800" b="0" i="0" u="none" strike="noStrike" cap="none">
                <a:solidFill>
                  <a:schemeClr val="lt1"/>
                </a:solidFill>
                <a:latin typeface="Roboto"/>
                <a:ea typeface="Roboto"/>
                <a:cs typeface="Roboto"/>
                <a:sym typeface="Roboto"/>
              </a:rPr>
              <a:t> (también denominadas </a:t>
            </a:r>
            <a:r>
              <a:rPr lang="es-AR" sz="1800" b="1" i="0" u="none" strike="noStrike" cap="none">
                <a:solidFill>
                  <a:schemeClr val="lt1"/>
                </a:solidFill>
                <a:latin typeface="Roboto"/>
                <a:ea typeface="Roboto"/>
                <a:cs typeface="Roboto"/>
                <a:sym typeface="Roboto"/>
              </a:rPr>
              <a:t>comandos</a:t>
            </a:r>
            <a:r>
              <a:rPr lang="es-AR" sz="1800" b="0" i="0" u="none" strike="noStrike" cap="none">
                <a:solidFill>
                  <a:schemeClr val="lt1"/>
                </a:solidFill>
                <a:latin typeface="Roboto"/>
                <a:ea typeface="Roboto"/>
                <a:cs typeface="Roboto"/>
                <a:sym typeface="Roboto"/>
              </a:rPr>
              <a:t>), son las </a:t>
            </a:r>
            <a:r>
              <a:rPr lang="es-AR" sz="1800" b="1" i="0" u="none" strike="noStrike" cap="none">
                <a:solidFill>
                  <a:schemeClr val="lt1"/>
                </a:solidFill>
                <a:latin typeface="Roboto"/>
                <a:ea typeface="Roboto"/>
                <a:cs typeface="Roboto"/>
                <a:sym typeface="Roboto"/>
              </a:rPr>
              <a:t>palabras reservadas</a:t>
            </a:r>
            <a:r>
              <a:rPr lang="es-AR" sz="1800" b="0" i="0" u="none" strike="noStrike" cap="none">
                <a:solidFill>
                  <a:schemeClr val="lt1"/>
                </a:solidFill>
                <a:latin typeface="Roboto"/>
                <a:ea typeface="Roboto"/>
                <a:cs typeface="Roboto"/>
                <a:sym typeface="Roboto"/>
              </a:rPr>
              <a:t> </a:t>
            </a:r>
            <a:r>
              <a:rPr lang="es-AR" sz="1800" b="1" i="0" u="none" strike="noStrike" cap="none">
                <a:solidFill>
                  <a:schemeClr val="lt1"/>
                </a:solidFill>
                <a:latin typeface="Roboto"/>
                <a:ea typeface="Roboto"/>
                <a:cs typeface="Roboto"/>
                <a:sym typeface="Roboto"/>
              </a:rPr>
              <a:t>para ejecutar acciones sobre la base de datos</a:t>
            </a:r>
            <a:r>
              <a:rPr lang="es-AR" sz="1800" b="0" i="0" u="none" strike="noStrike" cap="none">
                <a:solidFill>
                  <a:schemeClr val="lt1"/>
                </a:solidFill>
                <a:latin typeface="Roboto"/>
                <a:ea typeface="Roboto"/>
                <a:cs typeface="Roboto"/>
                <a:sym typeface="Roboto"/>
              </a:rPr>
              <a:t>. Gracias a éstas, los usuarios pueden operar con las mismas. Al escribir instrucciones en SQL, veremos que las sentencias adquieren un color distinto al estándar. </a:t>
            </a:r>
            <a:endParaRPr sz="1800" b="0" i="0" u="none" strike="noStrike" cap="none">
              <a:solidFill>
                <a:schemeClr val="lt1"/>
              </a:solidFill>
              <a:latin typeface="Roboto"/>
              <a:ea typeface="Roboto"/>
              <a:cs typeface="Roboto"/>
              <a:sym typeface="Roboto"/>
            </a:endParaRPr>
          </a:p>
        </p:txBody>
      </p:sp>
      <p:sp>
        <p:nvSpPr>
          <p:cNvPr id="718" name="Google Shape;718;g24e4d0b8270_0_724"/>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COMANDOS / SENTENCIAS</a:t>
            </a:r>
            <a:endParaRPr sz="4000" b="0" i="0" u="none" strike="noStrike" cap="none">
              <a:solidFill>
                <a:schemeClr val="lt1"/>
              </a:solidFill>
              <a:latin typeface="Arial"/>
              <a:ea typeface="Arial"/>
              <a:cs typeface="Arial"/>
              <a:sym typeface="Arial"/>
            </a:endParaRPr>
          </a:p>
        </p:txBody>
      </p:sp>
      <p:pic>
        <p:nvPicPr>
          <p:cNvPr id="719" name="Google Shape;719;g24e4d0b8270_0_724" descr="Comandos básicos para consultas SQL - Código Fuente"/>
          <p:cNvPicPr preferRelativeResize="0"/>
          <p:nvPr/>
        </p:nvPicPr>
        <p:blipFill rotWithShape="1">
          <a:blip r:embed="rId4">
            <a:alphaModFix/>
          </a:blip>
          <a:srcRect/>
          <a:stretch/>
        </p:blipFill>
        <p:spPr>
          <a:xfrm>
            <a:off x="730324" y="1299055"/>
            <a:ext cx="3513900" cy="2340900"/>
          </a:xfrm>
          <a:prstGeom prst="roundRect">
            <a:avLst>
              <a:gd name="adj" fmla="val 16667"/>
            </a:avLst>
          </a:prstGeom>
          <a:noFill/>
          <a:ln w="38100" cap="flat" cmpd="sng">
            <a:solidFill>
              <a:schemeClr val="lt1"/>
            </a:solidFill>
            <a:prstDash val="solid"/>
            <a:round/>
            <a:headEnd type="none" w="sm" len="sm"/>
            <a:tailEnd type="none" w="sm" len="sm"/>
          </a:ln>
        </p:spPr>
      </p:pic>
      <p:pic>
        <p:nvPicPr>
          <p:cNvPr id="720" name="Google Shape;720;g24e4d0b8270_0_724" descr="Blog | Coderhouse"/>
          <p:cNvPicPr preferRelativeResize="0"/>
          <p:nvPr/>
        </p:nvPicPr>
        <p:blipFill rotWithShape="1">
          <a:blip r:embed="rId5">
            <a:alphaModFix/>
          </a:blip>
          <a:srcRect/>
          <a:stretch/>
        </p:blipFill>
        <p:spPr>
          <a:xfrm>
            <a:off x="7598964" y="4569570"/>
            <a:ext cx="1221189" cy="26034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4"/>
        <p:cNvGrpSpPr/>
        <p:nvPr/>
      </p:nvGrpSpPr>
      <p:grpSpPr>
        <a:xfrm>
          <a:off x="0" y="0"/>
          <a:ext cx="0" cy="0"/>
          <a:chOff x="0" y="0"/>
          <a:chExt cx="0" cy="0"/>
        </a:xfrm>
      </p:grpSpPr>
      <p:pic>
        <p:nvPicPr>
          <p:cNvPr id="725" name="Google Shape;725;g24e4d0b8270_0_731"/>
          <p:cNvPicPr preferRelativeResize="0"/>
          <p:nvPr/>
        </p:nvPicPr>
        <p:blipFill rotWithShape="1">
          <a:blip r:embed="rId4">
            <a:alphaModFix/>
          </a:blip>
          <a:srcRect/>
          <a:stretch/>
        </p:blipFill>
        <p:spPr>
          <a:xfrm>
            <a:off x="539954" y="1140661"/>
            <a:ext cx="8064092" cy="3738456"/>
          </a:xfrm>
          <a:prstGeom prst="rect">
            <a:avLst/>
          </a:prstGeom>
          <a:noFill/>
          <a:ln>
            <a:noFill/>
          </a:ln>
        </p:spPr>
      </p:pic>
      <p:sp>
        <p:nvSpPr>
          <p:cNvPr id="726" name="Google Shape;726;g24e4d0b8270_0_731"/>
          <p:cNvSpPr txBox="1"/>
          <p:nvPr/>
        </p:nvSpPr>
        <p:spPr>
          <a:xfrm>
            <a:off x="802225" y="3025383"/>
            <a:ext cx="1518900" cy="648000"/>
          </a:xfrm>
          <a:prstGeom prst="rect">
            <a:avLst/>
          </a:prstGeom>
          <a:noFill/>
          <a:ln>
            <a:noFill/>
          </a:ln>
        </p:spPr>
        <p:txBody>
          <a:bodyPr spcFirstLastPara="1" wrap="square" lIns="0" tIns="0" rIns="0" bIns="0" anchor="t" anchorCtr="0">
            <a:noAutofit/>
          </a:bodyPr>
          <a:lstStyle/>
          <a:p>
            <a:pPr marL="25449" marR="0" lvl="0" indent="0" algn="ctr" rtl="0">
              <a:lnSpc>
                <a:spcPct val="100000"/>
              </a:lnSpc>
              <a:spcBef>
                <a:spcPts val="0"/>
              </a:spcBef>
              <a:spcAft>
                <a:spcPts val="600"/>
              </a:spcAft>
              <a:buClr>
                <a:srgbClr val="FFFFFF"/>
              </a:buClr>
              <a:buSzPts val="1300"/>
              <a:buFont typeface="Mulish"/>
              <a:buNone/>
            </a:pPr>
            <a:r>
              <a:rPr lang="es-AR" sz="1200" b="1" i="0" u="none" strike="noStrike" cap="none">
                <a:solidFill>
                  <a:schemeClr val="lt1"/>
                </a:solidFill>
                <a:latin typeface="Roboto"/>
                <a:ea typeface="Roboto"/>
                <a:cs typeface="Roboto"/>
                <a:sym typeface="Roboto"/>
              </a:rPr>
              <a:t>Comandos que se utilizan para crear y modificar la estructura de una base de datos y sus correspondientes tablas.</a:t>
            </a:r>
            <a:endParaRPr sz="1400" b="0" i="0" u="none" strike="noStrike" cap="none">
              <a:solidFill>
                <a:srgbClr val="000000"/>
              </a:solidFill>
              <a:latin typeface="Arial"/>
              <a:ea typeface="Arial"/>
              <a:cs typeface="Arial"/>
              <a:sym typeface="Arial"/>
            </a:endParaRPr>
          </a:p>
        </p:txBody>
      </p:sp>
      <p:sp>
        <p:nvSpPr>
          <p:cNvPr id="727" name="Google Shape;727;g24e4d0b8270_0_731"/>
          <p:cNvSpPr txBox="1"/>
          <p:nvPr/>
        </p:nvSpPr>
        <p:spPr>
          <a:xfrm>
            <a:off x="6749369" y="3025383"/>
            <a:ext cx="1518900" cy="648000"/>
          </a:xfrm>
          <a:prstGeom prst="rect">
            <a:avLst/>
          </a:prstGeom>
          <a:noFill/>
          <a:ln>
            <a:noFill/>
          </a:ln>
        </p:spPr>
        <p:txBody>
          <a:bodyPr spcFirstLastPara="1" wrap="square" lIns="0" tIns="0" rIns="0" bIns="0" anchor="t" anchorCtr="0">
            <a:noAutofit/>
          </a:bodyPr>
          <a:lstStyle/>
          <a:p>
            <a:pPr marL="25449" marR="0" lvl="0" indent="0" algn="ctr" rtl="0">
              <a:lnSpc>
                <a:spcPct val="100000"/>
              </a:lnSpc>
              <a:spcBef>
                <a:spcPts val="0"/>
              </a:spcBef>
              <a:spcAft>
                <a:spcPts val="600"/>
              </a:spcAft>
              <a:buClr>
                <a:srgbClr val="FFFFFF"/>
              </a:buClr>
              <a:buSzPts val="1300"/>
              <a:buFont typeface="Mulish"/>
              <a:buNone/>
            </a:pPr>
            <a:r>
              <a:rPr lang="es-AR" sz="1200" b="1" i="0" u="none" strike="noStrike" cap="none">
                <a:solidFill>
                  <a:schemeClr val="lt1"/>
                </a:solidFill>
                <a:latin typeface="Roboto"/>
                <a:ea typeface="Roboto"/>
                <a:cs typeface="Roboto"/>
                <a:sym typeface="Roboto"/>
              </a:rPr>
              <a:t>Comandos que se utilizan para la gestión de los cambios en una base de datos.</a:t>
            </a:r>
            <a:endParaRPr sz="1400" b="0" i="0" u="none" strike="noStrike" cap="none">
              <a:solidFill>
                <a:srgbClr val="000000"/>
              </a:solidFill>
              <a:latin typeface="Arial"/>
              <a:ea typeface="Arial"/>
              <a:cs typeface="Arial"/>
              <a:sym typeface="Arial"/>
            </a:endParaRPr>
          </a:p>
        </p:txBody>
      </p:sp>
      <p:sp>
        <p:nvSpPr>
          <p:cNvPr id="728" name="Google Shape;728;g24e4d0b8270_0_731"/>
          <p:cNvSpPr txBox="1"/>
          <p:nvPr/>
        </p:nvSpPr>
        <p:spPr>
          <a:xfrm>
            <a:off x="2723174" y="3025383"/>
            <a:ext cx="1518900" cy="648000"/>
          </a:xfrm>
          <a:prstGeom prst="rect">
            <a:avLst/>
          </a:prstGeom>
          <a:noFill/>
          <a:ln>
            <a:noFill/>
          </a:ln>
        </p:spPr>
        <p:txBody>
          <a:bodyPr spcFirstLastPara="1" wrap="square" lIns="0" tIns="0" rIns="0" bIns="0" anchor="t" anchorCtr="0">
            <a:noAutofit/>
          </a:bodyPr>
          <a:lstStyle/>
          <a:p>
            <a:pPr marL="25449" marR="0" lvl="0" indent="0" algn="ctr" rtl="0">
              <a:lnSpc>
                <a:spcPct val="100000"/>
              </a:lnSpc>
              <a:spcBef>
                <a:spcPts val="0"/>
              </a:spcBef>
              <a:spcAft>
                <a:spcPts val="600"/>
              </a:spcAft>
              <a:buClr>
                <a:srgbClr val="FFFFFF"/>
              </a:buClr>
              <a:buSzPts val="1300"/>
              <a:buFont typeface="Mulish"/>
              <a:buNone/>
            </a:pPr>
            <a:r>
              <a:rPr lang="es-AR" sz="1200" b="1" i="0" u="none" strike="noStrike" cap="none">
                <a:solidFill>
                  <a:schemeClr val="lt1"/>
                </a:solidFill>
                <a:latin typeface="Roboto"/>
                <a:ea typeface="Roboto"/>
                <a:cs typeface="Roboto"/>
                <a:sym typeface="Roboto"/>
              </a:rPr>
              <a:t>Comandos que se utilizan para seleccionar, insertar, actualizar o eliminar registros.</a:t>
            </a:r>
            <a:endParaRPr sz="1400" b="0" i="0" u="none" strike="noStrike" cap="none">
              <a:solidFill>
                <a:srgbClr val="000000"/>
              </a:solidFill>
              <a:latin typeface="Arial"/>
              <a:ea typeface="Arial"/>
              <a:cs typeface="Arial"/>
              <a:sym typeface="Arial"/>
            </a:endParaRPr>
          </a:p>
        </p:txBody>
      </p:sp>
      <p:sp>
        <p:nvSpPr>
          <p:cNvPr id="729" name="Google Shape;729;g24e4d0b8270_0_731"/>
          <p:cNvSpPr txBox="1"/>
          <p:nvPr/>
        </p:nvSpPr>
        <p:spPr>
          <a:xfrm>
            <a:off x="4756888" y="3025383"/>
            <a:ext cx="1518900" cy="648000"/>
          </a:xfrm>
          <a:prstGeom prst="rect">
            <a:avLst/>
          </a:prstGeom>
          <a:noFill/>
          <a:ln>
            <a:noFill/>
          </a:ln>
        </p:spPr>
        <p:txBody>
          <a:bodyPr spcFirstLastPara="1" wrap="square" lIns="0" tIns="0" rIns="0" bIns="0" anchor="t" anchorCtr="0">
            <a:noAutofit/>
          </a:bodyPr>
          <a:lstStyle/>
          <a:p>
            <a:pPr marL="25449" marR="0" lvl="0" indent="0" algn="ctr" rtl="0">
              <a:lnSpc>
                <a:spcPct val="100000"/>
              </a:lnSpc>
              <a:spcBef>
                <a:spcPts val="0"/>
              </a:spcBef>
              <a:spcAft>
                <a:spcPts val="600"/>
              </a:spcAft>
              <a:buClr>
                <a:srgbClr val="FFFFFF"/>
              </a:buClr>
              <a:buSzPts val="1300"/>
              <a:buFont typeface="Mulish"/>
              <a:buNone/>
            </a:pPr>
            <a:r>
              <a:rPr lang="es-AR" sz="1200" b="1" i="0" u="none" strike="noStrike" cap="none">
                <a:solidFill>
                  <a:schemeClr val="lt1"/>
                </a:solidFill>
                <a:latin typeface="Roboto"/>
                <a:ea typeface="Roboto"/>
                <a:cs typeface="Roboto"/>
                <a:sym typeface="Roboto"/>
              </a:rPr>
              <a:t>Comandos que se utilizan para proporcionar seguridad a la información contenida en una base de datos.</a:t>
            </a:r>
            <a:endParaRPr sz="1400" b="0" i="0" u="none" strike="noStrike" cap="none">
              <a:solidFill>
                <a:srgbClr val="000000"/>
              </a:solidFill>
              <a:latin typeface="Arial"/>
              <a:ea typeface="Arial"/>
              <a:cs typeface="Arial"/>
              <a:sym typeface="Arial"/>
            </a:endParaRPr>
          </a:p>
        </p:txBody>
      </p:sp>
      <p:sp>
        <p:nvSpPr>
          <p:cNvPr id="730" name="Google Shape;730;g24e4d0b8270_0_731"/>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GRUPOS DE COMANDOS</a:t>
            </a:r>
            <a:endParaRPr sz="4000" b="0" i="0" u="none" strike="noStrike" cap="none">
              <a:solidFill>
                <a:schemeClr val="lt1"/>
              </a:solidFill>
              <a:latin typeface="Arial"/>
              <a:ea typeface="Arial"/>
              <a:cs typeface="Arial"/>
              <a:sym typeface="Arial"/>
            </a:endParaRPr>
          </a:p>
        </p:txBody>
      </p:sp>
      <p:pic>
        <p:nvPicPr>
          <p:cNvPr id="731" name="Google Shape;731;g24e4d0b8270_0_731" descr="Blog | Coderhouse"/>
          <p:cNvPicPr preferRelativeResize="0"/>
          <p:nvPr/>
        </p:nvPicPr>
        <p:blipFill rotWithShape="1">
          <a:blip r:embed="rId5">
            <a:alphaModFix/>
          </a:blip>
          <a:srcRect/>
          <a:stretch/>
        </p:blipFill>
        <p:spPr>
          <a:xfrm>
            <a:off x="7598964" y="4569570"/>
            <a:ext cx="1221189" cy="26034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26">
                                            <p:txEl>
                                              <p:pRg st="0" end="0"/>
                                            </p:txEl>
                                          </p:spTgt>
                                        </p:tgtEl>
                                        <p:attrNameLst>
                                          <p:attrName>style.visibility</p:attrName>
                                        </p:attrNameLst>
                                      </p:cBhvr>
                                      <p:to>
                                        <p:strVal val="visible"/>
                                      </p:to>
                                    </p:set>
                                    <p:anim calcmode="lin" valueType="num">
                                      <p:cBhvr additive="base">
                                        <p:cTn id="7" dur="500"/>
                                        <p:tgtEl>
                                          <p:spTgt spid="726">
                                            <p:txEl>
                                              <p:pRg st="0" end="0"/>
                                            </p:txEl>
                                          </p:spTgt>
                                        </p:tgtEl>
                                        <p:attrNameLst>
                                          <p:attrName>ppt_w</p:attrName>
                                        </p:attrNameLst>
                                      </p:cBhvr>
                                      <p:tavLst>
                                        <p:tav tm="0">
                                          <p:val>
                                            <p:strVal val="0"/>
                                          </p:val>
                                        </p:tav>
                                        <p:tav tm="100000">
                                          <p:val>
                                            <p:strVal val="#ppt_w"/>
                                          </p:val>
                                        </p:tav>
                                      </p:tavLst>
                                    </p:anim>
                                    <p:anim calcmode="lin" valueType="num">
                                      <p:cBhvr additive="base">
                                        <p:cTn id="8" dur="500"/>
                                        <p:tgtEl>
                                          <p:spTgt spid="726">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728">
                                            <p:txEl>
                                              <p:pRg st="0" end="0"/>
                                            </p:txEl>
                                          </p:spTgt>
                                        </p:tgtEl>
                                        <p:attrNameLst>
                                          <p:attrName>style.visibility</p:attrName>
                                        </p:attrNameLst>
                                      </p:cBhvr>
                                      <p:to>
                                        <p:strVal val="visible"/>
                                      </p:to>
                                    </p:set>
                                    <p:anim calcmode="lin" valueType="num">
                                      <p:cBhvr additive="base">
                                        <p:cTn id="13" dur="500"/>
                                        <p:tgtEl>
                                          <p:spTgt spid="728">
                                            <p:txEl>
                                              <p:pRg st="0" end="0"/>
                                            </p:txEl>
                                          </p:spTgt>
                                        </p:tgtEl>
                                        <p:attrNameLst>
                                          <p:attrName>ppt_w</p:attrName>
                                        </p:attrNameLst>
                                      </p:cBhvr>
                                      <p:tavLst>
                                        <p:tav tm="0">
                                          <p:val>
                                            <p:strVal val="0"/>
                                          </p:val>
                                        </p:tav>
                                        <p:tav tm="100000">
                                          <p:val>
                                            <p:strVal val="#ppt_w"/>
                                          </p:val>
                                        </p:tav>
                                      </p:tavLst>
                                    </p:anim>
                                    <p:anim calcmode="lin" valueType="num">
                                      <p:cBhvr additive="base">
                                        <p:cTn id="14" dur="500"/>
                                        <p:tgtEl>
                                          <p:spTgt spid="728">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729">
                                            <p:txEl>
                                              <p:pRg st="0" end="0"/>
                                            </p:txEl>
                                          </p:spTgt>
                                        </p:tgtEl>
                                        <p:attrNameLst>
                                          <p:attrName>style.visibility</p:attrName>
                                        </p:attrNameLst>
                                      </p:cBhvr>
                                      <p:to>
                                        <p:strVal val="visible"/>
                                      </p:to>
                                    </p:set>
                                    <p:anim calcmode="lin" valueType="num">
                                      <p:cBhvr additive="base">
                                        <p:cTn id="19" dur="500"/>
                                        <p:tgtEl>
                                          <p:spTgt spid="729">
                                            <p:txEl>
                                              <p:pRg st="0" end="0"/>
                                            </p:txEl>
                                          </p:spTgt>
                                        </p:tgtEl>
                                        <p:attrNameLst>
                                          <p:attrName>ppt_w</p:attrName>
                                        </p:attrNameLst>
                                      </p:cBhvr>
                                      <p:tavLst>
                                        <p:tav tm="0">
                                          <p:val>
                                            <p:strVal val="0"/>
                                          </p:val>
                                        </p:tav>
                                        <p:tav tm="100000">
                                          <p:val>
                                            <p:strVal val="#ppt_w"/>
                                          </p:val>
                                        </p:tav>
                                      </p:tavLst>
                                    </p:anim>
                                    <p:anim calcmode="lin" valueType="num">
                                      <p:cBhvr additive="base">
                                        <p:cTn id="20" dur="500"/>
                                        <p:tgtEl>
                                          <p:spTgt spid="729">
                                            <p:txEl>
                                              <p:pRg st="0" end="0"/>
                                            </p:txEl>
                                          </p:spTgt>
                                        </p:tgtEl>
                                        <p:attrNameLst>
                                          <p:attrName>ppt_h</p:attrName>
                                        </p:attrNameLst>
                                      </p:cBhvr>
                                      <p:tavLst>
                                        <p:tav tm="0">
                                          <p:val>
                                            <p:str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nodeType="clickEffect">
                                  <p:stCondLst>
                                    <p:cond delay="0"/>
                                  </p:stCondLst>
                                  <p:childTnLst>
                                    <p:set>
                                      <p:cBhvr>
                                        <p:cTn id="24" dur="1" fill="hold">
                                          <p:stCondLst>
                                            <p:cond delay="0"/>
                                          </p:stCondLst>
                                        </p:cTn>
                                        <p:tgtEl>
                                          <p:spTgt spid="727">
                                            <p:txEl>
                                              <p:pRg st="0" end="0"/>
                                            </p:txEl>
                                          </p:spTgt>
                                        </p:tgtEl>
                                        <p:attrNameLst>
                                          <p:attrName>style.visibility</p:attrName>
                                        </p:attrNameLst>
                                      </p:cBhvr>
                                      <p:to>
                                        <p:strVal val="visible"/>
                                      </p:to>
                                    </p:set>
                                    <p:anim calcmode="lin" valueType="num">
                                      <p:cBhvr additive="base">
                                        <p:cTn id="25" dur="500"/>
                                        <p:tgtEl>
                                          <p:spTgt spid="727">
                                            <p:txEl>
                                              <p:pRg st="0" end="0"/>
                                            </p:txEl>
                                          </p:spTgt>
                                        </p:tgtEl>
                                        <p:attrNameLst>
                                          <p:attrName>ppt_w</p:attrName>
                                        </p:attrNameLst>
                                      </p:cBhvr>
                                      <p:tavLst>
                                        <p:tav tm="0">
                                          <p:val>
                                            <p:strVal val="0"/>
                                          </p:val>
                                        </p:tav>
                                        <p:tav tm="100000">
                                          <p:val>
                                            <p:strVal val="#ppt_w"/>
                                          </p:val>
                                        </p:tav>
                                      </p:tavLst>
                                    </p:anim>
                                    <p:anim calcmode="lin" valueType="num">
                                      <p:cBhvr additive="base">
                                        <p:cTn id="26" dur="500"/>
                                        <p:tgtEl>
                                          <p:spTgt spid="727">
                                            <p:txEl>
                                              <p:pRg st="0" end="0"/>
                                            </p:txEl>
                                          </p:spTgt>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5"/>
        <p:cNvGrpSpPr/>
        <p:nvPr/>
      </p:nvGrpSpPr>
      <p:grpSpPr>
        <a:xfrm>
          <a:off x="0" y="0"/>
          <a:ext cx="0" cy="0"/>
          <a:chOff x="0" y="0"/>
          <a:chExt cx="0" cy="0"/>
        </a:xfrm>
      </p:grpSpPr>
      <p:sp>
        <p:nvSpPr>
          <p:cNvPr id="736" name="Google Shape;736;g24e4d0b8270_0_741"/>
          <p:cNvSpPr txBox="1"/>
          <p:nvPr/>
        </p:nvSpPr>
        <p:spPr>
          <a:xfrm>
            <a:off x="802527" y="1878726"/>
            <a:ext cx="7572600" cy="989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s-AR" sz="8000" b="0" i="1" u="none" strike="noStrike" cap="none">
                <a:solidFill>
                  <a:schemeClr val="lt1"/>
                </a:solidFill>
                <a:latin typeface="Anton"/>
                <a:ea typeface="Anton"/>
                <a:cs typeface="Anton"/>
                <a:sym typeface="Anton"/>
              </a:rPr>
              <a:t>SUBLENGUAJE DDL</a:t>
            </a:r>
            <a:endParaRPr sz="8000" b="0" i="1" u="none" strike="noStrike" cap="none">
              <a:solidFill>
                <a:schemeClr val="lt1"/>
              </a:solidFill>
              <a:latin typeface="Anton"/>
              <a:ea typeface="Anton"/>
              <a:cs typeface="Anton"/>
              <a:sym typeface="Anton"/>
            </a:endParaRPr>
          </a:p>
        </p:txBody>
      </p:sp>
      <p:pic>
        <p:nvPicPr>
          <p:cNvPr id="737" name="Google Shape;737;g24e4d0b8270_0_741"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41"/>
        <p:cNvGrpSpPr/>
        <p:nvPr/>
      </p:nvGrpSpPr>
      <p:grpSpPr>
        <a:xfrm>
          <a:off x="0" y="0"/>
          <a:ext cx="0" cy="0"/>
          <a:chOff x="0" y="0"/>
          <a:chExt cx="0" cy="0"/>
        </a:xfrm>
      </p:grpSpPr>
      <p:sp>
        <p:nvSpPr>
          <p:cNvPr id="742" name="Google Shape;742;g24e4d0b8270_0_746"/>
          <p:cNvSpPr txBox="1"/>
          <p:nvPr/>
        </p:nvSpPr>
        <p:spPr>
          <a:xfrm>
            <a:off x="517600" y="1257534"/>
            <a:ext cx="3732000" cy="2931900"/>
          </a:xfrm>
          <a:prstGeom prst="rect">
            <a:avLst/>
          </a:prstGeom>
          <a:noFill/>
          <a:ln>
            <a:noFill/>
          </a:ln>
        </p:spPr>
        <p:txBody>
          <a:bodyPr spcFirstLastPara="1" wrap="square" lIns="91425" tIns="91425" rIns="91425" bIns="91425" anchor="ctr" anchorCtr="0">
            <a:noAutofit/>
          </a:bodyPr>
          <a:lstStyle/>
          <a:p>
            <a:pPr marL="107950" marR="38100" lvl="0" indent="0" algn="l" rtl="0">
              <a:lnSpc>
                <a:spcPct val="128571"/>
              </a:lnSpc>
              <a:spcBef>
                <a:spcPts val="0"/>
              </a:spcBef>
              <a:spcAft>
                <a:spcPts val="0"/>
              </a:spcAft>
              <a:buClr>
                <a:srgbClr val="000000"/>
              </a:buClr>
              <a:buSzPts val="1800"/>
              <a:buFont typeface="Arial"/>
              <a:buNone/>
            </a:pPr>
            <a:r>
              <a:rPr lang="es-AR" sz="1800" b="1" i="0" u="none" strike="noStrike" cap="none">
                <a:solidFill>
                  <a:schemeClr val="lt1"/>
                </a:solidFill>
                <a:latin typeface="Roboto"/>
                <a:ea typeface="Roboto"/>
                <a:cs typeface="Roboto"/>
                <a:sym typeface="Roboto"/>
              </a:rPr>
              <a:t>DATA DEFINITION LANGUAGE </a:t>
            </a:r>
            <a:r>
              <a:rPr lang="es-AR" sz="1800" b="0" i="0" u="none" strike="noStrike" cap="none">
                <a:solidFill>
                  <a:schemeClr val="lt1"/>
                </a:solidFill>
                <a:latin typeface="Roboto"/>
                <a:ea typeface="Roboto"/>
                <a:cs typeface="Roboto"/>
                <a:sym typeface="Roboto"/>
              </a:rPr>
              <a:t>por sus siglas en inglés o</a:t>
            </a:r>
            <a:r>
              <a:rPr lang="es-AR" sz="1800" b="1" i="0" u="none" strike="noStrike" cap="none">
                <a:solidFill>
                  <a:schemeClr val="lt1"/>
                </a:solidFill>
                <a:latin typeface="Roboto"/>
                <a:ea typeface="Roboto"/>
                <a:cs typeface="Roboto"/>
                <a:sym typeface="Roboto"/>
              </a:rPr>
              <a:t> LENGUAJE DE DEFINICIÓN DE DATOS.</a:t>
            </a:r>
            <a:endParaRPr sz="1800" b="0" i="0" u="none" strike="noStrike" cap="none">
              <a:solidFill>
                <a:schemeClr val="lt1"/>
              </a:solidFill>
              <a:latin typeface="Roboto"/>
              <a:ea typeface="Roboto"/>
              <a:cs typeface="Roboto"/>
              <a:sym typeface="Roboto"/>
            </a:endParaRPr>
          </a:p>
          <a:p>
            <a:pPr marL="107950" marR="38100" lvl="0" indent="0" algn="l" rtl="0">
              <a:lnSpc>
                <a:spcPct val="128571"/>
              </a:lnSpc>
              <a:spcBef>
                <a:spcPts val="1200"/>
              </a:spcBef>
              <a:spcAft>
                <a:spcPts val="1200"/>
              </a:spcAft>
              <a:buClr>
                <a:srgbClr val="000000"/>
              </a:buClr>
              <a:buSzPts val="1800"/>
              <a:buFont typeface="Arial"/>
              <a:buNone/>
            </a:pPr>
            <a:r>
              <a:rPr lang="es-AR" sz="1800" b="0" i="0" u="none" strike="noStrike" cap="none">
                <a:solidFill>
                  <a:schemeClr val="lt1"/>
                </a:solidFill>
                <a:latin typeface="Roboto"/>
                <a:ea typeface="Roboto"/>
                <a:cs typeface="Roboto"/>
                <a:sym typeface="Roboto"/>
              </a:rPr>
              <a:t>Conjunto de sentencias que se encargan de la </a:t>
            </a:r>
            <a:r>
              <a:rPr lang="es-AR" sz="1800" b="1" i="0" u="none" strike="noStrike" cap="none">
                <a:solidFill>
                  <a:schemeClr val="lt1"/>
                </a:solidFill>
                <a:latin typeface="Roboto"/>
                <a:ea typeface="Roboto"/>
                <a:cs typeface="Roboto"/>
                <a:sym typeface="Roboto"/>
              </a:rPr>
              <a:t>definición de la base de datos y sus objetos. </a:t>
            </a:r>
            <a:endParaRPr sz="1800" b="1" i="0" u="none" strike="noStrike" cap="none">
              <a:solidFill>
                <a:schemeClr val="lt1"/>
              </a:solidFill>
              <a:latin typeface="Roboto"/>
              <a:ea typeface="Roboto"/>
              <a:cs typeface="Roboto"/>
              <a:sym typeface="Roboto"/>
            </a:endParaRPr>
          </a:p>
        </p:txBody>
      </p:sp>
      <p:sp>
        <p:nvSpPr>
          <p:cNvPr id="743" name="Google Shape;743;g24e4d0b8270_0_746"/>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DDL - CONCEPTO</a:t>
            </a:r>
            <a:endParaRPr sz="4000" b="0" i="0" u="none" strike="noStrike" cap="none">
              <a:solidFill>
                <a:schemeClr val="lt1"/>
              </a:solidFill>
              <a:latin typeface="Arial"/>
              <a:ea typeface="Arial"/>
              <a:cs typeface="Arial"/>
              <a:sym typeface="Arial"/>
            </a:endParaRPr>
          </a:p>
        </p:txBody>
      </p:sp>
      <p:pic>
        <p:nvPicPr>
          <p:cNvPr id="744" name="Google Shape;744;g24e4d0b8270_0_746"/>
          <p:cNvPicPr preferRelativeResize="0"/>
          <p:nvPr/>
        </p:nvPicPr>
        <p:blipFill rotWithShape="1">
          <a:blip r:embed="rId4">
            <a:alphaModFix/>
          </a:blip>
          <a:srcRect/>
          <a:stretch/>
        </p:blipFill>
        <p:spPr>
          <a:xfrm>
            <a:off x="4472920" y="1213814"/>
            <a:ext cx="3019341" cy="3019341"/>
          </a:xfrm>
          <a:prstGeom prst="rect">
            <a:avLst/>
          </a:prstGeom>
          <a:noFill/>
          <a:ln>
            <a:noFill/>
          </a:ln>
        </p:spPr>
      </p:pic>
      <p:sp>
        <p:nvSpPr>
          <p:cNvPr id="745" name="Google Shape;745;g24e4d0b8270_0_746"/>
          <p:cNvSpPr txBox="1"/>
          <p:nvPr/>
        </p:nvSpPr>
        <p:spPr>
          <a:xfrm>
            <a:off x="7634488" y="2273406"/>
            <a:ext cx="1119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2600" b="0" i="1" u="none" strike="noStrike" cap="none">
                <a:solidFill>
                  <a:schemeClr val="lt1"/>
                </a:solidFill>
                <a:latin typeface="Anton"/>
                <a:ea typeface="Anton"/>
                <a:cs typeface="Anton"/>
                <a:sym typeface="Anton"/>
              </a:rPr>
              <a:t>CREATE</a:t>
            </a:r>
            <a:endParaRPr sz="2600" b="0" i="0" u="none" strike="noStrike" cap="none">
              <a:solidFill>
                <a:schemeClr val="lt1"/>
              </a:solidFill>
              <a:latin typeface="Arial"/>
              <a:ea typeface="Arial"/>
              <a:cs typeface="Arial"/>
              <a:sym typeface="Arial"/>
            </a:endParaRPr>
          </a:p>
        </p:txBody>
      </p:sp>
      <p:sp>
        <p:nvSpPr>
          <p:cNvPr id="746" name="Google Shape;746;g24e4d0b8270_0_746"/>
          <p:cNvSpPr txBox="1"/>
          <p:nvPr/>
        </p:nvSpPr>
        <p:spPr>
          <a:xfrm>
            <a:off x="7634488" y="2841691"/>
            <a:ext cx="1119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2600" b="0" i="1" u="none" strike="noStrike" cap="none" dirty="0">
                <a:solidFill>
                  <a:schemeClr val="lt1"/>
                </a:solidFill>
                <a:latin typeface="Anton"/>
                <a:ea typeface="Anton"/>
                <a:cs typeface="Anton"/>
                <a:sym typeface="Anton"/>
              </a:rPr>
              <a:t>ALTER</a:t>
            </a:r>
            <a:endParaRPr sz="2600" b="0" i="0" u="none" strike="noStrike" cap="none" dirty="0">
              <a:solidFill>
                <a:schemeClr val="lt1"/>
              </a:solidFill>
              <a:latin typeface="Arial"/>
              <a:ea typeface="Arial"/>
              <a:cs typeface="Arial"/>
              <a:sym typeface="Arial"/>
            </a:endParaRPr>
          </a:p>
        </p:txBody>
      </p:sp>
      <p:sp>
        <p:nvSpPr>
          <p:cNvPr id="747" name="Google Shape;747;g24e4d0b8270_0_746"/>
          <p:cNvSpPr txBox="1"/>
          <p:nvPr/>
        </p:nvSpPr>
        <p:spPr>
          <a:xfrm>
            <a:off x="7634488" y="3416682"/>
            <a:ext cx="1119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2600" b="0" i="1" u="none" strike="noStrike" cap="none" dirty="0">
                <a:solidFill>
                  <a:schemeClr val="lt1"/>
                </a:solidFill>
                <a:latin typeface="Anton"/>
                <a:ea typeface="Anton"/>
                <a:cs typeface="Anton"/>
                <a:sym typeface="Anton"/>
              </a:rPr>
              <a:t>DROP</a:t>
            </a:r>
            <a:endParaRPr sz="2600" b="0" i="0" u="none" strike="noStrike" cap="none" dirty="0">
              <a:solidFill>
                <a:schemeClr val="lt1"/>
              </a:solidFill>
              <a:latin typeface="Arial"/>
              <a:ea typeface="Arial"/>
              <a:cs typeface="Arial"/>
              <a:sym typeface="Arial"/>
            </a:endParaRPr>
          </a:p>
        </p:txBody>
      </p:sp>
      <p:pic>
        <p:nvPicPr>
          <p:cNvPr id="748" name="Google Shape;748;g24e4d0b8270_0_746" descr="Blog | Coderhouse"/>
          <p:cNvPicPr preferRelativeResize="0"/>
          <p:nvPr/>
        </p:nvPicPr>
        <p:blipFill rotWithShape="1">
          <a:blip r:embed="rId5">
            <a:alphaModFix/>
          </a:blip>
          <a:srcRect/>
          <a:stretch/>
        </p:blipFill>
        <p:spPr>
          <a:xfrm>
            <a:off x="7598964" y="4569570"/>
            <a:ext cx="1221189" cy="26034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58"/>
        <p:cNvGrpSpPr/>
        <p:nvPr/>
      </p:nvGrpSpPr>
      <p:grpSpPr>
        <a:xfrm>
          <a:off x="0" y="0"/>
          <a:ext cx="0" cy="0"/>
          <a:chOff x="0" y="0"/>
          <a:chExt cx="0" cy="0"/>
        </a:xfrm>
      </p:grpSpPr>
      <p:sp>
        <p:nvSpPr>
          <p:cNvPr id="759" name="Google Shape;759;g24e4d0b8270_0_761"/>
          <p:cNvSpPr txBox="1"/>
          <p:nvPr/>
        </p:nvSpPr>
        <p:spPr>
          <a:xfrm>
            <a:off x="4488873" y="356825"/>
            <a:ext cx="4182300" cy="41967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100" b="0" i="0" u="none" strike="noStrike" cap="none">
                <a:solidFill>
                  <a:schemeClr val="lt1"/>
                </a:solidFill>
                <a:latin typeface="Roboto"/>
                <a:ea typeface="Roboto"/>
                <a:cs typeface="Roboto"/>
                <a:sym typeface="Roboto"/>
              </a:rPr>
              <a:t>La cláusula </a:t>
            </a:r>
            <a:r>
              <a:rPr lang="es-AR" sz="2100" b="1" i="0" u="none" strike="noStrike" cap="none">
                <a:solidFill>
                  <a:schemeClr val="lt1"/>
                </a:solidFill>
                <a:latin typeface="Roboto"/>
                <a:ea typeface="Roboto"/>
                <a:cs typeface="Roboto"/>
                <a:sym typeface="Roboto"/>
              </a:rPr>
              <a:t>CREATE</a:t>
            </a:r>
            <a:r>
              <a:rPr lang="es-AR" sz="2100" b="0" i="1" u="none" strike="noStrike" cap="none">
                <a:solidFill>
                  <a:schemeClr val="lt1"/>
                </a:solidFill>
                <a:latin typeface="Roboto"/>
                <a:ea typeface="Roboto"/>
                <a:cs typeface="Roboto"/>
                <a:sym typeface="Roboto"/>
              </a:rPr>
              <a:t> </a:t>
            </a:r>
            <a:br>
              <a:rPr lang="es-AR" sz="2100" b="0" i="1" u="none" strike="noStrike" cap="none">
                <a:solidFill>
                  <a:schemeClr val="lt1"/>
                </a:solidFill>
                <a:latin typeface="Roboto"/>
                <a:ea typeface="Roboto"/>
                <a:cs typeface="Roboto"/>
                <a:sym typeface="Roboto"/>
              </a:rPr>
            </a:br>
            <a:r>
              <a:rPr lang="es-AR" sz="2100" b="0" i="0" u="none" strike="noStrike" cap="none">
                <a:solidFill>
                  <a:schemeClr val="lt1"/>
                </a:solidFill>
                <a:latin typeface="Roboto"/>
                <a:ea typeface="Roboto"/>
                <a:cs typeface="Roboto"/>
                <a:sym typeface="Roboto"/>
              </a:rPr>
              <a:t>permite </a:t>
            </a:r>
            <a:r>
              <a:rPr lang="es-AR" sz="2100" b="1" i="0" u="none" strike="noStrike" cap="none">
                <a:solidFill>
                  <a:schemeClr val="lt1"/>
                </a:solidFill>
                <a:latin typeface="Roboto"/>
                <a:ea typeface="Roboto"/>
                <a:cs typeface="Roboto"/>
                <a:sym typeface="Roboto"/>
              </a:rPr>
              <a:t>crear los objetos</a:t>
            </a:r>
            <a:r>
              <a:rPr lang="es-AR" sz="2100" b="0" i="0" u="none" strike="noStrike" cap="none">
                <a:solidFill>
                  <a:schemeClr val="lt1"/>
                </a:solidFill>
                <a:latin typeface="Roboto"/>
                <a:ea typeface="Roboto"/>
                <a:cs typeface="Roboto"/>
                <a:sym typeface="Roboto"/>
              </a:rPr>
              <a:t> en la base de datos: </a:t>
            </a:r>
            <a:r>
              <a:rPr lang="es-AR" sz="2100" b="1" i="0" u="none" strike="noStrike" cap="none">
                <a:solidFill>
                  <a:schemeClr val="lt1"/>
                </a:solidFill>
                <a:latin typeface="Roboto"/>
                <a:ea typeface="Roboto"/>
                <a:cs typeface="Roboto"/>
                <a:sym typeface="Roboto"/>
              </a:rPr>
              <a:t>tablas</a:t>
            </a:r>
            <a:r>
              <a:rPr lang="es-AR" sz="2100" b="0" i="0" u="none" strike="noStrike" cap="none">
                <a:solidFill>
                  <a:schemeClr val="lt1"/>
                </a:solidFill>
                <a:latin typeface="Roboto"/>
                <a:ea typeface="Roboto"/>
                <a:cs typeface="Roboto"/>
                <a:sym typeface="Roboto"/>
              </a:rPr>
              <a:t>, </a:t>
            </a:r>
            <a:r>
              <a:rPr lang="es-AR" sz="2100" b="1" i="0" u="none" strike="noStrike" cap="none">
                <a:solidFill>
                  <a:schemeClr val="lt1"/>
                </a:solidFill>
                <a:latin typeface="Roboto"/>
                <a:ea typeface="Roboto"/>
                <a:cs typeface="Roboto"/>
                <a:sym typeface="Roboto"/>
              </a:rPr>
              <a:t>vistas</a:t>
            </a:r>
            <a:r>
              <a:rPr lang="es-AR" sz="2100" b="0" i="0" u="none" strike="noStrike" cap="none">
                <a:solidFill>
                  <a:schemeClr val="lt1"/>
                </a:solidFill>
                <a:latin typeface="Roboto"/>
                <a:ea typeface="Roboto"/>
                <a:cs typeface="Roboto"/>
                <a:sym typeface="Roboto"/>
              </a:rPr>
              <a:t>, </a:t>
            </a:r>
            <a:r>
              <a:rPr lang="es-AR" sz="2100" b="1" i="0" u="none" strike="noStrike" cap="none">
                <a:solidFill>
                  <a:schemeClr val="lt1"/>
                </a:solidFill>
                <a:latin typeface="Roboto"/>
                <a:ea typeface="Roboto"/>
                <a:cs typeface="Roboto"/>
                <a:sym typeface="Roboto"/>
              </a:rPr>
              <a:t>funciones</a:t>
            </a:r>
            <a:r>
              <a:rPr lang="es-AR" sz="2100" b="0" i="0" u="none" strike="noStrike" cap="none">
                <a:solidFill>
                  <a:schemeClr val="lt1"/>
                </a:solidFill>
                <a:latin typeface="Roboto"/>
                <a:ea typeface="Roboto"/>
                <a:cs typeface="Roboto"/>
                <a:sym typeface="Roboto"/>
              </a:rPr>
              <a:t>, </a:t>
            </a:r>
            <a:r>
              <a:rPr lang="es-AR" sz="2100" b="1" i="0" u="none" strike="noStrike" cap="none">
                <a:solidFill>
                  <a:schemeClr val="lt1"/>
                </a:solidFill>
                <a:latin typeface="Roboto"/>
                <a:ea typeface="Roboto"/>
                <a:cs typeface="Roboto"/>
                <a:sym typeface="Roboto"/>
              </a:rPr>
              <a:t>procedimientos</a:t>
            </a:r>
            <a:r>
              <a:rPr lang="es-AR" sz="2100" b="0" i="0" u="none" strike="noStrike" cap="none">
                <a:solidFill>
                  <a:schemeClr val="lt1"/>
                </a:solidFill>
                <a:latin typeface="Roboto"/>
                <a:ea typeface="Roboto"/>
                <a:cs typeface="Roboto"/>
                <a:sym typeface="Roboto"/>
              </a:rPr>
              <a:t> y la misma base de datos.</a:t>
            </a:r>
            <a:endParaRPr sz="2100" b="0" i="0" u="none" strike="noStrike" cap="none">
              <a:solidFill>
                <a:schemeClr val="lt1"/>
              </a:solidFill>
              <a:latin typeface="Roboto"/>
              <a:ea typeface="Roboto"/>
              <a:cs typeface="Roboto"/>
              <a:sym typeface="Roboto"/>
            </a:endParaRPr>
          </a:p>
          <a:p>
            <a:pPr marL="0" marR="38100" lvl="0" indent="0" algn="l" rtl="0">
              <a:lnSpc>
                <a:spcPct val="128571"/>
              </a:lnSpc>
              <a:spcBef>
                <a:spcPts val="0"/>
              </a:spcBef>
              <a:spcAft>
                <a:spcPts val="0"/>
              </a:spcAft>
              <a:buClr>
                <a:srgbClr val="000000"/>
              </a:buClr>
              <a:buSzPts val="1100"/>
              <a:buFont typeface="Arial"/>
              <a:buNone/>
            </a:pPr>
            <a:r>
              <a:rPr lang="es-AR" sz="2100" b="0" i="0" u="none" strike="noStrike" cap="none">
                <a:solidFill>
                  <a:schemeClr val="lt1"/>
                </a:solidFill>
                <a:latin typeface="Roboto"/>
                <a:ea typeface="Roboto"/>
                <a:cs typeface="Roboto"/>
                <a:sym typeface="Roboto"/>
              </a:rPr>
              <a:t>Para la creación de tablas, se requiere la definición de cada columna o campo.</a:t>
            </a:r>
            <a:endParaRPr sz="2100" b="0" i="0" u="none" strike="noStrike" cap="none">
              <a:solidFill>
                <a:schemeClr val="lt1"/>
              </a:solidFill>
              <a:latin typeface="Roboto"/>
              <a:ea typeface="Roboto"/>
              <a:cs typeface="Roboto"/>
              <a:sym typeface="Roboto"/>
            </a:endParaRPr>
          </a:p>
        </p:txBody>
      </p:sp>
      <p:sp>
        <p:nvSpPr>
          <p:cNvPr id="760" name="Google Shape;760;g24e4d0b8270_0_761"/>
          <p:cNvSpPr/>
          <p:nvPr/>
        </p:nvSpPr>
        <p:spPr>
          <a:xfrm>
            <a:off x="576032" y="1851599"/>
            <a:ext cx="3386400" cy="1440300"/>
          </a:xfrm>
          <a:prstGeom prst="roundRect">
            <a:avLst>
              <a:gd name="adj" fmla="val 16667"/>
            </a:avLst>
          </a:prstGeom>
          <a:solidFill>
            <a:srgbClr val="7030A0"/>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6600" b="0" i="0" u="none" strike="noStrike" cap="none">
              <a:solidFill>
                <a:schemeClr val="lt1"/>
              </a:solidFill>
              <a:latin typeface="Arial"/>
              <a:ea typeface="Arial"/>
              <a:cs typeface="Arial"/>
              <a:sym typeface="Arial"/>
            </a:endParaRPr>
          </a:p>
        </p:txBody>
      </p:sp>
      <p:sp>
        <p:nvSpPr>
          <p:cNvPr id="761" name="Google Shape;761;g24e4d0b8270_0_761"/>
          <p:cNvSpPr txBox="1"/>
          <p:nvPr/>
        </p:nvSpPr>
        <p:spPr>
          <a:xfrm>
            <a:off x="867766" y="2077971"/>
            <a:ext cx="24306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s-AR" sz="6600" b="0" i="1" u="none" strike="noStrike" cap="none">
                <a:solidFill>
                  <a:schemeClr val="lt1"/>
                </a:solidFill>
                <a:latin typeface="Anton"/>
                <a:ea typeface="Anton"/>
                <a:cs typeface="Anton"/>
                <a:sym typeface="Anton"/>
              </a:rPr>
              <a:t>CREATE</a:t>
            </a:r>
            <a:endParaRPr sz="6600" b="0" i="0" u="none" strike="noStrike" cap="none">
              <a:solidFill>
                <a:schemeClr val="lt1"/>
              </a:solidFill>
              <a:latin typeface="Arial"/>
              <a:ea typeface="Arial"/>
              <a:cs typeface="Arial"/>
              <a:sym typeface="Arial"/>
            </a:endParaRPr>
          </a:p>
        </p:txBody>
      </p:sp>
      <p:cxnSp>
        <p:nvCxnSpPr>
          <p:cNvPr id="762" name="Google Shape;762;g24e4d0b8270_0_761"/>
          <p:cNvCxnSpPr/>
          <p:nvPr/>
        </p:nvCxnSpPr>
        <p:spPr>
          <a:xfrm>
            <a:off x="4336474" y="450273"/>
            <a:ext cx="0" cy="4011000"/>
          </a:xfrm>
          <a:prstGeom prst="straightConnector1">
            <a:avLst/>
          </a:prstGeom>
          <a:noFill/>
          <a:ln w="28575" cap="flat" cmpd="sng">
            <a:solidFill>
              <a:schemeClr val="lt1"/>
            </a:solidFill>
            <a:prstDash val="solid"/>
            <a:round/>
            <a:headEnd type="none" w="sm" len="sm"/>
            <a:tailEnd type="none" w="sm" len="sm"/>
          </a:ln>
        </p:spPr>
      </p:cxnSp>
      <p:pic>
        <p:nvPicPr>
          <p:cNvPr id="763" name="Google Shape;763;g24e4d0b8270_0_761"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7"/>
        <p:cNvGrpSpPr/>
        <p:nvPr/>
      </p:nvGrpSpPr>
      <p:grpSpPr>
        <a:xfrm>
          <a:off x="0" y="0"/>
          <a:ext cx="0" cy="0"/>
          <a:chOff x="0" y="0"/>
          <a:chExt cx="0" cy="0"/>
        </a:xfrm>
      </p:grpSpPr>
      <p:sp>
        <p:nvSpPr>
          <p:cNvPr id="768" name="Google Shape;768;g24e4d0b8270_0_769"/>
          <p:cNvSpPr/>
          <p:nvPr/>
        </p:nvSpPr>
        <p:spPr>
          <a:xfrm>
            <a:off x="1204855" y="3234092"/>
            <a:ext cx="6647400" cy="710100"/>
          </a:xfrm>
          <a:prstGeom prst="roundRect">
            <a:avLst>
              <a:gd name="adj" fmla="val 16667"/>
            </a:avLst>
          </a:prstGeom>
          <a:solidFill>
            <a:srgbClr val="FEE599"/>
          </a:solidFill>
          <a:ln w="2857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769" name="Google Shape;769;g24e4d0b8270_0_769"/>
          <p:cNvSpPr txBox="1"/>
          <p:nvPr/>
        </p:nvSpPr>
        <p:spPr>
          <a:xfrm>
            <a:off x="1291723" y="3105064"/>
            <a:ext cx="6473700" cy="925500"/>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1100"/>
              <a:buFont typeface="Arial"/>
              <a:buNone/>
            </a:pPr>
            <a:r>
              <a:rPr lang="es-AR" sz="2400" b="1" i="0" u="none" strike="noStrike" cap="none">
                <a:solidFill>
                  <a:srgbClr val="000000"/>
                </a:solidFill>
                <a:latin typeface="Courier New"/>
                <a:ea typeface="Courier New"/>
                <a:cs typeface="Courier New"/>
                <a:sym typeface="Courier New"/>
              </a:rPr>
              <a:t>CREATE DATABASE Nombre_Base</a:t>
            </a:r>
            <a:r>
              <a:rPr lang="es-AR" sz="2400" b="1" i="0" u="none" strike="noStrike" cap="none">
                <a:solidFill>
                  <a:srgbClr val="000000"/>
                </a:solidFill>
                <a:latin typeface="Helvetica Neue"/>
                <a:ea typeface="Helvetica Neue"/>
                <a:cs typeface="Helvetica Neue"/>
                <a:sym typeface="Helvetica Neue"/>
              </a:rPr>
              <a:t>;</a:t>
            </a:r>
            <a:endParaRPr sz="3600" b="1" i="0" u="none" strike="noStrike" cap="none">
              <a:solidFill>
                <a:srgbClr val="000000"/>
              </a:solidFill>
              <a:latin typeface="Helvetica Neue Light"/>
              <a:ea typeface="Helvetica Neue Light"/>
              <a:cs typeface="Helvetica Neue Light"/>
              <a:sym typeface="Helvetica Neue Light"/>
            </a:endParaRPr>
          </a:p>
        </p:txBody>
      </p:sp>
      <p:sp>
        <p:nvSpPr>
          <p:cNvPr id="770" name="Google Shape;770;g24e4d0b8270_0_769"/>
          <p:cNvSpPr txBox="1"/>
          <p:nvPr/>
        </p:nvSpPr>
        <p:spPr>
          <a:xfrm>
            <a:off x="621974" y="1310916"/>
            <a:ext cx="7813200" cy="15675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Roboto"/>
                <a:ea typeface="Roboto"/>
                <a:cs typeface="Roboto"/>
                <a:sym typeface="Roboto"/>
              </a:rPr>
              <a:t>Una </a:t>
            </a:r>
            <a:r>
              <a:rPr lang="es-AR" sz="1900" b="1" i="0" u="none" strike="noStrike" cap="none">
                <a:solidFill>
                  <a:schemeClr val="lt1"/>
                </a:solidFill>
                <a:latin typeface="Roboto"/>
                <a:ea typeface="Roboto"/>
                <a:cs typeface="Roboto"/>
                <a:sym typeface="Roboto"/>
              </a:rPr>
              <a:t>base de datos</a:t>
            </a:r>
            <a:r>
              <a:rPr lang="es-AR" sz="1900" b="0" i="0" u="none" strike="noStrike" cap="none">
                <a:solidFill>
                  <a:schemeClr val="lt1"/>
                </a:solidFill>
                <a:latin typeface="Roboto"/>
                <a:ea typeface="Roboto"/>
                <a:cs typeface="Roboto"/>
                <a:sym typeface="Roboto"/>
              </a:rPr>
              <a:t>, tal como una carpeta dentro de Windows, es un </a:t>
            </a:r>
            <a:r>
              <a:rPr lang="es-AR" sz="1900" b="1" i="0" u="none" strike="noStrike" cap="none">
                <a:solidFill>
                  <a:schemeClr val="lt1"/>
                </a:solidFill>
                <a:latin typeface="Roboto"/>
                <a:ea typeface="Roboto"/>
                <a:cs typeface="Roboto"/>
                <a:sym typeface="Roboto"/>
              </a:rPr>
              <a:t>contenedor</a:t>
            </a:r>
            <a:r>
              <a:rPr lang="es-AR" sz="1900" b="0" i="0" u="none" strike="noStrike" cap="none">
                <a:solidFill>
                  <a:schemeClr val="lt1"/>
                </a:solidFill>
                <a:latin typeface="Roboto"/>
                <a:ea typeface="Roboto"/>
                <a:cs typeface="Roboto"/>
                <a:sym typeface="Roboto"/>
              </a:rPr>
              <a:t>. Dicha base de datos contiene tablas (similares a una hoja de Excel), las cuales están compuestas de filas y columnas y son las que contienen la información. </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Roboto"/>
                <a:ea typeface="Roboto"/>
                <a:cs typeface="Roboto"/>
                <a:sym typeface="Roboto"/>
              </a:rPr>
              <a:t>La sintaxis para crear una base de datos es:</a:t>
            </a:r>
            <a:endParaRPr sz="2900" b="0" i="0" u="none" strike="noStrike" cap="none">
              <a:solidFill>
                <a:schemeClr val="lt1"/>
              </a:solidFill>
              <a:latin typeface="Roboto"/>
              <a:ea typeface="Roboto"/>
              <a:cs typeface="Roboto"/>
              <a:sym typeface="Roboto"/>
            </a:endParaRPr>
          </a:p>
        </p:txBody>
      </p:sp>
      <p:sp>
        <p:nvSpPr>
          <p:cNvPr id="771" name="Google Shape;771;g24e4d0b8270_0_769"/>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BASES DE DATOS</a:t>
            </a:r>
            <a:endParaRPr sz="4000" b="0" i="0" u="none" strike="noStrike" cap="none">
              <a:solidFill>
                <a:schemeClr val="lt1"/>
              </a:solidFill>
              <a:latin typeface="Arial"/>
              <a:ea typeface="Arial"/>
              <a:cs typeface="Arial"/>
              <a:sym typeface="Arial"/>
            </a:endParaRPr>
          </a:p>
        </p:txBody>
      </p:sp>
      <p:pic>
        <p:nvPicPr>
          <p:cNvPr id="772" name="Google Shape;772;g24e4d0b8270_0_769"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84"/>
        <p:cNvGrpSpPr/>
        <p:nvPr/>
      </p:nvGrpSpPr>
      <p:grpSpPr>
        <a:xfrm>
          <a:off x="0" y="0"/>
          <a:ext cx="0" cy="0"/>
          <a:chOff x="0" y="0"/>
          <a:chExt cx="0" cy="0"/>
        </a:xfrm>
      </p:grpSpPr>
      <p:sp>
        <p:nvSpPr>
          <p:cNvPr id="785" name="Google Shape;785;g24e4d0b8270_0_784"/>
          <p:cNvSpPr txBox="1"/>
          <p:nvPr/>
        </p:nvSpPr>
        <p:spPr>
          <a:xfrm>
            <a:off x="621974" y="1865501"/>
            <a:ext cx="7813200" cy="15675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Roboto"/>
                <a:ea typeface="Roboto"/>
                <a:cs typeface="Roboto"/>
                <a:sym typeface="Roboto"/>
              </a:rPr>
              <a:t>Para poder trabajar con una base de datos, será necesario ponerla en uso. Para lograrlo, podrás optar entre una de las siguientes opciones:</a:t>
            </a:r>
            <a:endParaRPr sz="1400" b="0" i="0" u="none" strike="noStrike" cap="none">
              <a:solidFill>
                <a:srgbClr val="000000"/>
              </a:solidFill>
              <a:latin typeface="Arial"/>
              <a:ea typeface="Arial"/>
              <a:cs typeface="Arial"/>
              <a:sym typeface="Arial"/>
            </a:endParaRPr>
          </a:p>
          <a:p>
            <a:pPr marL="457200" marR="38100" lvl="0" indent="-274637"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Utilizando código SQL:</a:t>
            </a:r>
            <a:endParaRPr sz="1400" b="0" i="0" u="none" strike="noStrike" cap="none">
              <a:solidFill>
                <a:srgbClr val="000000"/>
              </a:solidFill>
              <a:latin typeface="Arial"/>
              <a:ea typeface="Arial"/>
              <a:cs typeface="Arial"/>
              <a:sym typeface="Arial"/>
            </a:endParaRPr>
          </a:p>
          <a:p>
            <a:pPr marL="457200" marR="38100" lvl="0" indent="-153986" algn="l" rtl="0">
              <a:lnSpc>
                <a:spcPct val="128571"/>
              </a:lnSpc>
              <a:spcBef>
                <a:spcPts val="0"/>
              </a:spcBef>
              <a:spcAft>
                <a:spcPts val="0"/>
              </a:spcAft>
              <a:buClr>
                <a:schemeClr val="lt1"/>
              </a:buClr>
              <a:buSzPts val="1900"/>
              <a:buFont typeface="Arial"/>
              <a:buNone/>
            </a:pPr>
            <a:endParaRPr sz="1900" b="0" i="0" u="none" strike="noStrike" cap="none">
              <a:solidFill>
                <a:schemeClr val="lt1"/>
              </a:solidFill>
              <a:latin typeface="Roboto"/>
              <a:ea typeface="Roboto"/>
              <a:cs typeface="Roboto"/>
              <a:sym typeface="Roboto"/>
            </a:endParaRPr>
          </a:p>
          <a:p>
            <a:pPr marL="457200" marR="38100" lvl="0" indent="-153986" algn="l" rtl="0">
              <a:lnSpc>
                <a:spcPct val="128571"/>
              </a:lnSpc>
              <a:spcBef>
                <a:spcPts val="0"/>
              </a:spcBef>
              <a:spcAft>
                <a:spcPts val="0"/>
              </a:spcAft>
              <a:buClr>
                <a:schemeClr val="lt1"/>
              </a:buClr>
              <a:buSzPts val="1900"/>
              <a:buFont typeface="Arial"/>
              <a:buNone/>
            </a:pPr>
            <a:endParaRPr sz="1900" b="0" i="0" u="none" strike="noStrike" cap="none">
              <a:solidFill>
                <a:schemeClr val="lt1"/>
              </a:solidFill>
              <a:latin typeface="Roboto"/>
              <a:ea typeface="Roboto"/>
              <a:cs typeface="Roboto"/>
              <a:sym typeface="Roboto"/>
            </a:endParaRPr>
          </a:p>
          <a:p>
            <a:pPr marL="457200" marR="38100" lvl="0" indent="-153986" algn="l" rtl="0">
              <a:lnSpc>
                <a:spcPct val="128571"/>
              </a:lnSpc>
              <a:spcBef>
                <a:spcPts val="0"/>
              </a:spcBef>
              <a:spcAft>
                <a:spcPts val="0"/>
              </a:spcAft>
              <a:buClr>
                <a:schemeClr val="lt1"/>
              </a:buClr>
              <a:buSzPts val="1900"/>
              <a:buFont typeface="Arial"/>
              <a:buNone/>
            </a:pPr>
            <a:endParaRPr sz="1900" b="0" i="0" u="none" strike="noStrike" cap="none">
              <a:solidFill>
                <a:schemeClr val="lt1"/>
              </a:solidFill>
              <a:latin typeface="Roboto"/>
              <a:ea typeface="Roboto"/>
              <a:cs typeface="Roboto"/>
              <a:sym typeface="Roboto"/>
            </a:endParaRPr>
          </a:p>
          <a:p>
            <a:pPr marL="457200" marR="38100" lvl="0" indent="-274637" algn="l" rtl="0">
              <a:lnSpc>
                <a:spcPct val="128571"/>
              </a:lnSpc>
              <a:spcBef>
                <a:spcPts val="0"/>
              </a:spcBef>
              <a:spcAft>
                <a:spcPts val="0"/>
              </a:spcAft>
              <a:buClr>
                <a:schemeClr val="lt1"/>
              </a:buClr>
              <a:buSzPts val="1900"/>
              <a:buFont typeface="Arial"/>
              <a:buChar char="•"/>
            </a:pPr>
            <a:r>
              <a:rPr lang="es-AR" sz="1900" b="0" i="0" u="none" strike="noStrike" cap="none">
                <a:solidFill>
                  <a:schemeClr val="lt1"/>
                </a:solidFill>
                <a:latin typeface="Roboto"/>
                <a:ea typeface="Roboto"/>
                <a:cs typeface="Roboto"/>
                <a:sym typeface="Roboto"/>
              </a:rPr>
              <a:t>Desplegando el cuadro </a:t>
            </a:r>
            <a:r>
              <a:rPr lang="es-AR" sz="1900" b="1" i="0" u="none" strike="noStrike" cap="none">
                <a:solidFill>
                  <a:schemeClr val="lt1"/>
                </a:solidFill>
                <a:latin typeface="Roboto"/>
                <a:ea typeface="Roboto"/>
                <a:cs typeface="Roboto"/>
                <a:sym typeface="Roboto"/>
              </a:rPr>
              <a:t>Available Databases </a:t>
            </a:r>
            <a:r>
              <a:rPr lang="es-AR" sz="1900" b="0" i="0" u="none" strike="noStrike" cap="none">
                <a:solidFill>
                  <a:schemeClr val="lt1"/>
                </a:solidFill>
                <a:latin typeface="Roboto"/>
                <a:ea typeface="Roboto"/>
                <a:cs typeface="Roboto"/>
                <a:sym typeface="Roboto"/>
              </a:rPr>
              <a:t>y seleccionando el nombre de la base de datos a utilizar.</a:t>
            </a:r>
            <a:endParaRPr sz="2900" b="0" i="0" u="none" strike="noStrike" cap="none">
              <a:solidFill>
                <a:schemeClr val="lt1"/>
              </a:solidFill>
              <a:latin typeface="Roboto"/>
              <a:ea typeface="Roboto"/>
              <a:cs typeface="Roboto"/>
              <a:sym typeface="Roboto"/>
            </a:endParaRPr>
          </a:p>
        </p:txBody>
      </p:sp>
      <p:sp>
        <p:nvSpPr>
          <p:cNvPr id="786" name="Google Shape;786;g24e4d0b8270_0_784"/>
          <p:cNvSpPr/>
          <p:nvPr/>
        </p:nvSpPr>
        <p:spPr>
          <a:xfrm>
            <a:off x="1204855" y="2418752"/>
            <a:ext cx="6647400" cy="710100"/>
          </a:xfrm>
          <a:prstGeom prst="roundRect">
            <a:avLst>
              <a:gd name="adj" fmla="val 16667"/>
            </a:avLst>
          </a:prstGeom>
          <a:solidFill>
            <a:srgbClr val="FEE599"/>
          </a:solidFill>
          <a:ln w="2857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787" name="Google Shape;787;g24e4d0b8270_0_784"/>
          <p:cNvSpPr txBox="1"/>
          <p:nvPr/>
        </p:nvSpPr>
        <p:spPr>
          <a:xfrm>
            <a:off x="1291723" y="2289724"/>
            <a:ext cx="6473700" cy="925500"/>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1100"/>
              <a:buFont typeface="Arial"/>
              <a:buNone/>
            </a:pPr>
            <a:r>
              <a:rPr lang="es-AR" sz="2400" b="1" i="0" u="none" strike="noStrike" cap="none">
                <a:solidFill>
                  <a:srgbClr val="000000"/>
                </a:solidFill>
                <a:latin typeface="Courier New"/>
                <a:ea typeface="Courier New"/>
                <a:cs typeface="Courier New"/>
                <a:sym typeface="Courier New"/>
              </a:rPr>
              <a:t>USE Nombre_Base</a:t>
            </a:r>
            <a:r>
              <a:rPr lang="es-AR" sz="2400" b="1" i="0" u="none" strike="noStrike" cap="none">
                <a:solidFill>
                  <a:srgbClr val="000000"/>
                </a:solidFill>
                <a:latin typeface="Helvetica Neue"/>
                <a:ea typeface="Helvetica Neue"/>
                <a:cs typeface="Helvetica Neue"/>
                <a:sym typeface="Helvetica Neue"/>
              </a:rPr>
              <a:t>;</a:t>
            </a:r>
            <a:endParaRPr sz="3600" b="1" i="0" u="none" strike="noStrike" cap="none">
              <a:solidFill>
                <a:srgbClr val="000000"/>
              </a:solidFill>
              <a:latin typeface="Helvetica Neue Light"/>
              <a:ea typeface="Helvetica Neue Light"/>
              <a:cs typeface="Helvetica Neue Light"/>
              <a:sym typeface="Helvetica Neue Light"/>
            </a:endParaRPr>
          </a:p>
        </p:txBody>
      </p:sp>
      <p:sp>
        <p:nvSpPr>
          <p:cNvPr id="788" name="Google Shape;788;g24e4d0b8270_0_784"/>
          <p:cNvSpPr txBox="1"/>
          <p:nvPr/>
        </p:nvSpPr>
        <p:spPr>
          <a:xfrm>
            <a:off x="579444" y="309651"/>
            <a:ext cx="7272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PONER EN USO UNA BASE DE DATOS</a:t>
            </a:r>
            <a:endParaRPr sz="4000" b="0" i="0" u="none" strike="noStrike" cap="none">
              <a:solidFill>
                <a:schemeClr val="lt1"/>
              </a:solidFill>
              <a:latin typeface="Arial"/>
              <a:ea typeface="Arial"/>
              <a:cs typeface="Arial"/>
              <a:sym typeface="Arial"/>
            </a:endParaRPr>
          </a:p>
        </p:txBody>
      </p:sp>
      <p:pic>
        <p:nvPicPr>
          <p:cNvPr id="789" name="Google Shape;789;g24e4d0b8270_0_784"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01"/>
        <p:cNvGrpSpPr/>
        <p:nvPr/>
      </p:nvGrpSpPr>
      <p:grpSpPr>
        <a:xfrm>
          <a:off x="0" y="0"/>
          <a:ext cx="0" cy="0"/>
          <a:chOff x="0" y="0"/>
          <a:chExt cx="0" cy="0"/>
        </a:xfrm>
      </p:grpSpPr>
      <p:sp>
        <p:nvSpPr>
          <p:cNvPr id="802" name="Google Shape;802;g24e4d0b8270_0_799"/>
          <p:cNvSpPr txBox="1"/>
          <p:nvPr/>
        </p:nvSpPr>
        <p:spPr>
          <a:xfrm>
            <a:off x="621974" y="1865501"/>
            <a:ext cx="7813200" cy="15675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Roboto"/>
                <a:ea typeface="Roboto"/>
                <a:cs typeface="Roboto"/>
                <a:sym typeface="Roboto"/>
              </a:rPr>
              <a:t>En el caso de querer eliminar una base de datos, deberás ejecutar el siguiente código SQL:</a:t>
            </a:r>
            <a:endParaRPr sz="1400" b="0" i="0" u="none" strike="noStrike" cap="none">
              <a:solidFill>
                <a:srgbClr val="000000"/>
              </a:solidFill>
              <a:latin typeface="Arial"/>
              <a:ea typeface="Arial"/>
              <a:cs typeface="Arial"/>
              <a:sym typeface="Arial"/>
            </a:endParaRPr>
          </a:p>
          <a:p>
            <a:pPr marL="457200" marR="38100" lvl="0" indent="-336550" algn="l" rtl="0">
              <a:lnSpc>
                <a:spcPct val="128571"/>
              </a:lnSpc>
              <a:spcBef>
                <a:spcPts val="0"/>
              </a:spcBef>
              <a:spcAft>
                <a:spcPts val="0"/>
              </a:spcAft>
              <a:buClr>
                <a:srgbClr val="000000"/>
              </a:buClr>
              <a:buSzPts val="1900"/>
              <a:buFont typeface="Arial"/>
              <a:buNone/>
            </a:pPr>
            <a:endParaRPr sz="1900" b="0" i="0" u="none" strike="noStrike" cap="none">
              <a:solidFill>
                <a:schemeClr val="lt1"/>
              </a:solidFill>
              <a:latin typeface="Roboto"/>
              <a:ea typeface="Roboto"/>
              <a:cs typeface="Roboto"/>
              <a:sym typeface="Roboto"/>
            </a:endParaRPr>
          </a:p>
          <a:p>
            <a:pPr marL="457200" marR="38100" lvl="0" indent="-336550" algn="l" rtl="0">
              <a:lnSpc>
                <a:spcPct val="128571"/>
              </a:lnSpc>
              <a:spcBef>
                <a:spcPts val="0"/>
              </a:spcBef>
              <a:spcAft>
                <a:spcPts val="0"/>
              </a:spcAft>
              <a:buClr>
                <a:srgbClr val="000000"/>
              </a:buClr>
              <a:buSzPts val="1900"/>
              <a:buFont typeface="Arial"/>
              <a:buNone/>
            </a:pPr>
            <a:endParaRPr sz="1900" b="0" i="0" u="none" strike="noStrike" cap="none">
              <a:solidFill>
                <a:schemeClr val="lt1"/>
              </a:solidFill>
              <a:latin typeface="Roboto"/>
              <a:ea typeface="Roboto"/>
              <a:cs typeface="Roboto"/>
              <a:sym typeface="Roboto"/>
            </a:endParaRPr>
          </a:p>
          <a:p>
            <a:pPr marL="457200" marR="38100" lvl="0" indent="-336550" algn="l" rtl="0">
              <a:lnSpc>
                <a:spcPct val="128571"/>
              </a:lnSpc>
              <a:spcBef>
                <a:spcPts val="0"/>
              </a:spcBef>
              <a:spcAft>
                <a:spcPts val="0"/>
              </a:spcAft>
              <a:buClr>
                <a:srgbClr val="000000"/>
              </a:buClr>
              <a:buSzPts val="1900"/>
              <a:buFont typeface="Arial"/>
              <a:buNone/>
            </a:pPr>
            <a:endParaRPr sz="1900" b="0" i="0" u="none" strike="noStrike" cap="none">
              <a:solidFill>
                <a:schemeClr val="lt1"/>
              </a:solidFill>
              <a:latin typeface="Roboto"/>
              <a:ea typeface="Roboto"/>
              <a:cs typeface="Roboto"/>
              <a:sym typeface="Roboto"/>
            </a:endParaRPr>
          </a:p>
          <a:p>
            <a:pPr marL="0" marR="38100" lvl="0" indent="0" algn="l" rtl="0">
              <a:lnSpc>
                <a:spcPct val="128571"/>
              </a:lnSpc>
              <a:spcBef>
                <a:spcPts val="0"/>
              </a:spcBef>
              <a:spcAft>
                <a:spcPts val="0"/>
              </a:spcAft>
              <a:buClr>
                <a:srgbClr val="000000"/>
              </a:buClr>
              <a:buSzPts val="1900"/>
              <a:buFont typeface="Arial"/>
              <a:buNone/>
            </a:pPr>
            <a:r>
              <a:rPr lang="es-AR" sz="1900" b="0" i="0" u="none" strike="noStrike" cap="none">
                <a:solidFill>
                  <a:schemeClr val="lt1"/>
                </a:solidFill>
                <a:latin typeface="Roboto"/>
                <a:ea typeface="Roboto"/>
                <a:cs typeface="Roboto"/>
                <a:sym typeface="Roboto"/>
              </a:rPr>
              <a:t>Recuerda que </a:t>
            </a:r>
            <a:r>
              <a:rPr lang="es-AR" sz="1900" b="1" i="0" u="none" strike="noStrike" cap="none">
                <a:solidFill>
                  <a:schemeClr val="lt1"/>
                </a:solidFill>
                <a:latin typeface="Roboto"/>
                <a:ea typeface="Roboto"/>
                <a:cs typeface="Roboto"/>
                <a:sym typeface="Roboto"/>
              </a:rPr>
              <a:t>no podrás eliminar una base de datos en uso</a:t>
            </a:r>
            <a:r>
              <a:rPr lang="es-AR" sz="1900" b="0" i="0" u="none" strike="noStrike" cap="none">
                <a:solidFill>
                  <a:schemeClr val="lt1"/>
                </a:solidFill>
                <a:latin typeface="Roboto"/>
                <a:ea typeface="Roboto"/>
                <a:cs typeface="Roboto"/>
                <a:sym typeface="Roboto"/>
              </a:rPr>
              <a:t>. </a:t>
            </a:r>
            <a:br>
              <a:rPr lang="es-AR" sz="1900" b="0" i="0" u="none" strike="noStrike" cap="none">
                <a:solidFill>
                  <a:schemeClr val="lt1"/>
                </a:solidFill>
                <a:latin typeface="Roboto"/>
                <a:ea typeface="Roboto"/>
                <a:cs typeface="Roboto"/>
                <a:sym typeface="Roboto"/>
              </a:rPr>
            </a:br>
            <a:r>
              <a:rPr lang="es-AR" sz="1900" b="0" i="0" u="none" strike="noStrike" cap="none">
                <a:solidFill>
                  <a:schemeClr val="lt1"/>
                </a:solidFill>
                <a:latin typeface="Roboto"/>
                <a:ea typeface="Roboto"/>
                <a:cs typeface="Roboto"/>
                <a:sym typeface="Roboto"/>
              </a:rPr>
              <a:t>Por lo tanto, deberás poner en uso otra base de datos para poder ejecutar este comando.</a:t>
            </a:r>
            <a:endParaRPr sz="2900" b="0" i="0" u="none" strike="noStrike" cap="none">
              <a:solidFill>
                <a:schemeClr val="lt1"/>
              </a:solidFill>
              <a:latin typeface="Roboto"/>
              <a:ea typeface="Roboto"/>
              <a:cs typeface="Roboto"/>
              <a:sym typeface="Roboto"/>
            </a:endParaRPr>
          </a:p>
        </p:txBody>
      </p:sp>
      <p:sp>
        <p:nvSpPr>
          <p:cNvPr id="803" name="Google Shape;803;g24e4d0b8270_0_799"/>
          <p:cNvSpPr/>
          <p:nvPr/>
        </p:nvSpPr>
        <p:spPr>
          <a:xfrm>
            <a:off x="1204855" y="2093975"/>
            <a:ext cx="6647400" cy="710100"/>
          </a:xfrm>
          <a:prstGeom prst="roundRect">
            <a:avLst>
              <a:gd name="adj" fmla="val 16667"/>
            </a:avLst>
          </a:prstGeom>
          <a:solidFill>
            <a:srgbClr val="FEE599"/>
          </a:solidFill>
          <a:ln w="2857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804" name="Google Shape;804;g24e4d0b8270_0_799"/>
          <p:cNvSpPr txBox="1"/>
          <p:nvPr/>
        </p:nvSpPr>
        <p:spPr>
          <a:xfrm>
            <a:off x="1291723" y="1964947"/>
            <a:ext cx="6473700" cy="925500"/>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1100"/>
              <a:buFont typeface="Arial"/>
              <a:buNone/>
            </a:pPr>
            <a:r>
              <a:rPr lang="es-AR" sz="2400" b="1" i="0" u="none" strike="noStrike" cap="none">
                <a:solidFill>
                  <a:srgbClr val="000000"/>
                </a:solidFill>
                <a:latin typeface="Courier New"/>
                <a:ea typeface="Courier New"/>
                <a:cs typeface="Courier New"/>
                <a:sym typeface="Courier New"/>
              </a:rPr>
              <a:t>DROP DATABASE Nombre_Base</a:t>
            </a:r>
            <a:r>
              <a:rPr lang="es-AR" sz="2400" b="1" i="0" u="none" strike="noStrike" cap="none">
                <a:solidFill>
                  <a:srgbClr val="000000"/>
                </a:solidFill>
                <a:latin typeface="Helvetica Neue"/>
                <a:ea typeface="Helvetica Neue"/>
                <a:cs typeface="Helvetica Neue"/>
                <a:sym typeface="Helvetica Neue"/>
              </a:rPr>
              <a:t>;</a:t>
            </a:r>
            <a:endParaRPr sz="3600" b="1" i="0" u="none" strike="noStrike" cap="none">
              <a:solidFill>
                <a:srgbClr val="000000"/>
              </a:solidFill>
              <a:latin typeface="Helvetica Neue Light"/>
              <a:ea typeface="Helvetica Neue Light"/>
              <a:cs typeface="Helvetica Neue Light"/>
              <a:sym typeface="Helvetica Neue Light"/>
            </a:endParaRPr>
          </a:p>
        </p:txBody>
      </p:sp>
      <p:sp>
        <p:nvSpPr>
          <p:cNvPr id="805" name="Google Shape;805;g24e4d0b8270_0_799"/>
          <p:cNvSpPr txBox="1"/>
          <p:nvPr/>
        </p:nvSpPr>
        <p:spPr>
          <a:xfrm>
            <a:off x="579444" y="309651"/>
            <a:ext cx="7272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ELIMINAR UNA BASE DE DATOS</a:t>
            </a:r>
            <a:endParaRPr sz="4000" b="0" i="0" u="none" strike="noStrike" cap="none">
              <a:solidFill>
                <a:schemeClr val="lt1"/>
              </a:solidFill>
              <a:latin typeface="Arial"/>
              <a:ea typeface="Arial"/>
              <a:cs typeface="Arial"/>
              <a:sym typeface="Arial"/>
            </a:endParaRPr>
          </a:p>
        </p:txBody>
      </p:sp>
      <p:pic>
        <p:nvPicPr>
          <p:cNvPr id="806" name="Google Shape;806;g24e4d0b8270_0_799"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0"/>
        <p:cNvGrpSpPr/>
        <p:nvPr/>
      </p:nvGrpSpPr>
      <p:grpSpPr>
        <a:xfrm>
          <a:off x="0" y="0"/>
          <a:ext cx="0" cy="0"/>
          <a:chOff x="0" y="0"/>
          <a:chExt cx="0" cy="0"/>
        </a:xfrm>
      </p:grpSpPr>
      <p:sp>
        <p:nvSpPr>
          <p:cNvPr id="811" name="Google Shape;811;g24e4d0b8270_0_807"/>
          <p:cNvSpPr txBox="1"/>
          <p:nvPr/>
        </p:nvSpPr>
        <p:spPr>
          <a:xfrm>
            <a:off x="335600" y="2220875"/>
            <a:ext cx="8543700" cy="781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4000"/>
              <a:buFont typeface="Arial"/>
              <a:buNone/>
            </a:pPr>
            <a:r>
              <a:rPr lang="es-AR" sz="6600" b="0" i="1" u="none" strike="noStrike" cap="none">
                <a:solidFill>
                  <a:schemeClr val="lt1"/>
                </a:solidFill>
                <a:latin typeface="Anton"/>
                <a:ea typeface="Anton"/>
                <a:cs typeface="Anton"/>
                <a:sym typeface="Anton"/>
              </a:rPr>
              <a:t>CREACIÓN DE TABLAS</a:t>
            </a:r>
            <a:endParaRPr sz="6600" b="0" i="1" u="none" strike="noStrike" cap="none">
              <a:solidFill>
                <a:schemeClr val="lt1"/>
              </a:solidFill>
              <a:latin typeface="Anton"/>
              <a:ea typeface="Anton"/>
              <a:cs typeface="Anton"/>
              <a:sym typeface="Anton"/>
            </a:endParaRPr>
          </a:p>
        </p:txBody>
      </p:sp>
      <p:sp>
        <p:nvSpPr>
          <p:cNvPr id="812" name="Google Shape;812;g24e4d0b8270_0_807"/>
          <p:cNvSpPr txBox="1"/>
          <p:nvPr/>
        </p:nvSpPr>
        <p:spPr>
          <a:xfrm>
            <a:off x="129950" y="3352260"/>
            <a:ext cx="8955000" cy="5778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s-AR" sz="1800" b="1" i="0" u="none" strike="noStrike" cap="none">
                <a:solidFill>
                  <a:schemeClr val="lt1"/>
                </a:solidFill>
                <a:latin typeface="Roboto"/>
                <a:ea typeface="Roboto"/>
                <a:cs typeface="Roboto"/>
                <a:sym typeface="Roboto"/>
              </a:rPr>
              <a:t>Creación de Tablas en </a:t>
            </a:r>
            <a:br>
              <a:rPr lang="es-AR" sz="1800" b="1" i="0" u="none" strike="noStrike" cap="none">
                <a:solidFill>
                  <a:schemeClr val="lt1"/>
                </a:solidFill>
                <a:latin typeface="Roboto"/>
                <a:ea typeface="Roboto"/>
                <a:cs typeface="Roboto"/>
                <a:sym typeface="Roboto"/>
              </a:rPr>
            </a:br>
            <a:r>
              <a:rPr lang="es-AR" sz="1800" b="1" i="0" u="none" strike="noStrike" cap="none">
                <a:solidFill>
                  <a:schemeClr val="lt1"/>
                </a:solidFill>
                <a:latin typeface="Roboto"/>
                <a:ea typeface="Roboto"/>
                <a:cs typeface="Roboto"/>
                <a:sym typeface="Roboto"/>
              </a:rPr>
              <a:t>SQL Server Management Studio</a:t>
            </a:r>
            <a:endParaRPr sz="1800" b="1" i="0" u="none" strike="noStrike" cap="none">
              <a:solidFill>
                <a:schemeClr val="lt1"/>
              </a:solidFill>
              <a:latin typeface="Roboto"/>
              <a:ea typeface="Roboto"/>
              <a:cs typeface="Roboto"/>
              <a:sym typeface="Roboto"/>
            </a:endParaRPr>
          </a:p>
        </p:txBody>
      </p:sp>
      <p:pic>
        <p:nvPicPr>
          <p:cNvPr id="813" name="Google Shape;813;g24e4d0b8270_0_807"/>
          <p:cNvPicPr preferRelativeResize="0"/>
          <p:nvPr/>
        </p:nvPicPr>
        <p:blipFill rotWithShape="1">
          <a:blip r:embed="rId4">
            <a:alphaModFix/>
          </a:blip>
          <a:srcRect/>
          <a:stretch/>
        </p:blipFill>
        <p:spPr>
          <a:xfrm>
            <a:off x="3882275" y="666483"/>
            <a:ext cx="1379450" cy="1379450"/>
          </a:xfrm>
          <a:prstGeom prst="rect">
            <a:avLst/>
          </a:prstGeom>
          <a:noFill/>
          <a:ln>
            <a:noFill/>
          </a:ln>
        </p:spPr>
      </p:pic>
      <p:pic>
        <p:nvPicPr>
          <p:cNvPr id="814" name="Google Shape;814;g24e4d0b8270_0_807" descr="Blog | Coderhouse"/>
          <p:cNvPicPr preferRelativeResize="0"/>
          <p:nvPr/>
        </p:nvPicPr>
        <p:blipFill rotWithShape="1">
          <a:blip r:embed="rId5">
            <a:alphaModFix/>
          </a:blip>
          <a:srcRect/>
          <a:stretch/>
        </p:blipFill>
        <p:spPr>
          <a:xfrm>
            <a:off x="7598964" y="4569570"/>
            <a:ext cx="1221189" cy="2603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8"/>
        <p:cNvGrpSpPr/>
        <p:nvPr/>
      </p:nvGrpSpPr>
      <p:grpSpPr>
        <a:xfrm>
          <a:off x="0" y="0"/>
          <a:ext cx="0" cy="0"/>
          <a:chOff x="0" y="0"/>
          <a:chExt cx="0" cy="0"/>
        </a:xfrm>
      </p:grpSpPr>
      <p:sp>
        <p:nvSpPr>
          <p:cNvPr id="819" name="Google Shape;819;g24e4d0b8270_0_814"/>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CREACIÓN DE TABLA: SINTAXIS</a:t>
            </a:r>
            <a:endParaRPr sz="4000" b="0" i="0" u="none" strike="noStrike" cap="none">
              <a:solidFill>
                <a:schemeClr val="lt1"/>
              </a:solidFill>
              <a:latin typeface="Arial"/>
              <a:ea typeface="Arial"/>
              <a:cs typeface="Arial"/>
              <a:sym typeface="Arial"/>
            </a:endParaRPr>
          </a:p>
        </p:txBody>
      </p:sp>
      <p:sp>
        <p:nvSpPr>
          <p:cNvPr id="820" name="Google Shape;820;g24e4d0b8270_0_814"/>
          <p:cNvSpPr/>
          <p:nvPr/>
        </p:nvSpPr>
        <p:spPr>
          <a:xfrm>
            <a:off x="729934" y="1195853"/>
            <a:ext cx="6647400" cy="32415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821" name="Google Shape;821;g24e4d0b8270_0_814"/>
          <p:cNvSpPr txBox="1"/>
          <p:nvPr/>
        </p:nvSpPr>
        <p:spPr>
          <a:xfrm>
            <a:off x="962890" y="1066826"/>
            <a:ext cx="6327600" cy="34557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CREATE TABLE Nombre_Tabla (</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Nombre_Campo Tipo_Dato Restricciones,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Nombre_Campo Tipo_Dato Restricciones,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Nombre_Campo Tipo_Dato Restricciones,</a:t>
            </a:r>
            <a:endParaRPr sz="2000" b="1"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Nombre_Campo Tipo_Dato Restricciones,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t>
            </a:r>
            <a:endParaRPr sz="3200" b="1" i="0" u="none" strike="noStrike" cap="none">
              <a:solidFill>
                <a:srgbClr val="000000"/>
              </a:solidFill>
              <a:latin typeface="Helvetica Neue Light"/>
              <a:ea typeface="Helvetica Neue Light"/>
              <a:cs typeface="Helvetica Neue Light"/>
              <a:sym typeface="Helvetica Neue Light"/>
            </a:endParaRPr>
          </a:p>
        </p:txBody>
      </p:sp>
      <p:pic>
        <p:nvPicPr>
          <p:cNvPr id="822" name="Google Shape;822;g24e4d0b8270_0_814"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26"/>
        <p:cNvGrpSpPr/>
        <p:nvPr/>
      </p:nvGrpSpPr>
      <p:grpSpPr>
        <a:xfrm>
          <a:off x="0" y="0"/>
          <a:ext cx="0" cy="0"/>
          <a:chOff x="0" y="0"/>
          <a:chExt cx="0" cy="0"/>
        </a:xfrm>
      </p:grpSpPr>
      <p:sp>
        <p:nvSpPr>
          <p:cNvPr id="827" name="Google Shape;827;g24e4d0b8270_0_821"/>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CREACIÓN DE TABLA: EJEMPLO</a:t>
            </a:r>
            <a:endParaRPr sz="4000" b="0" i="0" u="none" strike="noStrike" cap="none">
              <a:solidFill>
                <a:schemeClr val="lt1"/>
              </a:solidFill>
              <a:latin typeface="Arial"/>
              <a:ea typeface="Arial"/>
              <a:cs typeface="Arial"/>
              <a:sym typeface="Arial"/>
            </a:endParaRPr>
          </a:p>
        </p:txBody>
      </p:sp>
      <p:sp>
        <p:nvSpPr>
          <p:cNvPr id="828" name="Google Shape;828;g24e4d0b8270_0_821"/>
          <p:cNvSpPr/>
          <p:nvPr/>
        </p:nvSpPr>
        <p:spPr>
          <a:xfrm>
            <a:off x="729934" y="1195853"/>
            <a:ext cx="6647400" cy="32415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p:txBody>
      </p:sp>
      <p:sp>
        <p:nvSpPr>
          <p:cNvPr id="829" name="Google Shape;829;g24e4d0b8270_0_821"/>
          <p:cNvSpPr txBox="1"/>
          <p:nvPr/>
        </p:nvSpPr>
        <p:spPr>
          <a:xfrm>
            <a:off x="816802" y="1066826"/>
            <a:ext cx="6473700" cy="34557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CREATE TABLE Clientes (</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ID INT NOT NULL PRIMARY KEY,</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Nombre VARCHAR(30),</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Sexo VARCHAR(9),</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Teléfono INT,</a:t>
            </a:r>
            <a:endParaRPr sz="1800" b="1"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Edad INT,</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CONSTRAINT FK FOREIGN KEY (Edad)</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REFERENCES Edad (ID));</a:t>
            </a:r>
            <a:endParaRPr sz="2800" b="1" i="0" u="none" strike="noStrike" cap="none">
              <a:solidFill>
                <a:srgbClr val="000000"/>
              </a:solidFill>
              <a:latin typeface="Helvetica Neue Light"/>
              <a:ea typeface="Helvetica Neue Light"/>
              <a:cs typeface="Helvetica Neue Light"/>
              <a:sym typeface="Helvetica Neue Light"/>
            </a:endParaRPr>
          </a:p>
        </p:txBody>
      </p:sp>
      <p:pic>
        <p:nvPicPr>
          <p:cNvPr id="830" name="Google Shape;830;g24e4d0b8270_0_821"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7"/>
        <p:cNvGrpSpPr/>
        <p:nvPr/>
      </p:nvGrpSpPr>
      <p:grpSpPr>
        <a:xfrm>
          <a:off x="0" y="0"/>
          <a:ext cx="0" cy="0"/>
          <a:chOff x="0" y="0"/>
          <a:chExt cx="0" cy="0"/>
        </a:xfrm>
      </p:grpSpPr>
      <p:sp>
        <p:nvSpPr>
          <p:cNvPr id="888" name="Google Shape;888;g24e4d0b8270_0_875"/>
          <p:cNvSpPr txBox="1"/>
          <p:nvPr/>
        </p:nvSpPr>
        <p:spPr>
          <a:xfrm>
            <a:off x="484400" y="733200"/>
            <a:ext cx="4182300" cy="3677100"/>
          </a:xfrm>
          <a:prstGeom prst="rect">
            <a:avLst/>
          </a:prstGeom>
          <a:noFill/>
          <a:ln>
            <a:noFill/>
          </a:ln>
        </p:spPr>
        <p:txBody>
          <a:bodyPr spcFirstLastPara="1" wrap="square" lIns="91425" tIns="91425" rIns="91425" bIns="91425" anchor="ctr" anchorCtr="0">
            <a:noAutofit/>
          </a:bodyPr>
          <a:lstStyle/>
          <a:p>
            <a:pPr marL="0" marR="38100" lvl="0" indent="0" algn="r" rtl="0">
              <a:lnSpc>
                <a:spcPct val="128571"/>
              </a:lnSpc>
              <a:spcBef>
                <a:spcPts val="0"/>
              </a:spcBef>
              <a:spcAft>
                <a:spcPts val="0"/>
              </a:spcAft>
              <a:buClr>
                <a:srgbClr val="000000"/>
              </a:buClr>
              <a:buSzPts val="1100"/>
              <a:buFont typeface="Arial"/>
              <a:buNone/>
            </a:pPr>
            <a:r>
              <a:rPr lang="es-AR" sz="2100" b="0" i="0" u="none" strike="noStrike" cap="none">
                <a:solidFill>
                  <a:schemeClr val="lt1"/>
                </a:solidFill>
                <a:latin typeface="Roboto"/>
                <a:ea typeface="Roboto"/>
                <a:cs typeface="Roboto"/>
                <a:sym typeface="Roboto"/>
              </a:rPr>
              <a:t>El comando </a:t>
            </a:r>
            <a:r>
              <a:rPr lang="es-AR" sz="2100" b="1" i="0" u="none" strike="noStrike" cap="none">
                <a:solidFill>
                  <a:schemeClr val="lt1"/>
                </a:solidFill>
                <a:latin typeface="Roboto"/>
                <a:ea typeface="Roboto"/>
                <a:cs typeface="Roboto"/>
                <a:sym typeface="Roboto"/>
              </a:rPr>
              <a:t>ALTER</a:t>
            </a:r>
            <a:r>
              <a:rPr lang="es-AR" sz="2100" b="0" i="1" u="none" strike="noStrike" cap="none">
                <a:solidFill>
                  <a:schemeClr val="lt1"/>
                </a:solidFill>
                <a:latin typeface="Roboto"/>
                <a:ea typeface="Roboto"/>
                <a:cs typeface="Roboto"/>
                <a:sym typeface="Roboto"/>
              </a:rPr>
              <a:t> </a:t>
            </a:r>
            <a:r>
              <a:rPr lang="es-AR" sz="2100" b="0" i="0" u="none" strike="noStrike" cap="none">
                <a:solidFill>
                  <a:schemeClr val="lt1"/>
                </a:solidFill>
                <a:latin typeface="Roboto"/>
                <a:ea typeface="Roboto"/>
                <a:cs typeface="Roboto"/>
                <a:sym typeface="Roboto"/>
              </a:rPr>
              <a:t>permite </a:t>
            </a:r>
            <a:r>
              <a:rPr lang="es-AR" sz="2100" b="1" i="0" u="none" strike="noStrike" cap="none">
                <a:solidFill>
                  <a:schemeClr val="lt1"/>
                </a:solidFill>
                <a:latin typeface="Roboto"/>
                <a:ea typeface="Roboto"/>
                <a:cs typeface="Roboto"/>
                <a:sym typeface="Roboto"/>
              </a:rPr>
              <a:t>modificar la estructura</a:t>
            </a:r>
            <a:r>
              <a:rPr lang="es-AR" sz="2100" b="0" i="0" u="none" strike="noStrike" cap="none">
                <a:solidFill>
                  <a:schemeClr val="lt1"/>
                </a:solidFill>
                <a:latin typeface="Roboto"/>
                <a:ea typeface="Roboto"/>
                <a:cs typeface="Roboto"/>
                <a:sym typeface="Roboto"/>
              </a:rPr>
              <a:t> de una tabla u objeto. </a:t>
            </a:r>
            <a:endParaRPr sz="2100" b="0" i="0" u="none" strike="noStrike" cap="none">
              <a:solidFill>
                <a:schemeClr val="lt1"/>
              </a:solidFill>
              <a:latin typeface="Roboto"/>
              <a:ea typeface="Roboto"/>
              <a:cs typeface="Roboto"/>
              <a:sym typeface="Roboto"/>
            </a:endParaRPr>
          </a:p>
          <a:p>
            <a:pPr marL="0" marR="38100" lvl="0" indent="0" algn="r" rtl="0">
              <a:lnSpc>
                <a:spcPct val="128571"/>
              </a:lnSpc>
              <a:spcBef>
                <a:spcPts val="0"/>
              </a:spcBef>
              <a:spcAft>
                <a:spcPts val="0"/>
              </a:spcAft>
              <a:buClr>
                <a:srgbClr val="000000"/>
              </a:buClr>
              <a:buSzPts val="1100"/>
              <a:buFont typeface="Arial"/>
              <a:buNone/>
            </a:pPr>
            <a:endParaRPr sz="2100" b="0" i="0" u="none" strike="noStrike" cap="none">
              <a:solidFill>
                <a:schemeClr val="lt1"/>
              </a:solidFill>
              <a:latin typeface="Roboto"/>
              <a:ea typeface="Roboto"/>
              <a:cs typeface="Roboto"/>
              <a:sym typeface="Roboto"/>
            </a:endParaRPr>
          </a:p>
          <a:p>
            <a:pPr marL="0" marR="38100" lvl="0" indent="0" algn="r" rtl="0">
              <a:lnSpc>
                <a:spcPct val="128571"/>
              </a:lnSpc>
              <a:spcBef>
                <a:spcPts val="0"/>
              </a:spcBef>
              <a:spcAft>
                <a:spcPts val="0"/>
              </a:spcAft>
              <a:buClr>
                <a:srgbClr val="000000"/>
              </a:buClr>
              <a:buSzPts val="1100"/>
              <a:buFont typeface="Arial"/>
              <a:buNone/>
            </a:pPr>
            <a:r>
              <a:rPr lang="es-AR" sz="2100" b="0" i="0" u="none" strike="noStrike" cap="none">
                <a:solidFill>
                  <a:schemeClr val="lt1"/>
                </a:solidFill>
                <a:latin typeface="Roboto"/>
                <a:ea typeface="Roboto"/>
                <a:cs typeface="Roboto"/>
                <a:sym typeface="Roboto"/>
              </a:rPr>
              <a:t>Se pueden agregar o quitar campos a una tabla, modificar el tipo de datos de un campo, modificar la clave primaria, etc.</a:t>
            </a:r>
            <a:endParaRPr sz="2100" b="0" i="0" u="none" strike="noStrike" cap="none">
              <a:solidFill>
                <a:schemeClr val="lt1"/>
              </a:solidFill>
              <a:latin typeface="Roboto"/>
              <a:ea typeface="Roboto"/>
              <a:cs typeface="Roboto"/>
              <a:sym typeface="Roboto"/>
            </a:endParaRPr>
          </a:p>
        </p:txBody>
      </p:sp>
      <p:sp>
        <p:nvSpPr>
          <p:cNvPr id="889" name="Google Shape;889;g24e4d0b8270_0_875"/>
          <p:cNvSpPr/>
          <p:nvPr/>
        </p:nvSpPr>
        <p:spPr>
          <a:xfrm>
            <a:off x="5443869" y="1786269"/>
            <a:ext cx="2870700" cy="1439700"/>
          </a:xfrm>
          <a:prstGeom prst="roundRect">
            <a:avLst>
              <a:gd name="adj" fmla="val 16667"/>
            </a:avLst>
          </a:prstGeom>
          <a:solidFill>
            <a:srgbClr val="00B0F0"/>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600"/>
              <a:buFont typeface="Arial"/>
              <a:buNone/>
            </a:pPr>
            <a:endParaRPr sz="6600" b="0" i="0" u="none" strike="noStrike" cap="none">
              <a:solidFill>
                <a:schemeClr val="lt1"/>
              </a:solidFill>
              <a:latin typeface="Arial"/>
              <a:ea typeface="Arial"/>
              <a:cs typeface="Arial"/>
              <a:sym typeface="Arial"/>
            </a:endParaRPr>
          </a:p>
        </p:txBody>
      </p:sp>
      <p:sp>
        <p:nvSpPr>
          <p:cNvPr id="890" name="Google Shape;890;g24e4d0b8270_0_875"/>
          <p:cNvSpPr txBox="1"/>
          <p:nvPr/>
        </p:nvSpPr>
        <p:spPr>
          <a:xfrm>
            <a:off x="5731162" y="2007087"/>
            <a:ext cx="20184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s-AR" sz="6600" b="0" i="1" u="none" strike="noStrike" cap="none">
                <a:solidFill>
                  <a:schemeClr val="lt1"/>
                </a:solidFill>
                <a:latin typeface="Anton"/>
                <a:ea typeface="Anton"/>
                <a:cs typeface="Anton"/>
                <a:sym typeface="Anton"/>
              </a:rPr>
              <a:t>ALTER</a:t>
            </a:r>
            <a:endParaRPr sz="6600" b="0" i="0" u="none" strike="noStrike" cap="none">
              <a:solidFill>
                <a:schemeClr val="lt1"/>
              </a:solidFill>
              <a:latin typeface="Arial"/>
              <a:ea typeface="Arial"/>
              <a:cs typeface="Arial"/>
              <a:sym typeface="Arial"/>
            </a:endParaRPr>
          </a:p>
        </p:txBody>
      </p:sp>
      <p:cxnSp>
        <p:nvCxnSpPr>
          <p:cNvPr id="891" name="Google Shape;891;g24e4d0b8270_0_875"/>
          <p:cNvCxnSpPr/>
          <p:nvPr/>
        </p:nvCxnSpPr>
        <p:spPr>
          <a:xfrm>
            <a:off x="4966855" y="658091"/>
            <a:ext cx="0" cy="3893100"/>
          </a:xfrm>
          <a:prstGeom prst="straightConnector1">
            <a:avLst/>
          </a:prstGeom>
          <a:noFill/>
          <a:ln w="28575" cap="flat" cmpd="sng">
            <a:solidFill>
              <a:schemeClr val="lt1"/>
            </a:solidFill>
            <a:prstDash val="solid"/>
            <a:round/>
            <a:headEnd type="none" w="sm" len="sm"/>
            <a:tailEnd type="none" w="sm" len="sm"/>
          </a:ln>
        </p:spPr>
      </p:cxnSp>
      <p:pic>
        <p:nvPicPr>
          <p:cNvPr id="892" name="Google Shape;892;g24e4d0b8270_0_875"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6"/>
        <p:cNvGrpSpPr/>
        <p:nvPr/>
      </p:nvGrpSpPr>
      <p:grpSpPr>
        <a:xfrm>
          <a:off x="0" y="0"/>
          <a:ext cx="0" cy="0"/>
          <a:chOff x="0" y="0"/>
          <a:chExt cx="0" cy="0"/>
        </a:xfrm>
      </p:grpSpPr>
      <p:sp>
        <p:nvSpPr>
          <p:cNvPr id="897" name="Google Shape;897;g24e4d0b8270_0_883"/>
          <p:cNvSpPr txBox="1"/>
          <p:nvPr/>
        </p:nvSpPr>
        <p:spPr>
          <a:xfrm>
            <a:off x="579445" y="309651"/>
            <a:ext cx="58782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AGREGAR UNA COLUMNA: SINTAXIS y EJEMPLO</a:t>
            </a:r>
            <a:endParaRPr sz="4000" b="0" i="0" u="none" strike="noStrike" cap="none">
              <a:solidFill>
                <a:schemeClr val="lt1"/>
              </a:solidFill>
              <a:latin typeface="Arial"/>
              <a:ea typeface="Arial"/>
              <a:cs typeface="Arial"/>
              <a:sym typeface="Arial"/>
            </a:endParaRPr>
          </a:p>
        </p:txBody>
      </p:sp>
      <p:sp>
        <p:nvSpPr>
          <p:cNvPr id="898" name="Google Shape;898;g24e4d0b8270_0_883"/>
          <p:cNvSpPr/>
          <p:nvPr/>
        </p:nvSpPr>
        <p:spPr>
          <a:xfrm>
            <a:off x="1859939" y="1822623"/>
            <a:ext cx="5988600" cy="12324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899" name="Google Shape;899;g24e4d0b8270_0_883"/>
          <p:cNvSpPr txBox="1"/>
          <p:nvPr/>
        </p:nvSpPr>
        <p:spPr>
          <a:xfrm>
            <a:off x="1946807" y="1822623"/>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ALTER TABLE </a:t>
            </a:r>
            <a:r>
              <a:rPr lang="es-AR" sz="2000" b="0" i="0" u="none" strike="noStrike" cap="none">
                <a:solidFill>
                  <a:srgbClr val="000000"/>
                </a:solidFill>
                <a:latin typeface="Courier New"/>
                <a:ea typeface="Courier New"/>
                <a:cs typeface="Courier New"/>
                <a:sym typeface="Courier New"/>
              </a:rPr>
              <a:t>Nombre_Tabla</a:t>
            </a:r>
            <a:endParaRPr sz="2000" b="0"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ADD </a:t>
            </a:r>
            <a:r>
              <a:rPr lang="es-AR" sz="2000" b="0" i="0" u="none" strike="noStrike" cap="none">
                <a:solidFill>
                  <a:srgbClr val="000000"/>
                </a:solidFill>
                <a:latin typeface="Courier New"/>
                <a:ea typeface="Courier New"/>
                <a:cs typeface="Courier New"/>
                <a:sym typeface="Courier New"/>
              </a:rPr>
              <a:t>Nombre_Campo Tipo_Dato;</a:t>
            </a: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900" name="Google Shape;900;g24e4d0b8270_0_883"/>
          <p:cNvSpPr/>
          <p:nvPr/>
        </p:nvSpPr>
        <p:spPr>
          <a:xfrm>
            <a:off x="1859939" y="3193727"/>
            <a:ext cx="5988600" cy="12324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01" name="Google Shape;901;g24e4d0b8270_0_883"/>
          <p:cNvSpPr txBox="1"/>
          <p:nvPr/>
        </p:nvSpPr>
        <p:spPr>
          <a:xfrm>
            <a:off x="1946807" y="3193727"/>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ALTER TABLE </a:t>
            </a:r>
            <a:r>
              <a:rPr lang="es-AR" sz="2000" b="0" i="0" u="none" strike="noStrike" cap="none">
                <a:solidFill>
                  <a:srgbClr val="000000"/>
                </a:solidFill>
                <a:latin typeface="Courier New"/>
                <a:ea typeface="Courier New"/>
                <a:cs typeface="Courier New"/>
                <a:sym typeface="Courier New"/>
              </a:rPr>
              <a:t>Clientes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ADD </a:t>
            </a:r>
            <a:r>
              <a:rPr lang="es-AR" sz="2000" b="0" i="0" u="none" strike="noStrike" cap="none">
                <a:solidFill>
                  <a:srgbClr val="000000"/>
                </a:solidFill>
                <a:latin typeface="Courier New"/>
                <a:ea typeface="Courier New"/>
                <a:cs typeface="Courier New"/>
                <a:sym typeface="Courier New"/>
              </a:rPr>
              <a:t>Apellido </a:t>
            </a:r>
            <a:r>
              <a:rPr lang="es-AR" sz="2000" b="1" i="0" u="none" strike="noStrike" cap="none">
                <a:solidFill>
                  <a:srgbClr val="000000"/>
                </a:solidFill>
                <a:latin typeface="Courier New"/>
                <a:ea typeface="Courier New"/>
                <a:cs typeface="Courier New"/>
                <a:sym typeface="Courier New"/>
              </a:rPr>
              <a:t>VARCHAR(30)</a:t>
            </a:r>
            <a:r>
              <a:rPr lang="es-AR" sz="2000" b="0" i="0" u="none" strike="noStrike" cap="none">
                <a:solidFill>
                  <a:srgbClr val="000000"/>
                </a:solidFill>
                <a:latin typeface="Courier New"/>
                <a:ea typeface="Courier New"/>
                <a:cs typeface="Courier New"/>
                <a:sym typeface="Courier New"/>
              </a:rPr>
              <a:t>;</a:t>
            </a: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902" name="Google Shape;902;g24e4d0b8270_0_883"/>
          <p:cNvSpPr txBox="1"/>
          <p:nvPr/>
        </p:nvSpPr>
        <p:spPr>
          <a:xfrm>
            <a:off x="433766" y="2173129"/>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SINTAXIS</a:t>
            </a:r>
            <a:endParaRPr sz="1800" b="0" i="0" u="none" strike="noStrike" cap="none">
              <a:solidFill>
                <a:schemeClr val="lt1"/>
              </a:solidFill>
              <a:latin typeface="Arial"/>
              <a:ea typeface="Arial"/>
              <a:cs typeface="Arial"/>
              <a:sym typeface="Arial"/>
            </a:endParaRPr>
          </a:p>
        </p:txBody>
      </p:sp>
      <p:sp>
        <p:nvSpPr>
          <p:cNvPr id="903" name="Google Shape;903;g24e4d0b8270_0_883"/>
          <p:cNvSpPr txBox="1"/>
          <p:nvPr/>
        </p:nvSpPr>
        <p:spPr>
          <a:xfrm>
            <a:off x="433766" y="3539874"/>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EJEMPLO</a:t>
            </a:r>
            <a:endParaRPr sz="1800" b="0" i="0" u="none" strike="noStrike" cap="none">
              <a:solidFill>
                <a:schemeClr val="lt1"/>
              </a:solidFill>
              <a:latin typeface="Arial"/>
              <a:ea typeface="Arial"/>
              <a:cs typeface="Arial"/>
              <a:sym typeface="Arial"/>
            </a:endParaRPr>
          </a:p>
        </p:txBody>
      </p:sp>
      <p:pic>
        <p:nvPicPr>
          <p:cNvPr id="904" name="Google Shape;904;g24e4d0b8270_0_883"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cxnSp>
        <p:nvCxnSpPr>
          <p:cNvPr id="905" name="Google Shape;905;g24e4d0b8270_0_883"/>
          <p:cNvCxnSpPr/>
          <p:nvPr/>
        </p:nvCxnSpPr>
        <p:spPr>
          <a:xfrm>
            <a:off x="1685925" y="1822623"/>
            <a:ext cx="0" cy="1232400"/>
          </a:xfrm>
          <a:prstGeom prst="straightConnector1">
            <a:avLst/>
          </a:prstGeom>
          <a:noFill/>
          <a:ln w="19050" cap="flat" cmpd="sng">
            <a:solidFill>
              <a:schemeClr val="lt1"/>
            </a:solidFill>
            <a:prstDash val="solid"/>
            <a:round/>
            <a:headEnd type="none" w="sm" len="sm"/>
            <a:tailEnd type="none" w="sm" len="sm"/>
          </a:ln>
        </p:spPr>
      </p:cxnSp>
      <p:cxnSp>
        <p:nvCxnSpPr>
          <p:cNvPr id="906" name="Google Shape;906;g24e4d0b8270_0_883"/>
          <p:cNvCxnSpPr/>
          <p:nvPr/>
        </p:nvCxnSpPr>
        <p:spPr>
          <a:xfrm>
            <a:off x="1685925" y="3193727"/>
            <a:ext cx="0" cy="1232400"/>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18"/>
        <p:cNvGrpSpPr/>
        <p:nvPr/>
      </p:nvGrpSpPr>
      <p:grpSpPr>
        <a:xfrm>
          <a:off x="0" y="0"/>
          <a:ext cx="0" cy="0"/>
          <a:chOff x="0" y="0"/>
          <a:chExt cx="0" cy="0"/>
        </a:xfrm>
      </p:grpSpPr>
      <p:sp>
        <p:nvSpPr>
          <p:cNvPr id="919" name="Google Shape;919;g24e4d0b8270_0_903"/>
          <p:cNvSpPr txBox="1"/>
          <p:nvPr/>
        </p:nvSpPr>
        <p:spPr>
          <a:xfrm>
            <a:off x="579444" y="309651"/>
            <a:ext cx="7458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CAMBIAR NOMBRE DE UNA COLUMNA: SINTAXIS y EJEMPLO</a:t>
            </a:r>
            <a:endParaRPr sz="4000" b="0" i="0" u="none" strike="noStrike" cap="none">
              <a:solidFill>
                <a:schemeClr val="lt1"/>
              </a:solidFill>
              <a:latin typeface="Arial"/>
              <a:ea typeface="Arial"/>
              <a:cs typeface="Arial"/>
              <a:sym typeface="Arial"/>
            </a:endParaRPr>
          </a:p>
        </p:txBody>
      </p:sp>
      <p:sp>
        <p:nvSpPr>
          <p:cNvPr id="920" name="Google Shape;920;g24e4d0b8270_0_903"/>
          <p:cNvSpPr/>
          <p:nvPr/>
        </p:nvSpPr>
        <p:spPr>
          <a:xfrm>
            <a:off x="1859939" y="1892172"/>
            <a:ext cx="5305200" cy="11331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21" name="Google Shape;921;g24e4d0b8270_0_903"/>
          <p:cNvSpPr txBox="1"/>
          <p:nvPr/>
        </p:nvSpPr>
        <p:spPr>
          <a:xfrm>
            <a:off x="1946806" y="1865744"/>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EXEC sp_rename</a:t>
            </a:r>
            <a:endParaRPr sz="1800" b="1"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800" b="0" i="0" u="none" strike="noStrike" cap="none">
                <a:solidFill>
                  <a:srgbClr val="000000"/>
                </a:solidFill>
                <a:latin typeface="Courier New"/>
                <a:ea typeface="Courier New"/>
                <a:cs typeface="Courier New"/>
                <a:sym typeface="Courier New"/>
              </a:rPr>
              <a:t>Nombre_Tabla.Campo, Nombre_Nuevo;</a:t>
            </a:r>
            <a:endParaRPr sz="2800" b="0" i="0" u="none" strike="noStrike" cap="none">
              <a:solidFill>
                <a:srgbClr val="000000"/>
              </a:solidFill>
              <a:latin typeface="Helvetica Neue Light"/>
              <a:ea typeface="Helvetica Neue Light"/>
              <a:cs typeface="Helvetica Neue Light"/>
              <a:sym typeface="Helvetica Neue Light"/>
            </a:endParaRPr>
          </a:p>
        </p:txBody>
      </p:sp>
      <p:sp>
        <p:nvSpPr>
          <p:cNvPr id="922" name="Google Shape;922;g24e4d0b8270_0_903"/>
          <p:cNvSpPr/>
          <p:nvPr/>
        </p:nvSpPr>
        <p:spPr>
          <a:xfrm>
            <a:off x="1859939" y="3241022"/>
            <a:ext cx="5305200" cy="11331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23" name="Google Shape;923;g24e4d0b8270_0_903"/>
          <p:cNvSpPr txBox="1"/>
          <p:nvPr/>
        </p:nvSpPr>
        <p:spPr>
          <a:xfrm>
            <a:off x="1946806" y="3197698"/>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EXEC sp_rename</a:t>
            </a:r>
            <a:endParaRPr sz="1800" b="1"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800" b="0" i="0" u="none" strike="noStrike" cap="none">
                <a:solidFill>
                  <a:srgbClr val="000000"/>
                </a:solidFill>
                <a:latin typeface="Courier New"/>
                <a:ea typeface="Courier New"/>
                <a:cs typeface="Courier New"/>
                <a:sym typeface="Courier New"/>
              </a:rPr>
              <a:t>‘Clientes.Nombre’, ‘Name’;</a:t>
            </a:r>
            <a:endParaRPr sz="2800" b="0" i="0" u="none" strike="noStrike" cap="none">
              <a:solidFill>
                <a:srgbClr val="000000"/>
              </a:solidFill>
              <a:latin typeface="Helvetica Neue Light"/>
              <a:ea typeface="Helvetica Neue Light"/>
              <a:cs typeface="Helvetica Neue Light"/>
              <a:sym typeface="Helvetica Neue Light"/>
            </a:endParaRPr>
          </a:p>
        </p:txBody>
      </p:sp>
      <p:pic>
        <p:nvPicPr>
          <p:cNvPr id="924" name="Google Shape;924;g24e4d0b8270_0_903"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
        <p:nvSpPr>
          <p:cNvPr id="925" name="Google Shape;925;g24e4d0b8270_0_903"/>
          <p:cNvSpPr txBox="1"/>
          <p:nvPr/>
        </p:nvSpPr>
        <p:spPr>
          <a:xfrm>
            <a:off x="433766" y="2173129"/>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SINTAXIS</a:t>
            </a:r>
            <a:endParaRPr sz="1800" b="0" i="0" u="none" strike="noStrike" cap="none">
              <a:solidFill>
                <a:schemeClr val="lt1"/>
              </a:solidFill>
              <a:latin typeface="Arial"/>
              <a:ea typeface="Arial"/>
              <a:cs typeface="Arial"/>
              <a:sym typeface="Arial"/>
            </a:endParaRPr>
          </a:p>
        </p:txBody>
      </p:sp>
      <p:sp>
        <p:nvSpPr>
          <p:cNvPr id="926" name="Google Shape;926;g24e4d0b8270_0_903"/>
          <p:cNvSpPr txBox="1"/>
          <p:nvPr/>
        </p:nvSpPr>
        <p:spPr>
          <a:xfrm>
            <a:off x="433766" y="3539874"/>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EJEMPLO</a:t>
            </a:r>
            <a:endParaRPr sz="1800" b="0" i="0" u="none" strike="noStrike" cap="none">
              <a:solidFill>
                <a:schemeClr val="lt1"/>
              </a:solidFill>
              <a:latin typeface="Arial"/>
              <a:ea typeface="Arial"/>
              <a:cs typeface="Arial"/>
              <a:sym typeface="Arial"/>
            </a:endParaRPr>
          </a:p>
        </p:txBody>
      </p:sp>
      <p:cxnSp>
        <p:nvCxnSpPr>
          <p:cNvPr id="927" name="Google Shape;927;g24e4d0b8270_0_903"/>
          <p:cNvCxnSpPr/>
          <p:nvPr/>
        </p:nvCxnSpPr>
        <p:spPr>
          <a:xfrm>
            <a:off x="1685925" y="1822623"/>
            <a:ext cx="0" cy="1232400"/>
          </a:xfrm>
          <a:prstGeom prst="straightConnector1">
            <a:avLst/>
          </a:prstGeom>
          <a:noFill/>
          <a:ln w="19050" cap="flat" cmpd="sng">
            <a:solidFill>
              <a:schemeClr val="lt1"/>
            </a:solidFill>
            <a:prstDash val="solid"/>
            <a:round/>
            <a:headEnd type="none" w="sm" len="sm"/>
            <a:tailEnd type="none" w="sm" len="sm"/>
          </a:ln>
        </p:spPr>
      </p:cxnSp>
      <p:cxnSp>
        <p:nvCxnSpPr>
          <p:cNvPr id="928" name="Google Shape;928;g24e4d0b8270_0_903"/>
          <p:cNvCxnSpPr/>
          <p:nvPr/>
        </p:nvCxnSpPr>
        <p:spPr>
          <a:xfrm>
            <a:off x="1685925" y="3193727"/>
            <a:ext cx="0" cy="1232400"/>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40"/>
        <p:cNvGrpSpPr/>
        <p:nvPr/>
      </p:nvGrpSpPr>
      <p:grpSpPr>
        <a:xfrm>
          <a:off x="0" y="0"/>
          <a:ext cx="0" cy="0"/>
          <a:chOff x="0" y="0"/>
          <a:chExt cx="0" cy="0"/>
        </a:xfrm>
      </p:grpSpPr>
      <p:sp>
        <p:nvSpPr>
          <p:cNvPr id="941" name="Google Shape;941;g24e4d0b8270_0_923"/>
          <p:cNvSpPr txBox="1"/>
          <p:nvPr/>
        </p:nvSpPr>
        <p:spPr>
          <a:xfrm>
            <a:off x="579444" y="309651"/>
            <a:ext cx="74589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MODIFICAR UNA COLUMNA: </a:t>
            </a:r>
            <a:br>
              <a:rPr lang="es-AR" sz="4000" b="0" i="1" u="none" strike="noStrike" cap="none">
                <a:solidFill>
                  <a:schemeClr val="lt1"/>
                </a:solidFill>
                <a:latin typeface="Anton"/>
                <a:ea typeface="Anton"/>
                <a:cs typeface="Anton"/>
                <a:sym typeface="Anton"/>
              </a:rPr>
            </a:br>
            <a:r>
              <a:rPr lang="es-AR" sz="4000" b="0" i="1" u="none" strike="noStrike" cap="none">
                <a:solidFill>
                  <a:schemeClr val="lt1"/>
                </a:solidFill>
                <a:latin typeface="Anton"/>
                <a:ea typeface="Anton"/>
                <a:cs typeface="Anton"/>
                <a:sym typeface="Anton"/>
              </a:rPr>
              <a:t>SINTAXIS y EJEMPLO</a:t>
            </a:r>
            <a:endParaRPr sz="4000" b="0" i="0" u="none" strike="noStrike" cap="none">
              <a:solidFill>
                <a:schemeClr val="lt1"/>
              </a:solidFill>
              <a:latin typeface="Arial"/>
              <a:ea typeface="Arial"/>
              <a:cs typeface="Arial"/>
              <a:sym typeface="Arial"/>
            </a:endParaRPr>
          </a:p>
        </p:txBody>
      </p:sp>
      <p:sp>
        <p:nvSpPr>
          <p:cNvPr id="942" name="Google Shape;942;g24e4d0b8270_0_923"/>
          <p:cNvSpPr/>
          <p:nvPr/>
        </p:nvSpPr>
        <p:spPr>
          <a:xfrm>
            <a:off x="1859939" y="1892172"/>
            <a:ext cx="5305200" cy="11331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43" name="Google Shape;943;g24e4d0b8270_0_923"/>
          <p:cNvSpPr txBox="1"/>
          <p:nvPr/>
        </p:nvSpPr>
        <p:spPr>
          <a:xfrm>
            <a:off x="1946806" y="1865744"/>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ALTER TABLE </a:t>
            </a:r>
            <a:r>
              <a:rPr lang="es-AR" sz="1800" b="0" i="0" u="none" strike="noStrike" cap="none">
                <a:solidFill>
                  <a:srgbClr val="000000"/>
                </a:solidFill>
                <a:latin typeface="Courier New"/>
                <a:ea typeface="Courier New"/>
                <a:cs typeface="Courier New"/>
                <a:sym typeface="Courier New"/>
              </a:rPr>
              <a:t>Nombre_Tabla</a:t>
            </a:r>
            <a:endParaRPr sz="1800" b="0"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ALTER COLUMN </a:t>
            </a:r>
            <a:r>
              <a:rPr lang="es-AR" sz="1800" b="0" i="0" u="none" strike="noStrike" cap="none">
                <a:solidFill>
                  <a:srgbClr val="000000"/>
                </a:solidFill>
                <a:latin typeface="Courier New"/>
                <a:ea typeface="Courier New"/>
                <a:cs typeface="Courier New"/>
                <a:sym typeface="Courier New"/>
              </a:rPr>
              <a:t>Nombre_Campo Tipo_Dato;</a:t>
            </a:r>
            <a:endParaRPr sz="1800" b="0" i="0" u="none" strike="noStrike" cap="none">
              <a:solidFill>
                <a:srgbClr val="000000"/>
              </a:solidFill>
              <a:latin typeface="Courier New"/>
              <a:ea typeface="Courier New"/>
              <a:cs typeface="Courier New"/>
              <a:sym typeface="Courier New"/>
            </a:endParaRPr>
          </a:p>
        </p:txBody>
      </p:sp>
      <p:sp>
        <p:nvSpPr>
          <p:cNvPr id="944" name="Google Shape;944;g24e4d0b8270_0_923"/>
          <p:cNvSpPr/>
          <p:nvPr/>
        </p:nvSpPr>
        <p:spPr>
          <a:xfrm>
            <a:off x="1859939" y="3241022"/>
            <a:ext cx="5305200" cy="11331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45" name="Google Shape;945;g24e4d0b8270_0_923"/>
          <p:cNvSpPr txBox="1"/>
          <p:nvPr/>
        </p:nvSpPr>
        <p:spPr>
          <a:xfrm>
            <a:off x="1946806" y="3197698"/>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ALTER TABLE </a:t>
            </a:r>
            <a:r>
              <a:rPr lang="es-AR" sz="1800" b="0" i="0" u="none" strike="noStrike" cap="none">
                <a:solidFill>
                  <a:srgbClr val="000000"/>
                </a:solidFill>
                <a:latin typeface="Courier New"/>
                <a:ea typeface="Courier New"/>
                <a:cs typeface="Courier New"/>
                <a:sym typeface="Courier New"/>
              </a:rPr>
              <a:t>Alumnos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1800" b="1" i="0" u="none" strike="noStrike" cap="none">
                <a:solidFill>
                  <a:srgbClr val="000000"/>
                </a:solidFill>
                <a:latin typeface="Courier New"/>
                <a:ea typeface="Courier New"/>
                <a:cs typeface="Courier New"/>
                <a:sym typeface="Courier New"/>
              </a:rPr>
              <a:t>ALTER COLUMN </a:t>
            </a:r>
            <a:r>
              <a:rPr lang="es-AR" sz="1800" b="0" i="0" u="none" strike="noStrike" cap="none">
                <a:solidFill>
                  <a:srgbClr val="000000"/>
                </a:solidFill>
                <a:latin typeface="Courier New"/>
                <a:ea typeface="Courier New"/>
                <a:cs typeface="Courier New"/>
                <a:sym typeface="Courier New"/>
              </a:rPr>
              <a:t>Nombre </a:t>
            </a:r>
            <a:r>
              <a:rPr lang="es-AR" sz="1800" b="1" i="0" u="none" strike="noStrike" cap="none">
                <a:solidFill>
                  <a:srgbClr val="000000"/>
                </a:solidFill>
                <a:latin typeface="Courier New"/>
                <a:ea typeface="Courier New"/>
                <a:cs typeface="Courier New"/>
                <a:sym typeface="Courier New"/>
              </a:rPr>
              <a:t>VARCHAR(50)</a:t>
            </a:r>
            <a:r>
              <a:rPr lang="es-AR" sz="1800" b="0" i="0" u="none" strike="noStrike" cap="none">
                <a:solidFill>
                  <a:srgbClr val="000000"/>
                </a:solidFill>
                <a:latin typeface="Courier New"/>
                <a:ea typeface="Courier New"/>
                <a:cs typeface="Courier New"/>
                <a:sym typeface="Courier New"/>
              </a:rPr>
              <a:t>;</a:t>
            </a:r>
            <a:endParaRPr sz="1800" b="0" i="0" u="none" strike="noStrike" cap="none">
              <a:solidFill>
                <a:srgbClr val="000000"/>
              </a:solidFill>
              <a:latin typeface="Courier New"/>
              <a:ea typeface="Courier New"/>
              <a:cs typeface="Courier New"/>
              <a:sym typeface="Courier New"/>
            </a:endParaRPr>
          </a:p>
        </p:txBody>
      </p:sp>
      <p:pic>
        <p:nvPicPr>
          <p:cNvPr id="946" name="Google Shape;946;g24e4d0b8270_0_923"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
        <p:nvSpPr>
          <p:cNvPr id="947" name="Google Shape;947;g24e4d0b8270_0_923"/>
          <p:cNvSpPr txBox="1"/>
          <p:nvPr/>
        </p:nvSpPr>
        <p:spPr>
          <a:xfrm>
            <a:off x="433766" y="2173129"/>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SINTAXIS</a:t>
            </a:r>
            <a:endParaRPr sz="1800" b="0" i="0" u="none" strike="noStrike" cap="none">
              <a:solidFill>
                <a:schemeClr val="lt1"/>
              </a:solidFill>
              <a:latin typeface="Arial"/>
              <a:ea typeface="Arial"/>
              <a:cs typeface="Arial"/>
              <a:sym typeface="Arial"/>
            </a:endParaRPr>
          </a:p>
        </p:txBody>
      </p:sp>
      <p:sp>
        <p:nvSpPr>
          <p:cNvPr id="948" name="Google Shape;948;g24e4d0b8270_0_923"/>
          <p:cNvSpPr txBox="1"/>
          <p:nvPr/>
        </p:nvSpPr>
        <p:spPr>
          <a:xfrm>
            <a:off x="433766" y="3539874"/>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EJEMPLO</a:t>
            </a:r>
            <a:endParaRPr sz="1800" b="0" i="0" u="none" strike="noStrike" cap="none">
              <a:solidFill>
                <a:schemeClr val="lt1"/>
              </a:solidFill>
              <a:latin typeface="Arial"/>
              <a:ea typeface="Arial"/>
              <a:cs typeface="Arial"/>
              <a:sym typeface="Arial"/>
            </a:endParaRPr>
          </a:p>
        </p:txBody>
      </p:sp>
      <p:cxnSp>
        <p:nvCxnSpPr>
          <p:cNvPr id="949" name="Google Shape;949;g24e4d0b8270_0_923"/>
          <p:cNvCxnSpPr/>
          <p:nvPr/>
        </p:nvCxnSpPr>
        <p:spPr>
          <a:xfrm>
            <a:off x="1685925" y="1822623"/>
            <a:ext cx="0" cy="1232400"/>
          </a:xfrm>
          <a:prstGeom prst="straightConnector1">
            <a:avLst/>
          </a:prstGeom>
          <a:noFill/>
          <a:ln w="19050" cap="flat" cmpd="sng">
            <a:solidFill>
              <a:schemeClr val="lt1"/>
            </a:solidFill>
            <a:prstDash val="solid"/>
            <a:round/>
            <a:headEnd type="none" w="sm" len="sm"/>
            <a:tailEnd type="none" w="sm" len="sm"/>
          </a:ln>
        </p:spPr>
      </p:cxnSp>
      <p:cxnSp>
        <p:nvCxnSpPr>
          <p:cNvPr id="950" name="Google Shape;950;g24e4d0b8270_0_923"/>
          <p:cNvCxnSpPr/>
          <p:nvPr/>
        </p:nvCxnSpPr>
        <p:spPr>
          <a:xfrm>
            <a:off x="1685925" y="3193727"/>
            <a:ext cx="0" cy="1232400"/>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62"/>
        <p:cNvGrpSpPr/>
        <p:nvPr/>
      </p:nvGrpSpPr>
      <p:grpSpPr>
        <a:xfrm>
          <a:off x="0" y="0"/>
          <a:ext cx="0" cy="0"/>
          <a:chOff x="0" y="0"/>
          <a:chExt cx="0" cy="0"/>
        </a:xfrm>
      </p:grpSpPr>
      <p:sp>
        <p:nvSpPr>
          <p:cNvPr id="963" name="Google Shape;963;g24e4d0b8270_0_943"/>
          <p:cNvSpPr txBox="1"/>
          <p:nvPr/>
        </p:nvSpPr>
        <p:spPr>
          <a:xfrm>
            <a:off x="579445" y="309651"/>
            <a:ext cx="58782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ELIMINAR UNA COLUMNA: SINTAXIS y EJEMPLO</a:t>
            </a:r>
            <a:endParaRPr sz="4000" b="0" i="0" u="none" strike="noStrike" cap="none">
              <a:solidFill>
                <a:schemeClr val="lt1"/>
              </a:solidFill>
              <a:latin typeface="Arial"/>
              <a:ea typeface="Arial"/>
              <a:cs typeface="Arial"/>
              <a:sym typeface="Arial"/>
            </a:endParaRPr>
          </a:p>
        </p:txBody>
      </p:sp>
      <p:sp>
        <p:nvSpPr>
          <p:cNvPr id="964" name="Google Shape;964;g24e4d0b8270_0_943"/>
          <p:cNvSpPr/>
          <p:nvPr/>
        </p:nvSpPr>
        <p:spPr>
          <a:xfrm>
            <a:off x="1813941" y="1822623"/>
            <a:ext cx="5226900" cy="12324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65" name="Google Shape;965;g24e4d0b8270_0_943"/>
          <p:cNvSpPr txBox="1"/>
          <p:nvPr/>
        </p:nvSpPr>
        <p:spPr>
          <a:xfrm>
            <a:off x="1900809" y="1822623"/>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ALTER TABLE </a:t>
            </a:r>
            <a:r>
              <a:rPr lang="es-AR" sz="2000" b="0" i="0" u="none" strike="noStrike" cap="none">
                <a:solidFill>
                  <a:srgbClr val="000000"/>
                </a:solidFill>
                <a:latin typeface="Courier New"/>
                <a:ea typeface="Courier New"/>
                <a:cs typeface="Courier New"/>
                <a:sym typeface="Courier New"/>
              </a:rPr>
              <a:t>Nombre_Tabla</a:t>
            </a:r>
            <a:endParaRPr sz="2000" b="0" i="0" u="none" strike="noStrike" cap="none">
              <a:solidFill>
                <a:srgbClr val="000000"/>
              </a:solidFill>
              <a:latin typeface="Courier New"/>
              <a:ea typeface="Courier New"/>
              <a:cs typeface="Courier New"/>
              <a:sym typeface="Courier New"/>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DROP COLUMN</a:t>
            </a:r>
            <a:r>
              <a:rPr lang="es-AR" sz="2000" b="0" i="0" u="none" strike="noStrike" cap="none">
                <a:solidFill>
                  <a:srgbClr val="000000"/>
                </a:solidFill>
                <a:latin typeface="Courier New"/>
                <a:ea typeface="Courier New"/>
                <a:cs typeface="Courier New"/>
                <a:sym typeface="Courier New"/>
              </a:rPr>
              <a:t> Nombre_Campo;</a:t>
            </a:r>
            <a:endParaRPr sz="3200" b="0" i="0" u="none" strike="noStrike" cap="none">
              <a:solidFill>
                <a:srgbClr val="000000"/>
              </a:solidFill>
              <a:latin typeface="Helvetica Neue Light"/>
              <a:ea typeface="Helvetica Neue Light"/>
              <a:cs typeface="Helvetica Neue Light"/>
              <a:sym typeface="Helvetica Neue Light"/>
            </a:endParaRPr>
          </a:p>
        </p:txBody>
      </p:sp>
      <p:sp>
        <p:nvSpPr>
          <p:cNvPr id="966" name="Google Shape;966;g24e4d0b8270_0_943"/>
          <p:cNvSpPr/>
          <p:nvPr/>
        </p:nvSpPr>
        <p:spPr>
          <a:xfrm>
            <a:off x="1813941" y="3290742"/>
            <a:ext cx="5226900" cy="1232400"/>
          </a:xfrm>
          <a:prstGeom prst="roundRect">
            <a:avLst>
              <a:gd name="adj" fmla="val 735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chemeClr val="lt1"/>
              </a:solidFill>
              <a:latin typeface="Arial"/>
              <a:ea typeface="Arial"/>
              <a:cs typeface="Arial"/>
              <a:sym typeface="Arial"/>
            </a:endParaRPr>
          </a:p>
        </p:txBody>
      </p:sp>
      <p:sp>
        <p:nvSpPr>
          <p:cNvPr id="967" name="Google Shape;967;g24e4d0b8270_0_943"/>
          <p:cNvSpPr txBox="1"/>
          <p:nvPr/>
        </p:nvSpPr>
        <p:spPr>
          <a:xfrm>
            <a:off x="1900809" y="3290742"/>
            <a:ext cx="6473700" cy="1133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ALTER TABLE </a:t>
            </a:r>
            <a:r>
              <a:rPr lang="es-AR" sz="2000" b="0" i="0" u="none" strike="noStrike" cap="none">
                <a:solidFill>
                  <a:srgbClr val="000000"/>
                </a:solidFill>
                <a:latin typeface="Courier New"/>
                <a:ea typeface="Courier New"/>
                <a:cs typeface="Courier New"/>
                <a:sym typeface="Courier New"/>
              </a:rPr>
              <a:t>Clientes</a:t>
            </a:r>
            <a:endParaRPr sz="1400" b="0" i="0" u="none" strike="noStrike" cap="none">
              <a:solidFill>
                <a:srgbClr val="000000"/>
              </a:solidFill>
              <a:latin typeface="Arial"/>
              <a:ea typeface="Arial"/>
              <a:cs typeface="Arial"/>
              <a:sym typeface="Arial"/>
            </a:endParaRPr>
          </a:p>
          <a:p>
            <a:pPr marL="0" marR="38100" lvl="0" indent="0" algn="l" rtl="0">
              <a:lnSpc>
                <a:spcPct val="128571"/>
              </a:lnSpc>
              <a:spcBef>
                <a:spcPts val="0"/>
              </a:spcBef>
              <a:spcAft>
                <a:spcPts val="0"/>
              </a:spcAft>
              <a:buClr>
                <a:srgbClr val="000000"/>
              </a:buClr>
              <a:buSzPts val="1100"/>
              <a:buFont typeface="Arial"/>
              <a:buNone/>
            </a:pPr>
            <a:r>
              <a:rPr lang="es-AR" sz="2000" b="1" i="0" u="none" strike="noStrike" cap="none">
                <a:solidFill>
                  <a:srgbClr val="000000"/>
                </a:solidFill>
                <a:latin typeface="Courier New"/>
                <a:ea typeface="Courier New"/>
                <a:cs typeface="Courier New"/>
                <a:sym typeface="Courier New"/>
              </a:rPr>
              <a:t>DROP COLUMN</a:t>
            </a:r>
            <a:r>
              <a:rPr lang="es-AR" sz="2000" b="0" i="0" u="none" strike="noStrike" cap="none">
                <a:solidFill>
                  <a:srgbClr val="000000"/>
                </a:solidFill>
                <a:latin typeface="Courier New"/>
                <a:ea typeface="Courier New"/>
                <a:cs typeface="Courier New"/>
                <a:sym typeface="Courier New"/>
              </a:rPr>
              <a:t> Apellido;</a:t>
            </a:r>
            <a:endParaRPr sz="3200" b="0" i="0" u="none" strike="noStrike" cap="none">
              <a:solidFill>
                <a:srgbClr val="000000"/>
              </a:solidFill>
              <a:latin typeface="Helvetica Neue Light"/>
              <a:ea typeface="Helvetica Neue Light"/>
              <a:cs typeface="Helvetica Neue Light"/>
              <a:sym typeface="Helvetica Neue Light"/>
            </a:endParaRPr>
          </a:p>
        </p:txBody>
      </p:sp>
      <p:pic>
        <p:nvPicPr>
          <p:cNvPr id="968" name="Google Shape;968;g24e4d0b8270_0_943"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
        <p:nvSpPr>
          <p:cNvPr id="969" name="Google Shape;969;g24e4d0b8270_0_943"/>
          <p:cNvSpPr txBox="1"/>
          <p:nvPr/>
        </p:nvSpPr>
        <p:spPr>
          <a:xfrm>
            <a:off x="433766" y="2173129"/>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SINTAXIS</a:t>
            </a:r>
            <a:endParaRPr sz="1800" b="0" i="0" u="none" strike="noStrike" cap="none">
              <a:solidFill>
                <a:schemeClr val="lt1"/>
              </a:solidFill>
              <a:latin typeface="Arial"/>
              <a:ea typeface="Arial"/>
              <a:cs typeface="Arial"/>
              <a:sym typeface="Arial"/>
            </a:endParaRPr>
          </a:p>
        </p:txBody>
      </p:sp>
      <p:sp>
        <p:nvSpPr>
          <p:cNvPr id="970" name="Google Shape;970;g24e4d0b8270_0_943"/>
          <p:cNvSpPr txBox="1"/>
          <p:nvPr/>
        </p:nvSpPr>
        <p:spPr>
          <a:xfrm>
            <a:off x="433766" y="3636889"/>
            <a:ext cx="1078200" cy="42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2600"/>
              <a:buFont typeface="Arial"/>
              <a:buNone/>
            </a:pPr>
            <a:r>
              <a:rPr lang="es-AR" sz="1800" b="0" i="1" u="none" strike="noStrike" cap="none">
                <a:solidFill>
                  <a:schemeClr val="lt1"/>
                </a:solidFill>
                <a:latin typeface="Anton"/>
                <a:ea typeface="Anton"/>
                <a:cs typeface="Anton"/>
                <a:sym typeface="Anton"/>
              </a:rPr>
              <a:t>EJEMPLO</a:t>
            </a:r>
            <a:endParaRPr sz="1800" b="0" i="0" u="none" strike="noStrike" cap="none">
              <a:solidFill>
                <a:schemeClr val="lt1"/>
              </a:solidFill>
              <a:latin typeface="Arial"/>
              <a:ea typeface="Arial"/>
              <a:cs typeface="Arial"/>
              <a:sym typeface="Arial"/>
            </a:endParaRPr>
          </a:p>
        </p:txBody>
      </p:sp>
      <p:cxnSp>
        <p:nvCxnSpPr>
          <p:cNvPr id="971" name="Google Shape;971;g24e4d0b8270_0_943"/>
          <p:cNvCxnSpPr/>
          <p:nvPr/>
        </p:nvCxnSpPr>
        <p:spPr>
          <a:xfrm>
            <a:off x="1685925" y="1822623"/>
            <a:ext cx="0" cy="1232400"/>
          </a:xfrm>
          <a:prstGeom prst="straightConnector1">
            <a:avLst/>
          </a:prstGeom>
          <a:noFill/>
          <a:ln w="19050" cap="flat" cmpd="sng">
            <a:solidFill>
              <a:schemeClr val="lt1"/>
            </a:solidFill>
            <a:prstDash val="solid"/>
            <a:round/>
            <a:headEnd type="none" w="sm" len="sm"/>
            <a:tailEnd type="none" w="sm" len="sm"/>
          </a:ln>
        </p:spPr>
      </p:cxnSp>
      <p:cxnSp>
        <p:nvCxnSpPr>
          <p:cNvPr id="972" name="Google Shape;972;g24e4d0b8270_0_943"/>
          <p:cNvCxnSpPr/>
          <p:nvPr/>
        </p:nvCxnSpPr>
        <p:spPr>
          <a:xfrm>
            <a:off x="1685925" y="3290742"/>
            <a:ext cx="0" cy="1232400"/>
          </a:xfrm>
          <a:prstGeom prst="straightConnector1">
            <a:avLst/>
          </a:prstGeom>
          <a:noFill/>
          <a:ln w="19050" cap="flat" cmpd="sng">
            <a:solidFill>
              <a:schemeClr val="lt1"/>
            </a:solidFill>
            <a:prstDash val="solid"/>
            <a:round/>
            <a:headEnd type="none" w="sm" len="sm"/>
            <a:tailEnd type="none" w="sm" len="sm"/>
          </a:ln>
        </p:spPr>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4"/>
        <p:cNvGrpSpPr/>
        <p:nvPr/>
      </p:nvGrpSpPr>
      <p:grpSpPr>
        <a:xfrm>
          <a:off x="0" y="0"/>
          <a:ext cx="0" cy="0"/>
          <a:chOff x="0" y="0"/>
          <a:chExt cx="0" cy="0"/>
        </a:xfrm>
      </p:grpSpPr>
      <p:sp>
        <p:nvSpPr>
          <p:cNvPr id="985" name="Google Shape;985;g24e4d0b8270_0_963"/>
          <p:cNvSpPr txBox="1"/>
          <p:nvPr/>
        </p:nvSpPr>
        <p:spPr>
          <a:xfrm>
            <a:off x="3886201" y="623721"/>
            <a:ext cx="4492200" cy="36771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2100" b="0" i="0" u="none" strike="noStrike" cap="none" dirty="0">
                <a:solidFill>
                  <a:schemeClr val="lt1"/>
                </a:solidFill>
                <a:latin typeface="Roboto"/>
                <a:ea typeface="Roboto"/>
                <a:cs typeface="Roboto"/>
                <a:sym typeface="Roboto"/>
              </a:rPr>
              <a:t>El comando </a:t>
            </a:r>
            <a:r>
              <a:rPr lang="es-AR" sz="2100" b="1" i="0" u="none" strike="noStrike" cap="none" dirty="0">
                <a:solidFill>
                  <a:schemeClr val="lt1"/>
                </a:solidFill>
                <a:latin typeface="Roboto"/>
                <a:ea typeface="Roboto"/>
                <a:cs typeface="Roboto"/>
                <a:sym typeface="Roboto"/>
              </a:rPr>
              <a:t>DROP</a:t>
            </a:r>
            <a:r>
              <a:rPr lang="es-AR" sz="2100" b="0" i="1" u="none" strike="noStrike" cap="none" dirty="0">
                <a:solidFill>
                  <a:schemeClr val="lt1"/>
                </a:solidFill>
                <a:latin typeface="Roboto"/>
                <a:ea typeface="Roboto"/>
                <a:cs typeface="Roboto"/>
                <a:sym typeface="Roboto"/>
              </a:rPr>
              <a:t> </a:t>
            </a:r>
            <a:br>
              <a:rPr lang="es-AR" sz="2100" b="0" i="1" u="none" strike="noStrike" cap="none" dirty="0">
                <a:solidFill>
                  <a:schemeClr val="lt1"/>
                </a:solidFill>
                <a:latin typeface="Roboto"/>
                <a:ea typeface="Roboto"/>
                <a:cs typeface="Roboto"/>
                <a:sym typeface="Roboto"/>
              </a:rPr>
            </a:br>
            <a:r>
              <a:rPr lang="es-AR" sz="2100" b="0" i="0" u="none" strike="noStrike" cap="none" dirty="0">
                <a:solidFill>
                  <a:schemeClr val="lt1"/>
                </a:solidFill>
                <a:latin typeface="Roboto"/>
                <a:ea typeface="Roboto"/>
                <a:cs typeface="Roboto"/>
                <a:sym typeface="Roboto"/>
              </a:rPr>
              <a:t>permite</a:t>
            </a:r>
            <a:r>
              <a:rPr lang="es-AR" sz="2100" b="0" i="1" u="none" strike="noStrike" cap="none" dirty="0">
                <a:solidFill>
                  <a:schemeClr val="lt1"/>
                </a:solidFill>
                <a:latin typeface="Roboto"/>
                <a:ea typeface="Roboto"/>
                <a:cs typeface="Roboto"/>
                <a:sym typeface="Roboto"/>
              </a:rPr>
              <a:t> </a:t>
            </a:r>
            <a:r>
              <a:rPr lang="es-AR" sz="2100" b="1" i="0" u="none" strike="noStrike" cap="none" dirty="0">
                <a:solidFill>
                  <a:schemeClr val="lt1"/>
                </a:solidFill>
                <a:latin typeface="Roboto"/>
                <a:ea typeface="Roboto"/>
                <a:cs typeface="Roboto"/>
                <a:sym typeface="Roboto"/>
              </a:rPr>
              <a:t>eliminar un objeto</a:t>
            </a:r>
            <a:r>
              <a:rPr lang="es-AR" sz="2100" b="0" i="0" u="none" strike="noStrike" cap="none" dirty="0">
                <a:solidFill>
                  <a:schemeClr val="lt1"/>
                </a:solidFill>
                <a:latin typeface="Roboto"/>
                <a:ea typeface="Roboto"/>
                <a:cs typeface="Roboto"/>
                <a:sym typeface="Roboto"/>
              </a:rPr>
              <a:t> de la base de datos. Este objeto podría ser una tabla, una vista, un procedimiento, un campo de una tabla o cualquier objeto que el motor de la base de datos soporte. </a:t>
            </a:r>
            <a:endParaRPr sz="1400" b="0" i="0" u="none" strike="noStrike" cap="none" dirty="0">
              <a:solidFill>
                <a:srgbClr val="000000"/>
              </a:solidFill>
              <a:latin typeface="Arial"/>
              <a:ea typeface="Arial"/>
              <a:cs typeface="Arial"/>
              <a:sym typeface="Arial"/>
            </a:endParaRPr>
          </a:p>
        </p:txBody>
      </p:sp>
      <p:sp>
        <p:nvSpPr>
          <p:cNvPr id="986" name="Google Shape;986;g24e4d0b8270_0_963"/>
          <p:cNvSpPr/>
          <p:nvPr/>
        </p:nvSpPr>
        <p:spPr>
          <a:xfrm>
            <a:off x="606802" y="1628876"/>
            <a:ext cx="2654700" cy="1400700"/>
          </a:xfrm>
          <a:prstGeom prst="roundRect">
            <a:avLst>
              <a:gd name="adj" fmla="val 16667"/>
            </a:avLst>
          </a:prstGeom>
          <a:solidFill>
            <a:srgbClr val="FF3399"/>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6600" b="0" i="0" u="none" strike="noStrike" cap="none">
              <a:solidFill>
                <a:schemeClr val="lt1"/>
              </a:solidFill>
              <a:latin typeface="Arial"/>
              <a:ea typeface="Arial"/>
              <a:cs typeface="Arial"/>
              <a:sym typeface="Arial"/>
            </a:endParaRPr>
          </a:p>
        </p:txBody>
      </p:sp>
      <p:sp>
        <p:nvSpPr>
          <p:cNvPr id="987" name="Google Shape;987;g24e4d0b8270_0_963"/>
          <p:cNvSpPr txBox="1"/>
          <p:nvPr/>
        </p:nvSpPr>
        <p:spPr>
          <a:xfrm>
            <a:off x="925246" y="1849694"/>
            <a:ext cx="1816500" cy="1108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s-AR" sz="6600" b="0" i="1" u="none" strike="noStrike" cap="none">
                <a:solidFill>
                  <a:schemeClr val="lt1"/>
                </a:solidFill>
                <a:latin typeface="Anton"/>
                <a:ea typeface="Anton"/>
                <a:cs typeface="Anton"/>
                <a:sym typeface="Anton"/>
              </a:rPr>
              <a:t>DROP</a:t>
            </a:r>
            <a:endParaRPr sz="6600" b="0" i="0" u="none" strike="noStrike" cap="none">
              <a:solidFill>
                <a:schemeClr val="lt1"/>
              </a:solidFill>
              <a:latin typeface="Arial"/>
              <a:ea typeface="Arial"/>
              <a:cs typeface="Arial"/>
              <a:sym typeface="Arial"/>
            </a:endParaRPr>
          </a:p>
        </p:txBody>
      </p:sp>
      <p:cxnSp>
        <p:nvCxnSpPr>
          <p:cNvPr id="988" name="Google Shape;988;g24e4d0b8270_0_963"/>
          <p:cNvCxnSpPr/>
          <p:nvPr/>
        </p:nvCxnSpPr>
        <p:spPr>
          <a:xfrm>
            <a:off x="3622964" y="325582"/>
            <a:ext cx="0" cy="4225500"/>
          </a:xfrm>
          <a:prstGeom prst="straightConnector1">
            <a:avLst/>
          </a:prstGeom>
          <a:noFill/>
          <a:ln w="28575" cap="flat" cmpd="sng">
            <a:solidFill>
              <a:schemeClr val="lt1"/>
            </a:solidFill>
            <a:prstDash val="solid"/>
            <a:round/>
            <a:headEnd type="none" w="sm" len="sm"/>
            <a:tailEnd type="none" w="sm" len="sm"/>
          </a:ln>
        </p:spPr>
      </p:cxnSp>
      <p:pic>
        <p:nvPicPr>
          <p:cNvPr id="989" name="Google Shape;989;g24e4d0b8270_0_963"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93"/>
        <p:cNvGrpSpPr/>
        <p:nvPr/>
      </p:nvGrpSpPr>
      <p:grpSpPr>
        <a:xfrm>
          <a:off x="0" y="0"/>
          <a:ext cx="0" cy="0"/>
          <a:chOff x="0" y="0"/>
          <a:chExt cx="0" cy="0"/>
        </a:xfrm>
      </p:grpSpPr>
      <p:sp>
        <p:nvSpPr>
          <p:cNvPr id="994" name="Google Shape;994;g24e4d0b8270_0_971"/>
          <p:cNvSpPr txBox="1"/>
          <p:nvPr/>
        </p:nvSpPr>
        <p:spPr>
          <a:xfrm>
            <a:off x="579445" y="309651"/>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a:solidFill>
                  <a:schemeClr val="lt1"/>
                </a:solidFill>
                <a:latin typeface="Anton"/>
                <a:ea typeface="Anton"/>
                <a:cs typeface="Anton"/>
                <a:sym typeface="Anton"/>
              </a:rPr>
              <a:t>SINTAXIS</a:t>
            </a:r>
            <a:endParaRPr sz="4000" b="0" i="0" u="none" strike="noStrike" cap="none">
              <a:solidFill>
                <a:schemeClr val="lt1"/>
              </a:solidFill>
              <a:latin typeface="Arial"/>
              <a:ea typeface="Arial"/>
              <a:cs typeface="Arial"/>
              <a:sym typeface="Arial"/>
            </a:endParaRPr>
          </a:p>
        </p:txBody>
      </p:sp>
      <p:sp>
        <p:nvSpPr>
          <p:cNvPr id="995" name="Google Shape;995;g24e4d0b8270_0_971"/>
          <p:cNvSpPr/>
          <p:nvPr/>
        </p:nvSpPr>
        <p:spPr>
          <a:xfrm>
            <a:off x="671061" y="1634714"/>
            <a:ext cx="6647400" cy="710100"/>
          </a:xfrm>
          <a:prstGeom prst="roundRect">
            <a:avLst>
              <a:gd name="adj" fmla="val 1666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p:txBody>
      </p:sp>
      <p:sp>
        <p:nvSpPr>
          <p:cNvPr id="996" name="Google Shape;996;g24e4d0b8270_0_971"/>
          <p:cNvSpPr txBox="1"/>
          <p:nvPr/>
        </p:nvSpPr>
        <p:spPr>
          <a:xfrm>
            <a:off x="757929" y="1505686"/>
            <a:ext cx="6473700" cy="925500"/>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1100"/>
              <a:buFont typeface="Arial"/>
              <a:buNone/>
            </a:pPr>
            <a:r>
              <a:rPr lang="es-AR" sz="2400" b="1" i="0" u="none" strike="noStrike" cap="none">
                <a:solidFill>
                  <a:srgbClr val="000000"/>
                </a:solidFill>
                <a:latin typeface="Courier New"/>
                <a:ea typeface="Courier New"/>
                <a:cs typeface="Courier New"/>
                <a:sym typeface="Courier New"/>
              </a:rPr>
              <a:t>DROP TABLE </a:t>
            </a:r>
            <a:r>
              <a:rPr lang="es-AR" sz="2400" b="0" i="0" u="none" strike="noStrike" cap="none">
                <a:solidFill>
                  <a:srgbClr val="000000"/>
                </a:solidFill>
                <a:latin typeface="Courier New"/>
                <a:ea typeface="Courier New"/>
                <a:cs typeface="Courier New"/>
                <a:sym typeface="Courier New"/>
              </a:rPr>
              <a:t>Nombre_Tabla</a:t>
            </a:r>
            <a:r>
              <a:rPr lang="es-AR" sz="2400" b="0" i="0" u="none" strike="noStrike" cap="none">
                <a:solidFill>
                  <a:srgbClr val="000000"/>
                </a:solidFill>
                <a:latin typeface="Helvetica Neue"/>
                <a:ea typeface="Helvetica Neue"/>
                <a:cs typeface="Helvetica Neue"/>
                <a:sym typeface="Helvetica Neue"/>
              </a:rPr>
              <a:t>;</a:t>
            </a: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997" name="Google Shape;997;g24e4d0b8270_0_971"/>
          <p:cNvSpPr txBox="1"/>
          <p:nvPr/>
        </p:nvSpPr>
        <p:spPr>
          <a:xfrm>
            <a:off x="621974" y="1096654"/>
            <a:ext cx="7813200" cy="4446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Helvetica Neue Light"/>
                <a:ea typeface="Helvetica Neue Light"/>
                <a:cs typeface="Helvetica Neue Light"/>
                <a:sym typeface="Helvetica Neue Light"/>
              </a:rPr>
              <a:t>Para eliminar una tabla:</a:t>
            </a:r>
            <a:endParaRPr sz="2900" b="0" i="0" u="none" strike="noStrike" cap="none">
              <a:solidFill>
                <a:schemeClr val="lt1"/>
              </a:solidFill>
              <a:latin typeface="Helvetica Neue Light"/>
              <a:ea typeface="Helvetica Neue Light"/>
              <a:cs typeface="Helvetica Neue Light"/>
              <a:sym typeface="Helvetica Neue Light"/>
            </a:endParaRPr>
          </a:p>
        </p:txBody>
      </p:sp>
      <p:sp>
        <p:nvSpPr>
          <p:cNvPr id="998" name="Google Shape;998;g24e4d0b8270_0_971"/>
          <p:cNvSpPr/>
          <p:nvPr/>
        </p:nvSpPr>
        <p:spPr>
          <a:xfrm>
            <a:off x="671061" y="3248517"/>
            <a:ext cx="6647400" cy="710100"/>
          </a:xfrm>
          <a:prstGeom prst="roundRect">
            <a:avLst>
              <a:gd name="adj" fmla="val 16667"/>
            </a:avLst>
          </a:prstGeom>
          <a:solidFill>
            <a:srgbClr val="FEE599"/>
          </a:solidFill>
          <a:ln w="19050"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endParaRPr sz="2600" b="0" i="0" u="none" strike="noStrike" cap="none">
              <a:solidFill>
                <a:srgbClr val="000000"/>
              </a:solidFill>
              <a:latin typeface="Arial"/>
              <a:ea typeface="Arial"/>
              <a:cs typeface="Arial"/>
              <a:sym typeface="Arial"/>
            </a:endParaRPr>
          </a:p>
        </p:txBody>
      </p:sp>
      <p:sp>
        <p:nvSpPr>
          <p:cNvPr id="999" name="Google Shape;999;g24e4d0b8270_0_971"/>
          <p:cNvSpPr txBox="1"/>
          <p:nvPr/>
        </p:nvSpPr>
        <p:spPr>
          <a:xfrm>
            <a:off x="757929" y="3119489"/>
            <a:ext cx="6473700" cy="925500"/>
          </a:xfrm>
          <a:prstGeom prst="rect">
            <a:avLst/>
          </a:prstGeom>
          <a:noFill/>
          <a:ln>
            <a:noFill/>
          </a:ln>
        </p:spPr>
        <p:txBody>
          <a:bodyPr spcFirstLastPara="1" wrap="square" lIns="91425" tIns="91425" rIns="91425" bIns="91425" anchor="ctr" anchorCtr="0">
            <a:noAutofit/>
          </a:bodyPr>
          <a:lstStyle/>
          <a:p>
            <a:pPr marL="0" marR="38100" lvl="0" indent="0" algn="ctr" rtl="0">
              <a:lnSpc>
                <a:spcPct val="128571"/>
              </a:lnSpc>
              <a:spcBef>
                <a:spcPts val="0"/>
              </a:spcBef>
              <a:spcAft>
                <a:spcPts val="0"/>
              </a:spcAft>
              <a:buClr>
                <a:srgbClr val="000000"/>
              </a:buClr>
              <a:buSzPts val="1100"/>
              <a:buFont typeface="Arial"/>
              <a:buNone/>
            </a:pPr>
            <a:r>
              <a:rPr lang="es-AR" sz="2400" b="1" i="0" u="none" strike="noStrike" cap="none">
                <a:solidFill>
                  <a:srgbClr val="000000"/>
                </a:solidFill>
                <a:latin typeface="Courier New"/>
                <a:ea typeface="Courier New"/>
                <a:cs typeface="Courier New"/>
                <a:sym typeface="Courier New"/>
              </a:rPr>
              <a:t>DROP VIEW </a:t>
            </a:r>
            <a:r>
              <a:rPr lang="es-AR" sz="2400" b="0" i="0" u="none" strike="noStrike" cap="none">
                <a:solidFill>
                  <a:srgbClr val="000000"/>
                </a:solidFill>
                <a:latin typeface="Courier New"/>
                <a:ea typeface="Courier New"/>
                <a:cs typeface="Courier New"/>
                <a:sym typeface="Courier New"/>
              </a:rPr>
              <a:t>Nombre_Vista</a:t>
            </a:r>
            <a:r>
              <a:rPr lang="es-AR" sz="2400" b="0" i="0" u="none" strike="noStrike" cap="none">
                <a:solidFill>
                  <a:srgbClr val="000000"/>
                </a:solidFill>
                <a:latin typeface="Helvetica Neue"/>
                <a:ea typeface="Helvetica Neue"/>
                <a:cs typeface="Helvetica Neue"/>
                <a:sym typeface="Helvetica Neue"/>
              </a:rPr>
              <a:t>;</a:t>
            </a:r>
            <a:endParaRPr sz="3600" b="0" i="0" u="none" strike="noStrike" cap="none">
              <a:solidFill>
                <a:srgbClr val="000000"/>
              </a:solidFill>
              <a:latin typeface="Helvetica Neue Light"/>
              <a:ea typeface="Helvetica Neue Light"/>
              <a:cs typeface="Helvetica Neue Light"/>
              <a:sym typeface="Helvetica Neue Light"/>
            </a:endParaRPr>
          </a:p>
        </p:txBody>
      </p:sp>
      <p:sp>
        <p:nvSpPr>
          <p:cNvPr id="1000" name="Google Shape;1000;g24e4d0b8270_0_971"/>
          <p:cNvSpPr txBox="1"/>
          <p:nvPr/>
        </p:nvSpPr>
        <p:spPr>
          <a:xfrm>
            <a:off x="621974" y="2710457"/>
            <a:ext cx="7813200" cy="444600"/>
          </a:xfrm>
          <a:prstGeom prst="rect">
            <a:avLst/>
          </a:prstGeom>
          <a:noFill/>
          <a:ln>
            <a:noFill/>
          </a:ln>
        </p:spPr>
        <p:txBody>
          <a:bodyPr spcFirstLastPara="1" wrap="square" lIns="91425" tIns="91425" rIns="91425" bIns="91425" anchor="ctr" anchorCtr="0">
            <a:noAutofit/>
          </a:bodyPr>
          <a:lstStyle/>
          <a:p>
            <a:pPr marL="0" marR="38100" lvl="0" indent="0" algn="l" rtl="0">
              <a:lnSpc>
                <a:spcPct val="128571"/>
              </a:lnSpc>
              <a:spcBef>
                <a:spcPts val="0"/>
              </a:spcBef>
              <a:spcAft>
                <a:spcPts val="0"/>
              </a:spcAft>
              <a:buClr>
                <a:srgbClr val="000000"/>
              </a:buClr>
              <a:buSzPts val="1100"/>
              <a:buFont typeface="Arial"/>
              <a:buNone/>
            </a:pPr>
            <a:r>
              <a:rPr lang="es-AR" sz="1900" b="0" i="0" u="none" strike="noStrike" cap="none">
                <a:solidFill>
                  <a:schemeClr val="lt1"/>
                </a:solidFill>
                <a:latin typeface="Helvetica Neue Light"/>
                <a:ea typeface="Helvetica Neue Light"/>
                <a:cs typeface="Helvetica Neue Light"/>
                <a:sym typeface="Helvetica Neue Light"/>
              </a:rPr>
              <a:t>Para eliminar una vista:</a:t>
            </a:r>
            <a:endParaRPr sz="2900" b="0" i="0" u="none" strike="noStrike" cap="none">
              <a:solidFill>
                <a:schemeClr val="lt1"/>
              </a:solidFill>
              <a:latin typeface="Helvetica Neue Light"/>
              <a:ea typeface="Helvetica Neue Light"/>
              <a:cs typeface="Helvetica Neue Light"/>
              <a:sym typeface="Helvetica Neue Light"/>
            </a:endParaRPr>
          </a:p>
        </p:txBody>
      </p:sp>
      <p:pic>
        <p:nvPicPr>
          <p:cNvPr id="1001" name="Google Shape;1001;g24e4d0b8270_0_971" descr="Blog | Coderhouse"/>
          <p:cNvPicPr preferRelativeResize="0"/>
          <p:nvPr/>
        </p:nvPicPr>
        <p:blipFill rotWithShape="1">
          <a:blip r:embed="rId4">
            <a:alphaModFix/>
          </a:blip>
          <a:srcRect/>
          <a:stretch/>
        </p:blipFill>
        <p:spPr>
          <a:xfrm>
            <a:off x="7598964" y="4569570"/>
            <a:ext cx="1221189" cy="26034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p:cNvGrpSpPr/>
        <p:nvPr/>
      </p:nvGrpSpPr>
      <p:grpSpPr>
        <a:xfrm>
          <a:off x="0" y="0"/>
          <a:ext cx="0" cy="0"/>
          <a:chOff x="0" y="0"/>
          <a:chExt cx="0" cy="0"/>
        </a:xfrm>
      </p:grpSpPr>
      <p:sp>
        <p:nvSpPr>
          <p:cNvPr id="1030" name="Google Shape;1030;g24e4d0b8270_0_1003"/>
          <p:cNvSpPr txBox="1"/>
          <p:nvPr/>
        </p:nvSpPr>
        <p:spPr>
          <a:xfrm>
            <a:off x="558663" y="184960"/>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Veamos un </a:t>
            </a:r>
            <a:r>
              <a:rPr lang="es-AR" sz="4000" b="0" i="1" u="none" strike="noStrike" cap="none" dirty="0" err="1">
                <a:solidFill>
                  <a:schemeClr val="lt1"/>
                </a:solidFill>
                <a:latin typeface="Anton"/>
                <a:ea typeface="Anton"/>
                <a:cs typeface="Anton"/>
                <a:sym typeface="Anton"/>
              </a:rPr>
              <a:t>ej</a:t>
            </a:r>
            <a:r>
              <a:rPr lang="es-AR" sz="4000" b="0" i="1" u="none" strike="noStrike" cap="none" dirty="0">
                <a:solidFill>
                  <a:schemeClr val="lt1"/>
                </a:solidFill>
                <a:latin typeface="Anton"/>
                <a:ea typeface="Anton"/>
                <a:cs typeface="Anton"/>
                <a:sym typeface="Anton"/>
              </a:rPr>
              <a:t>…</a:t>
            </a:r>
            <a:endParaRPr sz="4000" b="0" i="0" u="none" strike="noStrike" cap="none" dirty="0">
              <a:solidFill>
                <a:schemeClr val="lt1"/>
              </a:solidFill>
              <a:latin typeface="Arial"/>
              <a:ea typeface="Arial"/>
              <a:cs typeface="Arial"/>
              <a:sym typeface="Arial"/>
            </a:endParaRPr>
          </a:p>
        </p:txBody>
      </p:sp>
      <p:pic>
        <p:nvPicPr>
          <p:cNvPr id="1032" name="Google Shape;1032;g24e4d0b8270_0_1003"/>
          <p:cNvPicPr preferRelativeResize="0"/>
          <p:nvPr/>
        </p:nvPicPr>
        <p:blipFill rotWithShape="1">
          <a:blip r:embed="rId4">
            <a:alphaModFix/>
          </a:blip>
          <a:srcRect/>
          <a:stretch/>
        </p:blipFill>
        <p:spPr>
          <a:xfrm>
            <a:off x="5660535" y="1094400"/>
            <a:ext cx="2832300" cy="2832300"/>
          </a:xfrm>
          <a:prstGeom prst="rect">
            <a:avLst/>
          </a:prstGeom>
          <a:noFill/>
          <a:ln>
            <a:noFill/>
          </a:ln>
        </p:spPr>
      </p:pic>
      <p:pic>
        <p:nvPicPr>
          <p:cNvPr id="1033" name="Google Shape;1033;g24e4d0b8270_0_1003" descr="Blog | Coderhouse"/>
          <p:cNvPicPr preferRelativeResize="0"/>
          <p:nvPr/>
        </p:nvPicPr>
        <p:blipFill rotWithShape="1">
          <a:blip r:embed="rId5">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F27186E1-C883-E5A8-72DE-BDF6849BA563}"/>
              </a:ext>
            </a:extLst>
          </p:cNvPr>
          <p:cNvPicPr>
            <a:picLocks noChangeAspect="1"/>
          </p:cNvPicPr>
          <p:nvPr/>
        </p:nvPicPr>
        <p:blipFill>
          <a:blip r:embed="rId6"/>
          <a:stretch>
            <a:fillRect/>
          </a:stretch>
        </p:blipFill>
        <p:spPr>
          <a:xfrm>
            <a:off x="1675041" y="895061"/>
            <a:ext cx="6937625" cy="36745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22F12E80-6BB1-B0C4-4439-86CBEB3D7297}"/>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516CFEFB-7C8E-2EF6-890D-BFF8BFAC9DA6}"/>
              </a:ext>
            </a:extLst>
          </p:cNvPr>
          <p:cNvSpPr txBox="1"/>
          <p:nvPr/>
        </p:nvSpPr>
        <p:spPr>
          <a:xfrm>
            <a:off x="558663" y="184960"/>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b="0" i="1" u="none" strike="noStrike" cap="none" dirty="0">
                <a:solidFill>
                  <a:schemeClr val="lt1"/>
                </a:solidFill>
                <a:latin typeface="Anton"/>
                <a:ea typeface="Anton"/>
                <a:cs typeface="Anton"/>
                <a:sym typeface="Anton"/>
              </a:rPr>
              <a:t>Veamos un </a:t>
            </a:r>
            <a:r>
              <a:rPr lang="es-AR" sz="4000" b="0" i="1" u="none" strike="noStrike" cap="none" dirty="0" err="1">
                <a:solidFill>
                  <a:schemeClr val="lt1"/>
                </a:solidFill>
                <a:latin typeface="Anton"/>
                <a:ea typeface="Anton"/>
                <a:cs typeface="Anton"/>
                <a:sym typeface="Anton"/>
              </a:rPr>
              <a:t>ej</a:t>
            </a:r>
            <a:r>
              <a:rPr lang="es-AR" sz="4000" b="0" i="1" u="none" strike="noStrike" cap="none" dirty="0">
                <a:solidFill>
                  <a:schemeClr val="lt1"/>
                </a:solidFill>
                <a:latin typeface="Anton"/>
                <a:ea typeface="Anton"/>
                <a:cs typeface="Anton"/>
                <a:sym typeface="Anton"/>
              </a:rPr>
              <a:t>…</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CA7807AC-BAB3-B433-AEB3-C101B1A89D66}"/>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4" name="Imagen 3">
            <a:extLst>
              <a:ext uri="{FF2B5EF4-FFF2-40B4-BE49-F238E27FC236}">
                <a16:creationId xmlns:a16="http://schemas.microsoft.com/office/drawing/2014/main" id="{E0222240-ED34-B38A-F434-DE765B345528}"/>
              </a:ext>
            </a:extLst>
          </p:cNvPr>
          <p:cNvPicPr>
            <a:picLocks noChangeAspect="1"/>
          </p:cNvPicPr>
          <p:nvPr/>
        </p:nvPicPr>
        <p:blipFill>
          <a:blip r:embed="rId5"/>
          <a:stretch>
            <a:fillRect/>
          </a:stretch>
        </p:blipFill>
        <p:spPr>
          <a:xfrm>
            <a:off x="1363335" y="895060"/>
            <a:ext cx="6763694" cy="3610479"/>
          </a:xfrm>
          <a:prstGeom prst="rect">
            <a:avLst/>
          </a:prstGeom>
        </p:spPr>
      </p:pic>
    </p:spTree>
    <p:extLst>
      <p:ext uri="{BB962C8B-B14F-4D97-AF65-F5344CB8AC3E}">
        <p14:creationId xmlns:p14="http://schemas.microsoft.com/office/powerpoint/2010/main" val="23632550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781F07EF-24D8-D13E-D250-302906287739}"/>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282A6F78-9A20-4434-FA2E-5011E68F59FC}"/>
              </a:ext>
            </a:extLst>
          </p:cNvPr>
          <p:cNvSpPr txBox="1"/>
          <p:nvPr/>
        </p:nvSpPr>
        <p:spPr>
          <a:xfrm>
            <a:off x="558663" y="184960"/>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L</a:t>
            </a:r>
            <a:r>
              <a:rPr lang="es-AR" sz="4000" i="1" dirty="0">
                <a:solidFill>
                  <a:schemeClr val="lt1"/>
                </a:solidFill>
                <a:latin typeface="Anton"/>
                <a:sym typeface="Anton"/>
              </a:rPr>
              <a:t>os 3 Tipos de Datos</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C247D108-2224-6884-4166-0D88EAE0BC39}"/>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6A8282EF-9B1C-9CB1-5D19-99274DC67E07}"/>
              </a:ext>
            </a:extLst>
          </p:cNvPr>
          <p:cNvPicPr>
            <a:picLocks noChangeAspect="1"/>
          </p:cNvPicPr>
          <p:nvPr/>
        </p:nvPicPr>
        <p:blipFill>
          <a:blip r:embed="rId5"/>
          <a:stretch>
            <a:fillRect/>
          </a:stretch>
        </p:blipFill>
        <p:spPr>
          <a:xfrm>
            <a:off x="1242548" y="980853"/>
            <a:ext cx="6658904" cy="3181794"/>
          </a:xfrm>
          <a:prstGeom prst="rect">
            <a:avLst/>
          </a:prstGeom>
        </p:spPr>
      </p:pic>
    </p:spTree>
    <p:extLst>
      <p:ext uri="{BB962C8B-B14F-4D97-AF65-F5344CB8AC3E}">
        <p14:creationId xmlns:p14="http://schemas.microsoft.com/office/powerpoint/2010/main" val="30928522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2902DC81-264E-7E13-4D37-923472A4CDC0}"/>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681D49ED-9A0F-712F-4651-C550E0191201}"/>
              </a:ext>
            </a:extLst>
          </p:cNvPr>
          <p:cNvSpPr txBox="1"/>
          <p:nvPr/>
        </p:nvSpPr>
        <p:spPr>
          <a:xfrm>
            <a:off x="558663" y="184960"/>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D</a:t>
            </a:r>
            <a:r>
              <a:rPr lang="es-AR" sz="4000" i="1" dirty="0" err="1">
                <a:solidFill>
                  <a:schemeClr val="lt1"/>
                </a:solidFill>
                <a:latin typeface="Anton"/>
                <a:sym typeface="Anton"/>
              </a:rPr>
              <a:t>atos</a:t>
            </a:r>
            <a:r>
              <a:rPr lang="es-AR" sz="4000" i="1" dirty="0">
                <a:solidFill>
                  <a:schemeClr val="lt1"/>
                </a:solidFill>
                <a:latin typeface="Anton"/>
                <a:sym typeface="Anton"/>
              </a:rPr>
              <a:t> Estructurados</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B3ED6DB2-79A2-A28F-0A41-83ECA2F35811}"/>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ABA21EA7-CBB8-905C-1E39-648B0FB1D6B0}"/>
              </a:ext>
            </a:extLst>
          </p:cNvPr>
          <p:cNvPicPr>
            <a:picLocks noChangeAspect="1"/>
          </p:cNvPicPr>
          <p:nvPr/>
        </p:nvPicPr>
        <p:blipFill>
          <a:blip r:embed="rId5"/>
          <a:stretch>
            <a:fillRect/>
          </a:stretch>
        </p:blipFill>
        <p:spPr>
          <a:xfrm>
            <a:off x="904363" y="918932"/>
            <a:ext cx="7335274" cy="3305636"/>
          </a:xfrm>
          <a:prstGeom prst="rect">
            <a:avLst/>
          </a:prstGeom>
        </p:spPr>
      </p:pic>
    </p:spTree>
    <p:extLst>
      <p:ext uri="{BB962C8B-B14F-4D97-AF65-F5344CB8AC3E}">
        <p14:creationId xmlns:p14="http://schemas.microsoft.com/office/powerpoint/2010/main" val="37461604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020A8EC0-771F-1E6C-6099-52732CB72930}"/>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24CFA1AD-D0CE-D5ED-19A5-6493DB98857B}"/>
              </a:ext>
            </a:extLst>
          </p:cNvPr>
          <p:cNvSpPr txBox="1"/>
          <p:nvPr/>
        </p:nvSpPr>
        <p:spPr>
          <a:xfrm>
            <a:off x="558663" y="184960"/>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D</a:t>
            </a:r>
            <a:r>
              <a:rPr lang="es-AR" sz="4000" i="1" dirty="0" err="1">
                <a:solidFill>
                  <a:schemeClr val="lt1"/>
                </a:solidFill>
                <a:latin typeface="Anton"/>
                <a:sym typeface="Anton"/>
              </a:rPr>
              <a:t>atos</a:t>
            </a:r>
            <a:r>
              <a:rPr lang="es-AR" sz="4000" i="1" dirty="0">
                <a:solidFill>
                  <a:schemeClr val="lt1"/>
                </a:solidFill>
                <a:latin typeface="Anton"/>
                <a:sym typeface="Anton"/>
              </a:rPr>
              <a:t> Semi Estructurados</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7AA58F09-52A6-B8E8-1DD6-E52E98222AE1}"/>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2F682F91-DF31-FD83-3F25-9719000682A7}"/>
              </a:ext>
            </a:extLst>
          </p:cNvPr>
          <p:cNvPicPr>
            <a:picLocks noChangeAspect="1"/>
          </p:cNvPicPr>
          <p:nvPr/>
        </p:nvPicPr>
        <p:blipFill>
          <a:blip r:embed="rId5"/>
          <a:stretch>
            <a:fillRect/>
          </a:stretch>
        </p:blipFill>
        <p:spPr>
          <a:xfrm>
            <a:off x="894837" y="1161853"/>
            <a:ext cx="7354326" cy="2819794"/>
          </a:xfrm>
          <a:prstGeom prst="rect">
            <a:avLst/>
          </a:prstGeom>
        </p:spPr>
      </p:pic>
    </p:spTree>
    <p:extLst>
      <p:ext uri="{BB962C8B-B14F-4D97-AF65-F5344CB8AC3E}">
        <p14:creationId xmlns:p14="http://schemas.microsoft.com/office/powerpoint/2010/main" val="5660458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697A158D-A241-A86C-C68B-95075137A2B6}"/>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294379FF-3A36-624D-407C-288BAE158A45}"/>
              </a:ext>
            </a:extLst>
          </p:cNvPr>
          <p:cNvSpPr txBox="1"/>
          <p:nvPr/>
        </p:nvSpPr>
        <p:spPr>
          <a:xfrm>
            <a:off x="558663" y="184960"/>
            <a:ext cx="6068100"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D</a:t>
            </a:r>
            <a:r>
              <a:rPr lang="es-AR" sz="4000" i="1" dirty="0" err="1">
                <a:solidFill>
                  <a:schemeClr val="lt1"/>
                </a:solidFill>
                <a:latin typeface="Anton"/>
                <a:sym typeface="Anton"/>
              </a:rPr>
              <a:t>atos</a:t>
            </a:r>
            <a:r>
              <a:rPr lang="es-AR" sz="4000" i="1" dirty="0">
                <a:solidFill>
                  <a:schemeClr val="lt1"/>
                </a:solidFill>
                <a:latin typeface="Anton"/>
                <a:sym typeface="Anton"/>
              </a:rPr>
              <a:t> No Estructurados</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E6DCECEA-3C61-F621-5A8E-2F4E9364DF0C}"/>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2FA73DB4-AD9C-C647-D19B-D4D500400F11}"/>
              </a:ext>
            </a:extLst>
          </p:cNvPr>
          <p:cNvPicPr>
            <a:picLocks noChangeAspect="1"/>
          </p:cNvPicPr>
          <p:nvPr/>
        </p:nvPicPr>
        <p:blipFill>
          <a:blip r:embed="rId5"/>
          <a:stretch>
            <a:fillRect/>
          </a:stretch>
        </p:blipFill>
        <p:spPr>
          <a:xfrm>
            <a:off x="1066311" y="1114221"/>
            <a:ext cx="7011378" cy="2915057"/>
          </a:xfrm>
          <a:prstGeom prst="rect">
            <a:avLst/>
          </a:prstGeom>
        </p:spPr>
      </p:pic>
    </p:spTree>
    <p:extLst>
      <p:ext uri="{BB962C8B-B14F-4D97-AF65-F5344CB8AC3E}">
        <p14:creationId xmlns:p14="http://schemas.microsoft.com/office/powerpoint/2010/main" val="9024070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4010FB25-B582-1074-AFF1-B0207428C216}"/>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2145C971-F08B-9937-0856-1EC4CA9C2DB7}"/>
              </a:ext>
            </a:extLst>
          </p:cNvPr>
          <p:cNvSpPr txBox="1"/>
          <p:nvPr/>
        </p:nvSpPr>
        <p:spPr>
          <a:xfrm>
            <a:off x="558662" y="184960"/>
            <a:ext cx="7116755"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I</a:t>
            </a:r>
            <a:r>
              <a:rPr lang="es-AR" sz="4000" i="1" dirty="0" err="1">
                <a:solidFill>
                  <a:schemeClr val="lt1"/>
                </a:solidFill>
                <a:latin typeface="Anton"/>
                <a:sym typeface="Anton"/>
              </a:rPr>
              <a:t>nterrogando</a:t>
            </a:r>
            <a:r>
              <a:rPr lang="es-AR" sz="4000" i="1" dirty="0">
                <a:solidFill>
                  <a:schemeClr val="lt1"/>
                </a:solidFill>
                <a:latin typeface="Anton"/>
                <a:sym typeface="Anton"/>
              </a:rPr>
              <a:t> a nuestros datos</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A779605E-9B93-9900-35C2-0E4EE12A6ECC}"/>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5" name="Imagen 4">
            <a:extLst>
              <a:ext uri="{FF2B5EF4-FFF2-40B4-BE49-F238E27FC236}">
                <a16:creationId xmlns:a16="http://schemas.microsoft.com/office/drawing/2014/main" id="{DD6E85B1-9C8E-1203-D255-2011D7675082}"/>
              </a:ext>
            </a:extLst>
          </p:cNvPr>
          <p:cNvPicPr>
            <a:picLocks noChangeAspect="1"/>
          </p:cNvPicPr>
          <p:nvPr/>
        </p:nvPicPr>
        <p:blipFill>
          <a:blip r:embed="rId5"/>
          <a:stretch>
            <a:fillRect/>
          </a:stretch>
        </p:blipFill>
        <p:spPr>
          <a:xfrm>
            <a:off x="904363" y="1057063"/>
            <a:ext cx="7335274" cy="3029373"/>
          </a:xfrm>
          <a:prstGeom prst="rect">
            <a:avLst/>
          </a:prstGeom>
        </p:spPr>
      </p:pic>
    </p:spTree>
    <p:extLst>
      <p:ext uri="{BB962C8B-B14F-4D97-AF65-F5344CB8AC3E}">
        <p14:creationId xmlns:p14="http://schemas.microsoft.com/office/powerpoint/2010/main" val="26460411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D85BD92C-9251-A59D-ED67-111752096619}"/>
            </a:ext>
          </a:extLst>
        </p:cNvPr>
        <p:cNvGrpSpPr/>
        <p:nvPr/>
      </p:nvGrpSpPr>
      <p:grpSpPr>
        <a:xfrm>
          <a:off x="0" y="0"/>
          <a:ext cx="0" cy="0"/>
          <a:chOff x="0" y="0"/>
          <a:chExt cx="0" cy="0"/>
        </a:xfrm>
      </p:grpSpPr>
      <p:pic>
        <p:nvPicPr>
          <p:cNvPr id="1033" name="Google Shape;1033;g24e4d0b8270_0_1003" descr="Blog | Coderhouse">
            <a:extLst>
              <a:ext uri="{FF2B5EF4-FFF2-40B4-BE49-F238E27FC236}">
                <a16:creationId xmlns:a16="http://schemas.microsoft.com/office/drawing/2014/main" id="{0D7A9DAD-00B8-858B-28BD-F61E9B4B5374}"/>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FB383202-D19A-226C-D7D6-C0F73BACFCE3}"/>
              </a:ext>
            </a:extLst>
          </p:cNvPr>
          <p:cNvPicPr>
            <a:picLocks noChangeAspect="1"/>
          </p:cNvPicPr>
          <p:nvPr/>
        </p:nvPicPr>
        <p:blipFill>
          <a:blip r:embed="rId5"/>
          <a:stretch>
            <a:fillRect/>
          </a:stretch>
        </p:blipFill>
        <p:spPr>
          <a:xfrm>
            <a:off x="851968" y="633142"/>
            <a:ext cx="7440063" cy="3877216"/>
          </a:xfrm>
          <a:prstGeom prst="rect">
            <a:avLst/>
          </a:prstGeom>
        </p:spPr>
      </p:pic>
    </p:spTree>
    <p:extLst>
      <p:ext uri="{BB962C8B-B14F-4D97-AF65-F5344CB8AC3E}">
        <p14:creationId xmlns:p14="http://schemas.microsoft.com/office/powerpoint/2010/main" val="10276261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098F5F8A-9B31-A594-9037-C676CB0EDF91}"/>
            </a:ext>
          </a:extLst>
        </p:cNvPr>
        <p:cNvGrpSpPr/>
        <p:nvPr/>
      </p:nvGrpSpPr>
      <p:grpSpPr>
        <a:xfrm>
          <a:off x="0" y="0"/>
          <a:ext cx="0" cy="0"/>
          <a:chOff x="0" y="0"/>
          <a:chExt cx="0" cy="0"/>
        </a:xfrm>
      </p:grpSpPr>
      <p:pic>
        <p:nvPicPr>
          <p:cNvPr id="1033" name="Google Shape;1033;g24e4d0b8270_0_1003" descr="Blog | Coderhouse">
            <a:extLst>
              <a:ext uri="{FF2B5EF4-FFF2-40B4-BE49-F238E27FC236}">
                <a16:creationId xmlns:a16="http://schemas.microsoft.com/office/drawing/2014/main" id="{FE283659-D16F-C0EA-4F97-A48C7F0C8912}"/>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06024EBD-B949-9CCB-DFA2-48AFD123F338}"/>
              </a:ext>
            </a:extLst>
          </p:cNvPr>
          <p:cNvPicPr>
            <a:picLocks noChangeAspect="1"/>
          </p:cNvPicPr>
          <p:nvPr/>
        </p:nvPicPr>
        <p:blipFill>
          <a:blip r:embed="rId5"/>
          <a:stretch>
            <a:fillRect/>
          </a:stretch>
        </p:blipFill>
        <p:spPr>
          <a:xfrm>
            <a:off x="913889" y="585510"/>
            <a:ext cx="7316221" cy="3972479"/>
          </a:xfrm>
          <a:prstGeom prst="rect">
            <a:avLst/>
          </a:prstGeom>
        </p:spPr>
      </p:pic>
    </p:spTree>
    <p:extLst>
      <p:ext uri="{BB962C8B-B14F-4D97-AF65-F5344CB8AC3E}">
        <p14:creationId xmlns:p14="http://schemas.microsoft.com/office/powerpoint/2010/main" val="14250915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06E896CA-D8F6-1533-9DC9-393B1BEF9FB8}"/>
            </a:ext>
          </a:extLst>
        </p:cNvPr>
        <p:cNvGrpSpPr/>
        <p:nvPr/>
      </p:nvGrpSpPr>
      <p:grpSpPr>
        <a:xfrm>
          <a:off x="0" y="0"/>
          <a:ext cx="0" cy="0"/>
          <a:chOff x="0" y="0"/>
          <a:chExt cx="0" cy="0"/>
        </a:xfrm>
      </p:grpSpPr>
      <p:pic>
        <p:nvPicPr>
          <p:cNvPr id="1033" name="Google Shape;1033;g24e4d0b8270_0_1003" descr="Blog | Coderhouse">
            <a:extLst>
              <a:ext uri="{FF2B5EF4-FFF2-40B4-BE49-F238E27FC236}">
                <a16:creationId xmlns:a16="http://schemas.microsoft.com/office/drawing/2014/main" id="{B25ADFD6-2BED-F38D-165A-30FAD1A95780}"/>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E6182657-9E8B-EE8F-E4FE-C61EBCEA9B56}"/>
              </a:ext>
            </a:extLst>
          </p:cNvPr>
          <p:cNvPicPr>
            <a:picLocks noChangeAspect="1"/>
          </p:cNvPicPr>
          <p:nvPr/>
        </p:nvPicPr>
        <p:blipFill>
          <a:blip r:embed="rId5"/>
          <a:stretch>
            <a:fillRect/>
          </a:stretch>
        </p:blipFill>
        <p:spPr>
          <a:xfrm>
            <a:off x="975810" y="637905"/>
            <a:ext cx="7192379" cy="3867690"/>
          </a:xfrm>
          <a:prstGeom prst="rect">
            <a:avLst/>
          </a:prstGeom>
        </p:spPr>
      </p:pic>
    </p:spTree>
    <p:extLst>
      <p:ext uri="{BB962C8B-B14F-4D97-AF65-F5344CB8AC3E}">
        <p14:creationId xmlns:p14="http://schemas.microsoft.com/office/powerpoint/2010/main" val="24858463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B20D2161-878F-46A3-5E0B-59FE15E9F369}"/>
            </a:ext>
          </a:extLst>
        </p:cNvPr>
        <p:cNvGrpSpPr/>
        <p:nvPr/>
      </p:nvGrpSpPr>
      <p:grpSpPr>
        <a:xfrm>
          <a:off x="0" y="0"/>
          <a:ext cx="0" cy="0"/>
          <a:chOff x="0" y="0"/>
          <a:chExt cx="0" cy="0"/>
        </a:xfrm>
      </p:grpSpPr>
      <p:pic>
        <p:nvPicPr>
          <p:cNvPr id="1033" name="Google Shape;1033;g24e4d0b8270_0_1003" descr="Blog | Coderhouse">
            <a:extLst>
              <a:ext uri="{FF2B5EF4-FFF2-40B4-BE49-F238E27FC236}">
                <a16:creationId xmlns:a16="http://schemas.microsoft.com/office/drawing/2014/main" id="{02522776-C69B-92A0-F200-A6E00BCDEC08}"/>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8271F105-236A-5519-4596-196502D0B2E2}"/>
              </a:ext>
            </a:extLst>
          </p:cNvPr>
          <p:cNvPicPr>
            <a:picLocks noChangeAspect="1"/>
          </p:cNvPicPr>
          <p:nvPr/>
        </p:nvPicPr>
        <p:blipFill>
          <a:blip r:embed="rId5"/>
          <a:stretch>
            <a:fillRect/>
          </a:stretch>
        </p:blipFill>
        <p:spPr>
          <a:xfrm>
            <a:off x="1118705" y="718879"/>
            <a:ext cx="6906589" cy="3705742"/>
          </a:xfrm>
          <a:prstGeom prst="rect">
            <a:avLst/>
          </a:prstGeom>
        </p:spPr>
      </p:pic>
    </p:spTree>
    <p:extLst>
      <p:ext uri="{BB962C8B-B14F-4D97-AF65-F5344CB8AC3E}">
        <p14:creationId xmlns:p14="http://schemas.microsoft.com/office/powerpoint/2010/main" val="25950392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9358880A-D50E-D92B-7095-DE231E535DC0}"/>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CCE646AA-FC40-E4E8-CDB7-3D2C8CB5CAC0}"/>
              </a:ext>
            </a:extLst>
          </p:cNvPr>
          <p:cNvSpPr txBox="1"/>
          <p:nvPr/>
        </p:nvSpPr>
        <p:spPr>
          <a:xfrm>
            <a:off x="558662" y="184960"/>
            <a:ext cx="8453719"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AR" sz="4000" i="1" dirty="0">
                <a:solidFill>
                  <a:schemeClr val="lt1"/>
                </a:solidFill>
                <a:latin typeface="Anton"/>
                <a:ea typeface="Anton"/>
                <a:cs typeface="Anton"/>
                <a:sym typeface="Anton"/>
              </a:rPr>
              <a:t>LA Anatomía de SQL: Los </a:t>
            </a:r>
            <a:r>
              <a:rPr lang="es-AR" sz="4000" i="1" dirty="0" err="1">
                <a:solidFill>
                  <a:schemeClr val="lt1"/>
                </a:solidFill>
                <a:latin typeface="Anton"/>
                <a:ea typeface="Anton"/>
                <a:cs typeface="Anton"/>
                <a:sym typeface="Anton"/>
              </a:rPr>
              <a:t>Sublenguajes</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87BFF0D1-C2D1-517E-88C1-99926F854A10}"/>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5" name="Imagen 4">
            <a:extLst>
              <a:ext uri="{FF2B5EF4-FFF2-40B4-BE49-F238E27FC236}">
                <a16:creationId xmlns:a16="http://schemas.microsoft.com/office/drawing/2014/main" id="{5E8E1653-87EE-FC53-067B-AE71114ACD5D}"/>
              </a:ext>
            </a:extLst>
          </p:cNvPr>
          <p:cNvPicPr>
            <a:picLocks noChangeAspect="1"/>
          </p:cNvPicPr>
          <p:nvPr/>
        </p:nvPicPr>
        <p:blipFill>
          <a:blip r:embed="rId5"/>
          <a:stretch>
            <a:fillRect/>
          </a:stretch>
        </p:blipFill>
        <p:spPr>
          <a:xfrm>
            <a:off x="1632268" y="968617"/>
            <a:ext cx="5782482" cy="3600953"/>
          </a:xfrm>
          <a:prstGeom prst="rect">
            <a:avLst/>
          </a:prstGeom>
        </p:spPr>
      </p:pic>
    </p:spTree>
    <p:extLst>
      <p:ext uri="{BB962C8B-B14F-4D97-AF65-F5344CB8AC3E}">
        <p14:creationId xmlns:p14="http://schemas.microsoft.com/office/powerpoint/2010/main" val="14335171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803F03A9-BA0E-7EDE-9719-79D408F37C82}"/>
            </a:ext>
          </a:extLst>
        </p:cNvPr>
        <p:cNvGrpSpPr/>
        <p:nvPr/>
      </p:nvGrpSpPr>
      <p:grpSpPr>
        <a:xfrm>
          <a:off x="0" y="0"/>
          <a:ext cx="0" cy="0"/>
          <a:chOff x="0" y="0"/>
          <a:chExt cx="0" cy="0"/>
        </a:xfrm>
      </p:grpSpPr>
      <p:sp>
        <p:nvSpPr>
          <p:cNvPr id="1030" name="Google Shape;1030;g24e4d0b8270_0_1003">
            <a:extLst>
              <a:ext uri="{FF2B5EF4-FFF2-40B4-BE49-F238E27FC236}">
                <a16:creationId xmlns:a16="http://schemas.microsoft.com/office/drawing/2014/main" id="{E42515C8-1FE2-57E3-DFDA-B72979F24ECF}"/>
              </a:ext>
            </a:extLst>
          </p:cNvPr>
          <p:cNvSpPr txBox="1"/>
          <p:nvPr/>
        </p:nvSpPr>
        <p:spPr>
          <a:xfrm>
            <a:off x="558663" y="184960"/>
            <a:ext cx="7809482" cy="710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s-MX" sz="4000" i="1" dirty="0">
                <a:solidFill>
                  <a:schemeClr val="lt1"/>
                </a:solidFill>
                <a:latin typeface="Anton"/>
                <a:sym typeface="Anton"/>
              </a:rPr>
              <a:t>L</a:t>
            </a:r>
            <a:r>
              <a:rPr lang="es-AR" sz="4000" i="1" dirty="0">
                <a:solidFill>
                  <a:schemeClr val="lt1"/>
                </a:solidFill>
                <a:latin typeface="Anton"/>
                <a:sym typeface="Anton"/>
              </a:rPr>
              <a:t>a Gran </a:t>
            </a:r>
            <a:r>
              <a:rPr lang="es-AR" sz="4000" i="1" dirty="0" err="1">
                <a:solidFill>
                  <a:schemeClr val="lt1"/>
                </a:solidFill>
                <a:latin typeface="Anton"/>
                <a:sym typeface="Anton"/>
              </a:rPr>
              <a:t>Memotecnía</a:t>
            </a:r>
            <a:r>
              <a:rPr lang="es-AR" sz="4000" i="1" dirty="0">
                <a:solidFill>
                  <a:schemeClr val="lt1"/>
                </a:solidFill>
                <a:latin typeface="Anton"/>
                <a:sym typeface="Anton"/>
              </a:rPr>
              <a:t>: DDL vs DML</a:t>
            </a:r>
            <a:endParaRPr sz="4000" b="0" i="0" u="none" strike="noStrike" cap="none" dirty="0">
              <a:solidFill>
                <a:schemeClr val="lt1"/>
              </a:solidFill>
              <a:latin typeface="Arial"/>
              <a:ea typeface="Arial"/>
              <a:cs typeface="Arial"/>
              <a:sym typeface="Arial"/>
            </a:endParaRPr>
          </a:p>
        </p:txBody>
      </p:sp>
      <p:pic>
        <p:nvPicPr>
          <p:cNvPr id="1033" name="Google Shape;1033;g24e4d0b8270_0_1003" descr="Blog | Coderhouse">
            <a:extLst>
              <a:ext uri="{FF2B5EF4-FFF2-40B4-BE49-F238E27FC236}">
                <a16:creationId xmlns:a16="http://schemas.microsoft.com/office/drawing/2014/main" id="{4E9CE5DF-EFD8-1092-CBA2-82D84D4EB77E}"/>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370164AB-B663-0D7D-93C0-E5E2BB51815E}"/>
              </a:ext>
            </a:extLst>
          </p:cNvPr>
          <p:cNvPicPr>
            <a:picLocks noChangeAspect="1"/>
          </p:cNvPicPr>
          <p:nvPr/>
        </p:nvPicPr>
        <p:blipFill>
          <a:blip r:embed="rId5"/>
          <a:stretch>
            <a:fillRect/>
          </a:stretch>
        </p:blipFill>
        <p:spPr>
          <a:xfrm>
            <a:off x="1080600" y="914168"/>
            <a:ext cx="6982799" cy="3315163"/>
          </a:xfrm>
          <a:prstGeom prst="rect">
            <a:avLst/>
          </a:prstGeom>
        </p:spPr>
      </p:pic>
    </p:spTree>
    <p:extLst>
      <p:ext uri="{BB962C8B-B14F-4D97-AF65-F5344CB8AC3E}">
        <p14:creationId xmlns:p14="http://schemas.microsoft.com/office/powerpoint/2010/main" val="13231539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29">
          <a:extLst>
            <a:ext uri="{FF2B5EF4-FFF2-40B4-BE49-F238E27FC236}">
              <a16:creationId xmlns:a16="http://schemas.microsoft.com/office/drawing/2014/main" id="{1F015779-5225-F592-F638-4FFC0007096F}"/>
            </a:ext>
          </a:extLst>
        </p:cNvPr>
        <p:cNvGrpSpPr/>
        <p:nvPr/>
      </p:nvGrpSpPr>
      <p:grpSpPr>
        <a:xfrm>
          <a:off x="0" y="0"/>
          <a:ext cx="0" cy="0"/>
          <a:chOff x="0" y="0"/>
          <a:chExt cx="0" cy="0"/>
        </a:xfrm>
      </p:grpSpPr>
      <p:pic>
        <p:nvPicPr>
          <p:cNvPr id="1033" name="Google Shape;1033;g24e4d0b8270_0_1003" descr="Blog | Coderhouse">
            <a:extLst>
              <a:ext uri="{FF2B5EF4-FFF2-40B4-BE49-F238E27FC236}">
                <a16:creationId xmlns:a16="http://schemas.microsoft.com/office/drawing/2014/main" id="{C6B85CE0-50E7-94D7-482E-89112D0B66ED}"/>
              </a:ext>
            </a:extLst>
          </p:cNvPr>
          <p:cNvPicPr preferRelativeResize="0"/>
          <p:nvPr/>
        </p:nvPicPr>
        <p:blipFill rotWithShape="1">
          <a:blip r:embed="rId4">
            <a:alphaModFix/>
          </a:blip>
          <a:srcRect/>
          <a:stretch/>
        </p:blipFill>
        <p:spPr>
          <a:xfrm>
            <a:off x="7598964" y="4569570"/>
            <a:ext cx="1221189" cy="260349"/>
          </a:xfrm>
          <a:prstGeom prst="rect">
            <a:avLst/>
          </a:prstGeom>
          <a:noFill/>
          <a:ln>
            <a:noFill/>
          </a:ln>
        </p:spPr>
      </p:pic>
      <p:pic>
        <p:nvPicPr>
          <p:cNvPr id="3" name="Imagen 2">
            <a:extLst>
              <a:ext uri="{FF2B5EF4-FFF2-40B4-BE49-F238E27FC236}">
                <a16:creationId xmlns:a16="http://schemas.microsoft.com/office/drawing/2014/main" id="{8F542764-FA48-41D6-D20B-397CC95DFA07}"/>
              </a:ext>
            </a:extLst>
          </p:cNvPr>
          <p:cNvPicPr>
            <a:picLocks noChangeAspect="1"/>
          </p:cNvPicPr>
          <p:nvPr/>
        </p:nvPicPr>
        <p:blipFill>
          <a:blip r:embed="rId5"/>
          <a:stretch>
            <a:fillRect/>
          </a:stretch>
        </p:blipFill>
        <p:spPr>
          <a:xfrm>
            <a:off x="1090126" y="723642"/>
            <a:ext cx="6963747" cy="3696216"/>
          </a:xfrm>
          <a:prstGeom prst="rect">
            <a:avLst/>
          </a:prstGeom>
        </p:spPr>
      </p:pic>
    </p:spTree>
    <p:extLst>
      <p:ext uri="{BB962C8B-B14F-4D97-AF65-F5344CB8AC3E}">
        <p14:creationId xmlns:p14="http://schemas.microsoft.com/office/powerpoint/2010/main" val="1439412761"/>
      </p:ext>
    </p:extLst>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442</TotalTime>
  <Words>1801</Words>
  <Application>Microsoft Office PowerPoint</Application>
  <PresentationFormat>Presentación en pantalla (16:9)</PresentationFormat>
  <Paragraphs>229</Paragraphs>
  <Slides>60</Slides>
  <Notes>60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60</vt:i4>
      </vt:variant>
    </vt:vector>
  </HeadingPairs>
  <TitlesOfParts>
    <vt:vector size="69" baseType="lpstr">
      <vt:lpstr>Mulish</vt:lpstr>
      <vt:lpstr>Calibri</vt:lpstr>
      <vt:lpstr>Anton</vt:lpstr>
      <vt:lpstr>Helvetica Neue Light</vt:lpstr>
      <vt:lpstr>Helvetica Neue</vt:lpstr>
      <vt:lpstr>Courier New</vt:lpstr>
      <vt:lpstr>Arial</vt:lpstr>
      <vt:lpstr>Roboto</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Noelia Ferrero Cerutti</cp:lastModifiedBy>
  <cp:revision>15</cp:revision>
  <dcterms:modified xsi:type="dcterms:W3CDTF">2026-07-27T23:59:52Z</dcterms:modified>
</cp:coreProperties>
</file>